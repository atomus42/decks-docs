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  <p:embeddedFont>
      <p:font typeface="Montserra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DVEa+cqsTQVE+VeKFB8/8gOFk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4034d1734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g3d4034d1734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Packback = 12 * (Booking * Growth Margin) / CAC [= # de mois arrondi à l’entier supérieur]</a:t>
            </a:r>
            <a:endParaRPr/>
          </a:p>
        </p:txBody>
      </p:sp>
      <p:sp>
        <p:nvSpPr>
          <p:cNvPr id="87" name="Google Shape;87;g3d4034d1734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6cd0228a7_1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g396cd0228a7_1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Packback = 12 * (Booking * Growth Margin) / CAC [= # de mois arrondi à l’entier supérieur]</a:t>
            </a:r>
            <a:endParaRPr/>
          </a:p>
        </p:txBody>
      </p:sp>
      <p:sp>
        <p:nvSpPr>
          <p:cNvPr id="178" name="Google Shape;178;g396cd0228a7_1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4034d173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4034d173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d4034d1734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6cd0228a7_1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96cd0228a7_1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g396cd0228a7_1_9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d4034d1734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d4034d1734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d4034d1734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oogle Shape;89;g3d4034d1734_0_15"/>
          <p:cNvGrpSpPr/>
          <p:nvPr/>
        </p:nvGrpSpPr>
        <p:grpSpPr>
          <a:xfrm>
            <a:off x="360150" y="1620152"/>
            <a:ext cx="2078710" cy="1087858"/>
            <a:chOff x="4514578" y="4592143"/>
            <a:chExt cx="3117909" cy="1631706"/>
          </a:xfrm>
        </p:grpSpPr>
        <p:sp>
          <p:nvSpPr>
            <p:cNvPr id="90" name="Google Shape;90;g3d4034d1734_0_15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g3d4034d1734_0_15"/>
            <p:cNvSpPr txBox="1"/>
            <p:nvPr/>
          </p:nvSpPr>
          <p:spPr>
            <a:xfrm>
              <a:off x="4534127" y="4893953"/>
              <a:ext cx="3093900" cy="10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F6AB4"/>
                  </a:solidFill>
                </a:rPr>
                <a:t>30</a:t>
              </a: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>
                  <a:solidFill>
                    <a:srgbClr val="1F6AB4"/>
                  </a:solidFill>
                </a:rPr>
                <a:t>K</a:t>
              </a: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/>
            </a:p>
          </p:txBody>
        </p:sp>
      </p:grpSp>
      <p:grpSp>
        <p:nvGrpSpPr>
          <p:cNvPr id="92" name="Google Shape;92;g3d4034d1734_0_15"/>
          <p:cNvGrpSpPr/>
          <p:nvPr/>
        </p:nvGrpSpPr>
        <p:grpSpPr>
          <a:xfrm>
            <a:off x="360000" y="5400000"/>
            <a:ext cx="2074583" cy="1104623"/>
            <a:chOff x="0" y="0"/>
            <a:chExt cx="5160653" cy="2277573"/>
          </a:xfrm>
        </p:grpSpPr>
        <p:sp>
          <p:nvSpPr>
            <p:cNvPr id="93" name="Google Shape;93;g3d4034d1734_0_15"/>
            <p:cNvSpPr/>
            <p:nvPr/>
          </p:nvSpPr>
          <p:spPr>
            <a:xfrm>
              <a:off x="0" y="0"/>
              <a:ext cx="5160653" cy="227757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3d4034d1734_0_15"/>
            <p:cNvSpPr txBox="1"/>
            <p:nvPr/>
          </p:nvSpPr>
          <p:spPr>
            <a:xfrm>
              <a:off x="69348" y="427804"/>
              <a:ext cx="5070300" cy="14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100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NRR</a:t>
              </a:r>
              <a:endParaRPr/>
            </a:p>
          </p:txBody>
        </p:sp>
      </p:grpSp>
      <p:grpSp>
        <p:nvGrpSpPr>
          <p:cNvPr id="95" name="Google Shape;95;g3d4034d1734_0_15"/>
          <p:cNvGrpSpPr/>
          <p:nvPr/>
        </p:nvGrpSpPr>
        <p:grpSpPr>
          <a:xfrm>
            <a:off x="360265" y="4139687"/>
            <a:ext cx="2079275" cy="1086242"/>
            <a:chOff x="7985158" y="6574571"/>
            <a:chExt cx="3118756" cy="1437969"/>
          </a:xfrm>
        </p:grpSpPr>
        <p:sp>
          <p:nvSpPr>
            <p:cNvPr id="96" name="Google Shape;96;g3d4034d1734_0_15"/>
            <p:cNvSpPr/>
            <p:nvPr/>
          </p:nvSpPr>
          <p:spPr>
            <a:xfrm>
              <a:off x="7985158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g3d4034d1734_0_15"/>
            <p:cNvSpPr txBox="1"/>
            <p:nvPr/>
          </p:nvSpPr>
          <p:spPr>
            <a:xfrm>
              <a:off x="8036231" y="6851219"/>
              <a:ext cx="30039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X M€ </a:t>
              </a:r>
              <a:r>
                <a:rPr b="0" i="0" lang="en-US" sz="12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(+/- X% YoY)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Booking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" name="Google Shape;98;g3d4034d1734_0_15"/>
          <p:cNvGrpSpPr/>
          <p:nvPr/>
        </p:nvGrpSpPr>
        <p:grpSpPr>
          <a:xfrm>
            <a:off x="5040148" y="359826"/>
            <a:ext cx="2085299" cy="1104726"/>
            <a:chOff x="4500188" y="6590579"/>
            <a:chExt cx="3127792" cy="1449772"/>
          </a:xfrm>
        </p:grpSpPr>
        <p:sp>
          <p:nvSpPr>
            <p:cNvPr id="99" name="Google Shape;99;g3d4034d1734_0_15"/>
            <p:cNvSpPr/>
            <p:nvPr/>
          </p:nvSpPr>
          <p:spPr>
            <a:xfrm>
              <a:off x="4500188" y="6590579"/>
              <a:ext cx="3117909" cy="1449772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g3d4034d1734_0_15"/>
            <p:cNvSpPr txBox="1"/>
            <p:nvPr/>
          </p:nvSpPr>
          <p:spPr>
            <a:xfrm>
              <a:off x="4514580" y="6877055"/>
              <a:ext cx="3113400" cy="9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&amp; downsell MRR</a:t>
              </a:r>
              <a:endParaRPr/>
            </a:p>
          </p:txBody>
        </p:sp>
      </p:grpSp>
      <p:grpSp>
        <p:nvGrpSpPr>
          <p:cNvPr id="101" name="Google Shape;101;g3d4034d1734_0_15"/>
          <p:cNvGrpSpPr/>
          <p:nvPr/>
        </p:nvGrpSpPr>
        <p:grpSpPr>
          <a:xfrm>
            <a:off x="5040265" y="2879691"/>
            <a:ext cx="2081869" cy="1086242"/>
            <a:chOff x="7917462" y="6574571"/>
            <a:chExt cx="3122648" cy="1437969"/>
          </a:xfrm>
        </p:grpSpPr>
        <p:sp>
          <p:nvSpPr>
            <p:cNvPr id="102" name="Google Shape;102;g3d4034d1734_0_15"/>
            <p:cNvSpPr/>
            <p:nvPr/>
          </p:nvSpPr>
          <p:spPr>
            <a:xfrm>
              <a:off x="7917462" y="6574571"/>
              <a:ext cx="3097468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g3d4034d1734_0_15"/>
            <p:cNvSpPr txBox="1"/>
            <p:nvPr/>
          </p:nvSpPr>
          <p:spPr>
            <a:xfrm>
              <a:off x="7926710" y="6851218"/>
              <a:ext cx="31134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4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M€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Cash</a:t>
              </a:r>
              <a:endParaRPr/>
            </a:p>
          </p:txBody>
        </p:sp>
      </p:grpSp>
      <p:grpSp>
        <p:nvGrpSpPr>
          <p:cNvPr id="104" name="Google Shape;104;g3d4034d1734_0_15"/>
          <p:cNvGrpSpPr/>
          <p:nvPr/>
        </p:nvGrpSpPr>
        <p:grpSpPr>
          <a:xfrm>
            <a:off x="7379994" y="5400000"/>
            <a:ext cx="2091556" cy="1116051"/>
            <a:chOff x="353896" y="0"/>
            <a:chExt cx="4517400" cy="2339731"/>
          </a:xfrm>
        </p:grpSpPr>
        <p:sp>
          <p:nvSpPr>
            <p:cNvPr id="105" name="Google Shape;105;g3d4034d1734_0_15"/>
            <p:cNvSpPr/>
            <p:nvPr/>
          </p:nvSpPr>
          <p:spPr>
            <a:xfrm>
              <a:off x="388325" y="0"/>
              <a:ext cx="4480465" cy="233973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g3d4034d1734_0_15"/>
            <p:cNvSpPr txBox="1"/>
            <p:nvPr/>
          </p:nvSpPr>
          <p:spPr>
            <a:xfrm>
              <a:off x="353896" y="474917"/>
              <a:ext cx="4517400" cy="14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15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FTE</a:t>
              </a:r>
              <a:endParaRPr/>
            </a:p>
          </p:txBody>
        </p:sp>
      </p:grpSp>
      <p:grpSp>
        <p:nvGrpSpPr>
          <p:cNvPr id="107" name="Google Shape;107;g3d4034d1734_0_15"/>
          <p:cNvGrpSpPr/>
          <p:nvPr/>
        </p:nvGrpSpPr>
        <p:grpSpPr>
          <a:xfrm>
            <a:off x="7380261" y="2879816"/>
            <a:ext cx="2093890" cy="1085954"/>
            <a:chOff x="7926709" y="6574571"/>
            <a:chExt cx="3140677" cy="1437969"/>
          </a:xfrm>
        </p:grpSpPr>
        <p:sp>
          <p:nvSpPr>
            <p:cNvPr id="108" name="Google Shape;108;g3d4034d1734_0_15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g3d4034d1734_0_15"/>
            <p:cNvSpPr txBox="1"/>
            <p:nvPr/>
          </p:nvSpPr>
          <p:spPr>
            <a:xfrm>
              <a:off x="7926709" y="6851219"/>
              <a:ext cx="31134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0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lang="en-US" sz="2332">
                  <a:solidFill>
                    <a:srgbClr val="1F6AB4"/>
                  </a:solidFill>
                </a:rPr>
                <a:t>9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M€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Debts</a:t>
              </a:r>
              <a:endParaRPr/>
            </a:p>
          </p:txBody>
        </p:sp>
      </p:grpSp>
      <p:grpSp>
        <p:nvGrpSpPr>
          <p:cNvPr id="110" name="Google Shape;110;g3d4034d1734_0_15"/>
          <p:cNvGrpSpPr/>
          <p:nvPr/>
        </p:nvGrpSpPr>
        <p:grpSpPr>
          <a:xfrm>
            <a:off x="7380150" y="1620152"/>
            <a:ext cx="2078778" cy="1087858"/>
            <a:chOff x="4514578" y="4592143"/>
            <a:chExt cx="3118012" cy="1631706"/>
          </a:xfrm>
        </p:grpSpPr>
        <p:sp>
          <p:nvSpPr>
            <p:cNvPr id="111" name="Google Shape;111;g3d4034d1734_0_15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d4034d1734_0_15"/>
            <p:cNvSpPr txBox="1"/>
            <p:nvPr/>
          </p:nvSpPr>
          <p:spPr>
            <a:xfrm>
              <a:off x="4533590" y="5129015"/>
              <a:ext cx="3099000" cy="10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-490 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b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>
                  <a:solidFill>
                    <a:srgbClr val="1F6AB4"/>
                  </a:solidFill>
                </a:rPr>
                <a:t>EBITDA</a:t>
              </a:r>
              <a:endParaRPr/>
            </a:p>
          </p:txBody>
        </p:sp>
      </p:grpSp>
      <p:grpSp>
        <p:nvGrpSpPr>
          <p:cNvPr id="113" name="Google Shape;113;g3d4034d1734_0_15"/>
          <p:cNvGrpSpPr/>
          <p:nvPr/>
        </p:nvGrpSpPr>
        <p:grpSpPr>
          <a:xfrm>
            <a:off x="9720381" y="5399827"/>
            <a:ext cx="2079275" cy="1095445"/>
            <a:chOff x="11403021" y="6587658"/>
            <a:chExt cx="3118756" cy="1437969"/>
          </a:xfrm>
        </p:grpSpPr>
        <p:sp>
          <p:nvSpPr>
            <p:cNvPr id="114" name="Google Shape;114;g3d4034d1734_0_15"/>
            <p:cNvSpPr/>
            <p:nvPr/>
          </p:nvSpPr>
          <p:spPr>
            <a:xfrm>
              <a:off x="11403021" y="6587658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g3d4034d1734_0_15"/>
            <p:cNvSpPr txBox="1"/>
            <p:nvPr/>
          </p:nvSpPr>
          <p:spPr>
            <a:xfrm>
              <a:off x="11451501" y="6870159"/>
              <a:ext cx="3049800" cy="8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62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>
                  <a:solidFill>
                    <a:srgbClr val="0070C0"/>
                  </a:solidFill>
                </a:rPr>
                <a:t>1</a:t>
              </a:r>
              <a:r>
                <a:rPr b="0" i="0" lang="en-US" sz="2133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Revenue/FTE</a:t>
              </a:r>
              <a:endParaRPr/>
            </a:p>
          </p:txBody>
        </p:sp>
      </p:grpSp>
      <p:grpSp>
        <p:nvGrpSpPr>
          <p:cNvPr id="116" name="Google Shape;116;g3d4034d1734_0_15"/>
          <p:cNvGrpSpPr/>
          <p:nvPr/>
        </p:nvGrpSpPr>
        <p:grpSpPr>
          <a:xfrm>
            <a:off x="5040000" y="1620000"/>
            <a:ext cx="2091600" cy="1081733"/>
            <a:chOff x="2793890" y="2579854"/>
            <a:chExt cx="2091600" cy="1081733"/>
          </a:xfrm>
        </p:grpSpPr>
        <p:sp>
          <p:nvSpPr>
            <p:cNvPr id="117" name="Google Shape;117;g3d4034d1734_0_15"/>
            <p:cNvSpPr/>
            <p:nvPr/>
          </p:nvSpPr>
          <p:spPr>
            <a:xfrm>
              <a:off x="2793890" y="2579854"/>
              <a:ext cx="2078740" cy="108173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g3d4034d1734_0_15"/>
            <p:cNvSpPr txBox="1"/>
            <p:nvPr/>
          </p:nvSpPr>
          <p:spPr>
            <a:xfrm>
              <a:off x="2793890" y="2849056"/>
              <a:ext cx="2091600" cy="6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90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Growth Margin/Revenue</a:t>
              </a:r>
              <a:endParaRPr/>
            </a:p>
          </p:txBody>
        </p:sp>
      </p:grpSp>
      <p:grpSp>
        <p:nvGrpSpPr>
          <p:cNvPr id="119" name="Google Shape;119;g3d4034d1734_0_15"/>
          <p:cNvGrpSpPr/>
          <p:nvPr/>
        </p:nvGrpSpPr>
        <p:grpSpPr>
          <a:xfrm>
            <a:off x="360000" y="360000"/>
            <a:ext cx="2097841" cy="1105271"/>
            <a:chOff x="421874" y="1361908"/>
            <a:chExt cx="2097841" cy="1105271"/>
          </a:xfrm>
        </p:grpSpPr>
        <p:sp>
          <p:nvSpPr>
            <p:cNvPr id="120" name="Google Shape;120;g3d4034d1734_0_15"/>
            <p:cNvSpPr/>
            <p:nvPr/>
          </p:nvSpPr>
          <p:spPr>
            <a:xfrm>
              <a:off x="454571" y="1361908"/>
              <a:ext cx="2065144" cy="110527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g3d4034d1734_0_15"/>
            <p:cNvSpPr txBox="1"/>
            <p:nvPr/>
          </p:nvSpPr>
          <p:spPr>
            <a:xfrm>
              <a:off x="421874" y="1567285"/>
              <a:ext cx="20382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15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 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(+</a:t>
              </a:r>
              <a:r>
                <a:rPr lang="en-US" sz="1200">
                  <a:solidFill>
                    <a:srgbClr val="1F6AB4"/>
                  </a:solidFill>
                </a:rPr>
                <a:t> 20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YoY)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MRR</a:t>
              </a:r>
              <a:endParaRPr/>
            </a:p>
          </p:txBody>
        </p:sp>
      </p:grpSp>
      <p:grpSp>
        <p:nvGrpSpPr>
          <p:cNvPr id="122" name="Google Shape;122;g3d4034d1734_0_15"/>
          <p:cNvGrpSpPr/>
          <p:nvPr/>
        </p:nvGrpSpPr>
        <p:grpSpPr>
          <a:xfrm>
            <a:off x="2700000" y="2880000"/>
            <a:ext cx="2084296" cy="1084380"/>
            <a:chOff x="2750748" y="3888620"/>
            <a:chExt cx="2084296" cy="1084381"/>
          </a:xfrm>
        </p:grpSpPr>
        <p:sp>
          <p:nvSpPr>
            <p:cNvPr id="123" name="Google Shape;123;g3d4034d1734_0_15"/>
            <p:cNvSpPr/>
            <p:nvPr/>
          </p:nvSpPr>
          <p:spPr>
            <a:xfrm>
              <a:off x="2760921" y="3888620"/>
              <a:ext cx="2074123" cy="1084381"/>
            </a:xfrm>
            <a:custGeom>
              <a:rect b="b" l="l" r="r" t="t"/>
              <a:pathLst>
                <a:path extrusionOk="0" h="2168761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2044301"/>
                  </a:lnTo>
                  <a:cubicBezTo>
                    <a:pt x="3531865" y="2079861"/>
                    <a:pt x="3502654" y="2109070"/>
                    <a:pt x="3467095" y="2109070"/>
                  </a:cubicBezTo>
                  <a:lnTo>
                    <a:pt x="124460" y="2109070"/>
                  </a:lnTo>
                  <a:cubicBezTo>
                    <a:pt x="88900" y="2109070"/>
                    <a:pt x="59690" y="2079861"/>
                    <a:pt x="59690" y="204430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4301"/>
                  </a:lnTo>
                  <a:cubicBezTo>
                    <a:pt x="0" y="2112881"/>
                    <a:pt x="55880" y="2168761"/>
                    <a:pt x="124460" y="2168761"/>
                  </a:cubicBezTo>
                  <a:lnTo>
                    <a:pt x="3467095" y="2168761"/>
                  </a:lnTo>
                  <a:cubicBezTo>
                    <a:pt x="3535674" y="2168761"/>
                    <a:pt x="3591555" y="2112881"/>
                    <a:pt x="3591555" y="2044301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g3d4034d1734_0_15"/>
            <p:cNvSpPr txBox="1"/>
            <p:nvPr/>
          </p:nvSpPr>
          <p:spPr>
            <a:xfrm>
              <a:off x="2750748" y="3993888"/>
              <a:ext cx="2033100" cy="9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-490 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1200">
                  <a:solidFill>
                    <a:srgbClr val="1F6AB4"/>
                  </a:solidFill>
                </a:rPr>
                <a:t>25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of budget)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EBITDA</a:t>
              </a:r>
              <a:endParaRPr/>
            </a:p>
          </p:txBody>
        </p:sp>
      </p:grpSp>
      <p:grpSp>
        <p:nvGrpSpPr>
          <p:cNvPr id="125" name="Google Shape;125;g3d4034d1734_0_15"/>
          <p:cNvGrpSpPr/>
          <p:nvPr/>
        </p:nvGrpSpPr>
        <p:grpSpPr>
          <a:xfrm>
            <a:off x="360000" y="2880000"/>
            <a:ext cx="2078606" cy="1100487"/>
            <a:chOff x="477553" y="3877741"/>
            <a:chExt cx="2078606" cy="1100487"/>
          </a:xfrm>
        </p:grpSpPr>
        <p:sp>
          <p:nvSpPr>
            <p:cNvPr id="126" name="Google Shape;126;g3d4034d1734_0_15"/>
            <p:cNvSpPr/>
            <p:nvPr/>
          </p:nvSpPr>
          <p:spPr>
            <a:xfrm>
              <a:off x="477553" y="3877741"/>
              <a:ext cx="2078606" cy="1100487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g3d4034d1734_0_15"/>
            <p:cNvSpPr txBox="1"/>
            <p:nvPr/>
          </p:nvSpPr>
          <p:spPr>
            <a:xfrm>
              <a:off x="491066" y="4094113"/>
              <a:ext cx="20331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30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1F6AB4"/>
                  </a:solidFill>
                </a:rPr>
                <a:t>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1200">
                  <a:solidFill>
                    <a:srgbClr val="1F6AB4"/>
                  </a:solidFill>
                </a:rPr>
                <a:t>2,5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of budget)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/>
            </a:p>
          </p:txBody>
        </p:sp>
      </p:grpSp>
      <p:sp>
        <p:nvSpPr>
          <p:cNvPr id="128" name="Google Shape;128;g3d4034d1734_0_15"/>
          <p:cNvSpPr txBox="1"/>
          <p:nvPr/>
        </p:nvSpPr>
        <p:spPr>
          <a:xfrm>
            <a:off x="11477059" y="-1831658"/>
            <a:ext cx="54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223353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2233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9" name="Google Shape;129;g3d4034d1734_0_15"/>
          <p:cNvGrpSpPr/>
          <p:nvPr/>
        </p:nvGrpSpPr>
        <p:grpSpPr>
          <a:xfrm>
            <a:off x="2700150" y="4140152"/>
            <a:ext cx="2078710" cy="1087858"/>
            <a:chOff x="4514578" y="4592145"/>
            <a:chExt cx="3117909" cy="1631706"/>
          </a:xfrm>
        </p:grpSpPr>
        <p:sp>
          <p:nvSpPr>
            <p:cNvPr id="130" name="Google Shape;130;g3d4034d1734_0_15"/>
            <p:cNvSpPr/>
            <p:nvPr/>
          </p:nvSpPr>
          <p:spPr>
            <a:xfrm>
              <a:off x="4514578" y="4592145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g3d4034d1734_0_15"/>
            <p:cNvSpPr txBox="1"/>
            <p:nvPr/>
          </p:nvSpPr>
          <p:spPr>
            <a:xfrm>
              <a:off x="4534127" y="4893952"/>
              <a:ext cx="3073500" cy="10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X M€ </a:t>
              </a:r>
              <a:r>
                <a:rPr b="0" i="0" lang="en-US" sz="1467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(+/- X%)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Backlog</a:t>
              </a:r>
              <a:endParaRPr/>
            </a:p>
          </p:txBody>
        </p:sp>
      </p:grpSp>
      <p:grpSp>
        <p:nvGrpSpPr>
          <p:cNvPr id="132" name="Google Shape;132;g3d4034d1734_0_15"/>
          <p:cNvGrpSpPr/>
          <p:nvPr/>
        </p:nvGrpSpPr>
        <p:grpSpPr>
          <a:xfrm>
            <a:off x="7380265" y="4139687"/>
            <a:ext cx="2079275" cy="1086242"/>
            <a:chOff x="7985158" y="6574571"/>
            <a:chExt cx="3118756" cy="1437969"/>
          </a:xfrm>
        </p:grpSpPr>
        <p:sp>
          <p:nvSpPr>
            <p:cNvPr id="133" name="Google Shape;133;g3d4034d1734_0_15"/>
            <p:cNvSpPr/>
            <p:nvPr/>
          </p:nvSpPr>
          <p:spPr>
            <a:xfrm>
              <a:off x="7985158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g3d4034d1734_0_15"/>
            <p:cNvSpPr txBox="1"/>
            <p:nvPr/>
          </p:nvSpPr>
          <p:spPr>
            <a:xfrm>
              <a:off x="8001763" y="6851219"/>
              <a:ext cx="30384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0070C0"/>
                  </a:solidFill>
                </a:rPr>
                <a:t>57</a:t>
              </a: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32">
                  <a:solidFill>
                    <a:srgbClr val="0070C0"/>
                  </a:solidFill>
                </a:rPr>
                <a:t>K</a:t>
              </a: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r>
                <a:rPr b="0" i="0" lang="en-US" sz="1467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(Avg </a:t>
              </a:r>
              <a:r>
                <a:rPr lang="en-US" sz="1467">
                  <a:solidFill>
                    <a:srgbClr val="0070C0"/>
                  </a:solidFill>
                </a:rPr>
                <a:t>Jan Feb</a:t>
              </a:r>
              <a:r>
                <a:rPr b="0" i="0" lang="en-US" sz="1467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33">
                  <a:solidFill>
                    <a:srgbClr val="1F6AB4"/>
                  </a:solidFill>
                </a:rPr>
                <a:t> dépenses </a:t>
              </a: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CAC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135;g3d4034d1734_0_15"/>
          <p:cNvGrpSpPr/>
          <p:nvPr/>
        </p:nvGrpSpPr>
        <p:grpSpPr>
          <a:xfrm>
            <a:off x="9720265" y="4139691"/>
            <a:ext cx="2081869" cy="1086242"/>
            <a:chOff x="7917462" y="6574571"/>
            <a:chExt cx="3122648" cy="1437969"/>
          </a:xfrm>
        </p:grpSpPr>
        <p:sp>
          <p:nvSpPr>
            <p:cNvPr id="136" name="Google Shape;136;g3d4034d1734_0_15"/>
            <p:cNvSpPr/>
            <p:nvPr/>
          </p:nvSpPr>
          <p:spPr>
            <a:xfrm>
              <a:off x="7917462" y="6574571"/>
              <a:ext cx="3097468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g3d4034d1734_0_15"/>
            <p:cNvSpPr txBox="1"/>
            <p:nvPr/>
          </p:nvSpPr>
          <p:spPr>
            <a:xfrm>
              <a:off x="7926710" y="6851218"/>
              <a:ext cx="31134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N/A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Payback (# month)</a:t>
              </a:r>
              <a:endParaRPr/>
            </a:p>
          </p:txBody>
        </p:sp>
      </p:grpSp>
      <p:grpSp>
        <p:nvGrpSpPr>
          <p:cNvPr id="138" name="Google Shape;138;g3d4034d1734_0_15"/>
          <p:cNvGrpSpPr/>
          <p:nvPr/>
        </p:nvGrpSpPr>
        <p:grpSpPr>
          <a:xfrm>
            <a:off x="9587139" y="-1359545"/>
            <a:ext cx="2093890" cy="1085954"/>
            <a:chOff x="7926709" y="6574571"/>
            <a:chExt cx="3140677" cy="1437969"/>
          </a:xfrm>
        </p:grpSpPr>
        <p:sp>
          <p:nvSpPr>
            <p:cNvPr id="139" name="Google Shape;139;g3d4034d1734_0_15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d4034d1734_0_15"/>
            <p:cNvSpPr txBox="1"/>
            <p:nvPr/>
          </p:nvSpPr>
          <p:spPr>
            <a:xfrm>
              <a:off x="7926709" y="6851219"/>
              <a:ext cx="3113400" cy="74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32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Ratio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TTM</a:t>
              </a:r>
              <a:endParaRPr b="0" i="0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" name="Google Shape;141;g3d4034d1734_0_15"/>
          <p:cNvGrpSpPr/>
          <p:nvPr/>
        </p:nvGrpSpPr>
        <p:grpSpPr>
          <a:xfrm>
            <a:off x="9720150" y="1620152"/>
            <a:ext cx="2078710" cy="1087858"/>
            <a:chOff x="4514578" y="4592143"/>
            <a:chExt cx="3117909" cy="1631706"/>
          </a:xfrm>
        </p:grpSpPr>
        <p:sp>
          <p:nvSpPr>
            <p:cNvPr id="142" name="Google Shape;142;g3d4034d1734_0_15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g3d4034d1734_0_15"/>
            <p:cNvSpPr txBox="1"/>
            <p:nvPr/>
          </p:nvSpPr>
          <p:spPr>
            <a:xfrm>
              <a:off x="4514578" y="4893953"/>
              <a:ext cx="3113400" cy="10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-1630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%</a:t>
              </a:r>
              <a:b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EBITDA/Revenue</a:t>
              </a:r>
              <a:endParaRPr/>
            </a:p>
          </p:txBody>
        </p:sp>
      </p:grpSp>
      <p:grpSp>
        <p:nvGrpSpPr>
          <p:cNvPr id="144" name="Google Shape;144;g3d4034d1734_0_15"/>
          <p:cNvGrpSpPr/>
          <p:nvPr/>
        </p:nvGrpSpPr>
        <p:grpSpPr>
          <a:xfrm>
            <a:off x="2760821" y="-1341143"/>
            <a:ext cx="2089082" cy="1102800"/>
            <a:chOff x="2823301" y="7004649"/>
            <a:chExt cx="2089082" cy="1102800"/>
          </a:xfrm>
        </p:grpSpPr>
        <p:sp>
          <p:nvSpPr>
            <p:cNvPr id="145" name="Google Shape;145;g3d4034d1734_0_15"/>
            <p:cNvSpPr/>
            <p:nvPr/>
          </p:nvSpPr>
          <p:spPr>
            <a:xfrm>
              <a:off x="2823301" y="7004649"/>
              <a:ext cx="2089082" cy="1102800"/>
            </a:xfrm>
            <a:custGeom>
              <a:rect b="b" l="l" r="r" t="t"/>
              <a:pathLst>
                <a:path extrusionOk="0" h="2173005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2048545"/>
                  </a:lnTo>
                  <a:cubicBezTo>
                    <a:pt x="4077105" y="2084105"/>
                    <a:pt x="4047896" y="2113314"/>
                    <a:pt x="4012335" y="2113314"/>
                  </a:cubicBezTo>
                  <a:lnTo>
                    <a:pt x="124460" y="2113314"/>
                  </a:lnTo>
                  <a:cubicBezTo>
                    <a:pt x="88900" y="2113314"/>
                    <a:pt x="59690" y="2084105"/>
                    <a:pt x="59690" y="20485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8545"/>
                  </a:lnTo>
                  <a:cubicBezTo>
                    <a:pt x="0" y="2117124"/>
                    <a:pt x="55880" y="2173005"/>
                    <a:pt x="124460" y="2173005"/>
                  </a:cubicBezTo>
                  <a:lnTo>
                    <a:pt x="4012336" y="2173005"/>
                  </a:lnTo>
                  <a:cubicBezTo>
                    <a:pt x="4080916" y="2173005"/>
                    <a:pt x="4136796" y="2117124"/>
                    <a:pt x="4136796" y="2048545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D86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g3d4034d1734_0_15"/>
            <p:cNvSpPr txBox="1"/>
            <p:nvPr/>
          </p:nvSpPr>
          <p:spPr>
            <a:xfrm>
              <a:off x="2848988" y="7336021"/>
              <a:ext cx="203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D86CCC"/>
                  </a:solidFill>
                  <a:latin typeface="Arial"/>
                  <a:ea typeface="Arial"/>
                  <a:cs typeface="Arial"/>
                  <a:sym typeface="Arial"/>
                </a:rPr>
                <a:t>TTM</a:t>
              </a:r>
              <a:endParaRPr b="0" i="0" sz="1333" u="none" cap="none" strike="noStrike">
                <a:solidFill>
                  <a:srgbClr val="D86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" name="Google Shape;147;g3d4034d1734_0_15"/>
          <p:cNvGrpSpPr/>
          <p:nvPr/>
        </p:nvGrpSpPr>
        <p:grpSpPr>
          <a:xfrm>
            <a:off x="420574" y="-1326962"/>
            <a:ext cx="2089082" cy="1102800"/>
            <a:chOff x="483054" y="7018830"/>
            <a:chExt cx="2089082" cy="1102800"/>
          </a:xfrm>
        </p:grpSpPr>
        <p:sp>
          <p:nvSpPr>
            <p:cNvPr id="148" name="Google Shape;148;g3d4034d1734_0_15"/>
            <p:cNvSpPr/>
            <p:nvPr/>
          </p:nvSpPr>
          <p:spPr>
            <a:xfrm>
              <a:off x="483054" y="7018830"/>
              <a:ext cx="2089082" cy="1102800"/>
            </a:xfrm>
            <a:custGeom>
              <a:rect b="b" l="l" r="r" t="t"/>
              <a:pathLst>
                <a:path extrusionOk="0" h="2173005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2048545"/>
                  </a:lnTo>
                  <a:cubicBezTo>
                    <a:pt x="4077105" y="2084105"/>
                    <a:pt x="4047896" y="2113314"/>
                    <a:pt x="4012335" y="2113314"/>
                  </a:cubicBezTo>
                  <a:lnTo>
                    <a:pt x="124460" y="2113314"/>
                  </a:lnTo>
                  <a:cubicBezTo>
                    <a:pt x="88900" y="2113314"/>
                    <a:pt x="59690" y="2084105"/>
                    <a:pt x="59690" y="20485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8545"/>
                  </a:lnTo>
                  <a:cubicBezTo>
                    <a:pt x="0" y="2117124"/>
                    <a:pt x="55880" y="2173005"/>
                    <a:pt x="124460" y="2173005"/>
                  </a:cubicBezTo>
                  <a:lnTo>
                    <a:pt x="4012336" y="2173005"/>
                  </a:lnTo>
                  <a:cubicBezTo>
                    <a:pt x="4080916" y="2173005"/>
                    <a:pt x="4136796" y="2117124"/>
                    <a:pt x="4136796" y="2048545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D86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g3d4034d1734_0_15"/>
            <p:cNvSpPr txBox="1"/>
            <p:nvPr/>
          </p:nvSpPr>
          <p:spPr>
            <a:xfrm>
              <a:off x="505500" y="7186837"/>
              <a:ext cx="2033100" cy="8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  <a:t>Spot : </a:t>
              </a:r>
              <a:b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400">
                  <a:solidFill>
                    <a:srgbClr val="43D658"/>
                  </a:solidFill>
                </a:rPr>
                <a:t>Feb</a:t>
              </a:r>
              <a: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  <a:t>. 2</a:t>
              </a:r>
              <a:r>
                <a:rPr lang="en-US" sz="2400">
                  <a:solidFill>
                    <a:srgbClr val="43D658"/>
                  </a:solidFill>
                </a:rPr>
                <a:t>6</a:t>
              </a:r>
              <a:endParaRPr b="0" i="0" sz="1333" u="none" cap="none" strike="noStrike">
                <a:solidFill>
                  <a:srgbClr val="43D65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g3d4034d1734_0_15"/>
          <p:cNvGrpSpPr/>
          <p:nvPr/>
        </p:nvGrpSpPr>
        <p:grpSpPr>
          <a:xfrm>
            <a:off x="9720262" y="359816"/>
            <a:ext cx="2079275" cy="1085954"/>
            <a:chOff x="7948630" y="6574571"/>
            <a:chExt cx="3118756" cy="1437969"/>
          </a:xfrm>
        </p:grpSpPr>
        <p:sp>
          <p:nvSpPr>
            <p:cNvPr id="151" name="Google Shape;151;g3d4034d1734_0_15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g3d4034d1734_0_15"/>
            <p:cNvSpPr txBox="1"/>
            <p:nvPr/>
          </p:nvSpPr>
          <p:spPr>
            <a:xfrm>
              <a:off x="7995460" y="6851219"/>
              <a:ext cx="30447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0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(€)</a:t>
              </a:r>
              <a:endParaRPr/>
            </a:p>
          </p:txBody>
        </p:sp>
      </p:grpSp>
      <p:grpSp>
        <p:nvGrpSpPr>
          <p:cNvPr id="153" name="Google Shape;153;g3d4034d1734_0_15"/>
          <p:cNvGrpSpPr/>
          <p:nvPr/>
        </p:nvGrpSpPr>
        <p:grpSpPr>
          <a:xfrm>
            <a:off x="7380262" y="359816"/>
            <a:ext cx="2079275" cy="1085954"/>
            <a:chOff x="7948630" y="6574571"/>
            <a:chExt cx="3118756" cy="1437969"/>
          </a:xfrm>
        </p:grpSpPr>
        <p:sp>
          <p:nvSpPr>
            <p:cNvPr id="154" name="Google Shape;154;g3d4034d1734_0_15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g3d4034d1734_0_15"/>
            <p:cNvSpPr txBox="1"/>
            <p:nvPr/>
          </p:nvSpPr>
          <p:spPr>
            <a:xfrm>
              <a:off x="8008526" y="6851219"/>
              <a:ext cx="30318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0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(#)</a:t>
              </a:r>
              <a:endParaRPr/>
            </a:p>
          </p:txBody>
        </p:sp>
      </p:grpSp>
      <p:grpSp>
        <p:nvGrpSpPr>
          <p:cNvPr id="156" name="Google Shape;156;g3d4034d1734_0_15"/>
          <p:cNvGrpSpPr/>
          <p:nvPr/>
        </p:nvGrpSpPr>
        <p:grpSpPr>
          <a:xfrm>
            <a:off x="2700000" y="1620000"/>
            <a:ext cx="2091600" cy="1081733"/>
            <a:chOff x="468310" y="2579854"/>
            <a:chExt cx="2091600" cy="1081733"/>
          </a:xfrm>
        </p:grpSpPr>
        <p:sp>
          <p:nvSpPr>
            <p:cNvPr id="157" name="Google Shape;157;g3d4034d1734_0_15"/>
            <p:cNvSpPr/>
            <p:nvPr/>
          </p:nvSpPr>
          <p:spPr>
            <a:xfrm>
              <a:off x="468310" y="2579854"/>
              <a:ext cx="2078740" cy="108173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3d4034d1734_0_15"/>
            <p:cNvSpPr txBox="1"/>
            <p:nvPr/>
          </p:nvSpPr>
          <p:spPr>
            <a:xfrm>
              <a:off x="468310" y="2849056"/>
              <a:ext cx="2091600" cy="6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27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1F6AB4"/>
                  </a:solidFill>
                </a:rPr>
                <a:t>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Growth Margin</a:t>
              </a:r>
              <a:endParaRPr/>
            </a:p>
          </p:txBody>
        </p:sp>
      </p:grpSp>
      <p:grpSp>
        <p:nvGrpSpPr>
          <p:cNvPr id="159" name="Google Shape;159;g3d4034d1734_0_15"/>
          <p:cNvGrpSpPr/>
          <p:nvPr/>
        </p:nvGrpSpPr>
        <p:grpSpPr>
          <a:xfrm>
            <a:off x="2700148" y="359826"/>
            <a:ext cx="2085299" cy="1104726"/>
            <a:chOff x="4500188" y="6590579"/>
            <a:chExt cx="3127792" cy="1449772"/>
          </a:xfrm>
        </p:grpSpPr>
        <p:sp>
          <p:nvSpPr>
            <p:cNvPr id="160" name="Google Shape;160;g3d4034d1734_0_15"/>
            <p:cNvSpPr/>
            <p:nvPr/>
          </p:nvSpPr>
          <p:spPr>
            <a:xfrm>
              <a:off x="4500188" y="6590579"/>
              <a:ext cx="3117909" cy="1449772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g3d4034d1734_0_15"/>
            <p:cNvSpPr txBox="1"/>
            <p:nvPr/>
          </p:nvSpPr>
          <p:spPr>
            <a:xfrm>
              <a:off x="4514580" y="6877055"/>
              <a:ext cx="3113400" cy="9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2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New &amp; upsell MRR</a:t>
              </a:r>
              <a:endParaRPr/>
            </a:p>
          </p:txBody>
        </p:sp>
      </p:grpSp>
      <p:grpSp>
        <p:nvGrpSpPr>
          <p:cNvPr id="162" name="Google Shape;162;g3d4034d1734_0_15"/>
          <p:cNvGrpSpPr/>
          <p:nvPr/>
        </p:nvGrpSpPr>
        <p:grpSpPr>
          <a:xfrm>
            <a:off x="2680964" y="5400000"/>
            <a:ext cx="2075394" cy="1105271"/>
            <a:chOff x="421874" y="1361908"/>
            <a:chExt cx="2097841" cy="1105271"/>
          </a:xfrm>
        </p:grpSpPr>
        <p:sp>
          <p:nvSpPr>
            <p:cNvPr id="163" name="Google Shape;163;g3d4034d1734_0_15"/>
            <p:cNvSpPr/>
            <p:nvPr/>
          </p:nvSpPr>
          <p:spPr>
            <a:xfrm>
              <a:off x="454571" y="1361908"/>
              <a:ext cx="2065144" cy="110527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g3d4034d1734_0_15"/>
            <p:cNvSpPr txBox="1"/>
            <p:nvPr/>
          </p:nvSpPr>
          <p:spPr>
            <a:xfrm>
              <a:off x="421874" y="1567285"/>
              <a:ext cx="20382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200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NPS</a:t>
              </a:r>
              <a:endParaRPr/>
            </a:p>
          </p:txBody>
        </p:sp>
      </p:grpSp>
      <p:grpSp>
        <p:nvGrpSpPr>
          <p:cNvPr id="165" name="Google Shape;165;g3d4034d1734_0_15"/>
          <p:cNvGrpSpPr/>
          <p:nvPr/>
        </p:nvGrpSpPr>
        <p:grpSpPr>
          <a:xfrm>
            <a:off x="5101068" y="-1341144"/>
            <a:ext cx="2078606" cy="1100487"/>
            <a:chOff x="477553" y="3877741"/>
            <a:chExt cx="2078606" cy="1100487"/>
          </a:xfrm>
        </p:grpSpPr>
        <p:sp>
          <p:nvSpPr>
            <p:cNvPr id="166" name="Google Shape;166;g3d4034d1734_0_15"/>
            <p:cNvSpPr/>
            <p:nvPr/>
          </p:nvSpPr>
          <p:spPr>
            <a:xfrm>
              <a:off x="477553" y="3877741"/>
              <a:ext cx="2078606" cy="1100487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g3d4034d1734_0_15"/>
            <p:cNvSpPr txBox="1"/>
            <p:nvPr/>
          </p:nvSpPr>
          <p:spPr>
            <a:xfrm>
              <a:off x="491066" y="4094113"/>
              <a:ext cx="203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YTD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" name="Google Shape;168;g3d4034d1734_0_15"/>
          <p:cNvGrpSpPr/>
          <p:nvPr/>
        </p:nvGrpSpPr>
        <p:grpSpPr>
          <a:xfrm>
            <a:off x="9720381" y="2879827"/>
            <a:ext cx="2079275" cy="1095445"/>
            <a:chOff x="11403021" y="6587658"/>
            <a:chExt cx="3118756" cy="1437969"/>
          </a:xfrm>
        </p:grpSpPr>
        <p:sp>
          <p:nvSpPr>
            <p:cNvPr id="169" name="Google Shape;169;g3d4034d1734_0_15"/>
            <p:cNvSpPr/>
            <p:nvPr/>
          </p:nvSpPr>
          <p:spPr>
            <a:xfrm>
              <a:off x="11403021" y="6587658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g3d4034d1734_0_15"/>
            <p:cNvSpPr txBox="1"/>
            <p:nvPr/>
          </p:nvSpPr>
          <p:spPr>
            <a:xfrm>
              <a:off x="11451501" y="6870159"/>
              <a:ext cx="3049800" cy="8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62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>
                  <a:solidFill>
                    <a:srgbClr val="0070C0"/>
                  </a:solidFill>
                </a:rPr>
                <a:t>N/A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Rule of 40</a:t>
              </a:r>
              <a:endParaRPr/>
            </a:p>
          </p:txBody>
        </p:sp>
      </p:grpSp>
      <p:sp>
        <p:nvSpPr>
          <p:cNvPr id="171" name="Google Shape;171;g3d4034d1734_0_15"/>
          <p:cNvSpPr/>
          <p:nvPr/>
        </p:nvSpPr>
        <p:spPr>
          <a:xfrm>
            <a:off x="3642300" y="2571"/>
            <a:ext cx="4907400" cy="24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FEVRIER</a:t>
            </a:r>
            <a:endParaRPr b="1"/>
          </a:p>
        </p:txBody>
      </p:sp>
      <p:sp>
        <p:nvSpPr>
          <p:cNvPr id="172" name="Google Shape;172;g3d4034d1734_0_15"/>
          <p:cNvSpPr/>
          <p:nvPr/>
        </p:nvSpPr>
        <p:spPr>
          <a:xfrm rot="10800000">
            <a:off x="4317825" y="4351225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d4034d1734_0_15"/>
          <p:cNvSpPr/>
          <p:nvPr/>
        </p:nvSpPr>
        <p:spPr>
          <a:xfrm rot="10800000">
            <a:off x="4101700" y="5565150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d4034d1734_0_15"/>
          <p:cNvSpPr/>
          <p:nvPr/>
        </p:nvSpPr>
        <p:spPr>
          <a:xfrm rot="10800000">
            <a:off x="2022925" y="4662375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g396cd0228a7_1_6"/>
          <p:cNvGrpSpPr/>
          <p:nvPr/>
        </p:nvGrpSpPr>
        <p:grpSpPr>
          <a:xfrm>
            <a:off x="360150" y="1620152"/>
            <a:ext cx="2078710" cy="1087858"/>
            <a:chOff x="4514578" y="4592143"/>
            <a:chExt cx="3117909" cy="1631706"/>
          </a:xfrm>
        </p:grpSpPr>
        <p:sp>
          <p:nvSpPr>
            <p:cNvPr id="181" name="Google Shape;181;g396cd0228a7_1_6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g396cd0228a7_1_6"/>
            <p:cNvSpPr txBox="1"/>
            <p:nvPr/>
          </p:nvSpPr>
          <p:spPr>
            <a:xfrm>
              <a:off x="4534127" y="4893953"/>
              <a:ext cx="3093900" cy="10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F6AB4"/>
                  </a:solidFill>
                </a:rPr>
                <a:t>4</a:t>
              </a:r>
              <a:r>
                <a:rPr lang="en-US" sz="2000">
                  <a:solidFill>
                    <a:srgbClr val="1F6AB4"/>
                  </a:solidFill>
                </a:rPr>
                <a:t>5</a:t>
              </a: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000">
                  <a:solidFill>
                    <a:srgbClr val="1F6AB4"/>
                  </a:solidFill>
                </a:rPr>
                <a:t>K</a:t>
              </a: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/>
            </a:p>
          </p:txBody>
        </p:sp>
      </p:grpSp>
      <p:grpSp>
        <p:nvGrpSpPr>
          <p:cNvPr id="183" name="Google Shape;183;g396cd0228a7_1_6"/>
          <p:cNvGrpSpPr/>
          <p:nvPr/>
        </p:nvGrpSpPr>
        <p:grpSpPr>
          <a:xfrm>
            <a:off x="360000" y="5400000"/>
            <a:ext cx="2074583" cy="1104623"/>
            <a:chOff x="0" y="0"/>
            <a:chExt cx="5160653" cy="2277573"/>
          </a:xfrm>
        </p:grpSpPr>
        <p:sp>
          <p:nvSpPr>
            <p:cNvPr id="184" name="Google Shape;184;g396cd0228a7_1_6"/>
            <p:cNvSpPr/>
            <p:nvPr/>
          </p:nvSpPr>
          <p:spPr>
            <a:xfrm>
              <a:off x="0" y="0"/>
              <a:ext cx="5160653" cy="227757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g396cd0228a7_1_6"/>
            <p:cNvSpPr txBox="1"/>
            <p:nvPr/>
          </p:nvSpPr>
          <p:spPr>
            <a:xfrm>
              <a:off x="69348" y="427804"/>
              <a:ext cx="5070300" cy="141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100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NRR</a:t>
              </a:r>
              <a:endParaRPr/>
            </a:p>
          </p:txBody>
        </p:sp>
      </p:grpSp>
      <p:grpSp>
        <p:nvGrpSpPr>
          <p:cNvPr id="186" name="Google Shape;186;g396cd0228a7_1_6"/>
          <p:cNvGrpSpPr/>
          <p:nvPr/>
        </p:nvGrpSpPr>
        <p:grpSpPr>
          <a:xfrm>
            <a:off x="360265" y="4139687"/>
            <a:ext cx="2079275" cy="1086242"/>
            <a:chOff x="7985158" y="6574571"/>
            <a:chExt cx="3118756" cy="1437969"/>
          </a:xfrm>
        </p:grpSpPr>
        <p:sp>
          <p:nvSpPr>
            <p:cNvPr id="187" name="Google Shape;187;g396cd0228a7_1_6"/>
            <p:cNvSpPr/>
            <p:nvPr/>
          </p:nvSpPr>
          <p:spPr>
            <a:xfrm>
              <a:off x="7985158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g396cd0228a7_1_6"/>
            <p:cNvSpPr txBox="1"/>
            <p:nvPr/>
          </p:nvSpPr>
          <p:spPr>
            <a:xfrm>
              <a:off x="8036231" y="6851219"/>
              <a:ext cx="30039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X M€ </a:t>
              </a:r>
              <a:r>
                <a:rPr b="0" i="0" lang="en-US" sz="1200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(+/- X% YoY)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Booking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g396cd0228a7_1_6"/>
          <p:cNvGrpSpPr/>
          <p:nvPr/>
        </p:nvGrpSpPr>
        <p:grpSpPr>
          <a:xfrm>
            <a:off x="5040148" y="359826"/>
            <a:ext cx="2085299" cy="1104726"/>
            <a:chOff x="4500188" y="6590579"/>
            <a:chExt cx="3127792" cy="1449772"/>
          </a:xfrm>
        </p:grpSpPr>
        <p:sp>
          <p:nvSpPr>
            <p:cNvPr id="190" name="Google Shape;190;g396cd0228a7_1_6"/>
            <p:cNvSpPr/>
            <p:nvPr/>
          </p:nvSpPr>
          <p:spPr>
            <a:xfrm>
              <a:off x="4500188" y="6590579"/>
              <a:ext cx="3117909" cy="1449772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g396cd0228a7_1_6"/>
            <p:cNvSpPr txBox="1"/>
            <p:nvPr/>
          </p:nvSpPr>
          <p:spPr>
            <a:xfrm>
              <a:off x="4514580" y="6877055"/>
              <a:ext cx="3113400" cy="9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&amp; downsell MRR</a:t>
              </a:r>
              <a:endParaRPr/>
            </a:p>
          </p:txBody>
        </p:sp>
      </p:grpSp>
      <p:grpSp>
        <p:nvGrpSpPr>
          <p:cNvPr id="192" name="Google Shape;192;g396cd0228a7_1_6"/>
          <p:cNvGrpSpPr/>
          <p:nvPr/>
        </p:nvGrpSpPr>
        <p:grpSpPr>
          <a:xfrm>
            <a:off x="5040265" y="2879691"/>
            <a:ext cx="2081869" cy="1086242"/>
            <a:chOff x="7917462" y="6574571"/>
            <a:chExt cx="3122648" cy="1437969"/>
          </a:xfrm>
        </p:grpSpPr>
        <p:sp>
          <p:nvSpPr>
            <p:cNvPr id="193" name="Google Shape;193;g396cd0228a7_1_6"/>
            <p:cNvSpPr/>
            <p:nvPr/>
          </p:nvSpPr>
          <p:spPr>
            <a:xfrm>
              <a:off x="7917462" y="6574571"/>
              <a:ext cx="3097468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96cd0228a7_1_6"/>
            <p:cNvSpPr txBox="1"/>
            <p:nvPr/>
          </p:nvSpPr>
          <p:spPr>
            <a:xfrm>
              <a:off x="7926710" y="6851218"/>
              <a:ext cx="31134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3,4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M€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Cash</a:t>
              </a:r>
              <a:endParaRPr/>
            </a:p>
          </p:txBody>
        </p:sp>
      </p:grpSp>
      <p:grpSp>
        <p:nvGrpSpPr>
          <p:cNvPr id="195" name="Google Shape;195;g396cd0228a7_1_6"/>
          <p:cNvGrpSpPr/>
          <p:nvPr/>
        </p:nvGrpSpPr>
        <p:grpSpPr>
          <a:xfrm>
            <a:off x="7379994" y="5400000"/>
            <a:ext cx="2091556" cy="1116051"/>
            <a:chOff x="353896" y="0"/>
            <a:chExt cx="4517400" cy="2339731"/>
          </a:xfrm>
        </p:grpSpPr>
        <p:sp>
          <p:nvSpPr>
            <p:cNvPr id="196" name="Google Shape;196;g396cd0228a7_1_6"/>
            <p:cNvSpPr/>
            <p:nvPr/>
          </p:nvSpPr>
          <p:spPr>
            <a:xfrm>
              <a:off x="388325" y="0"/>
              <a:ext cx="4480465" cy="233973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96cd0228a7_1_6"/>
            <p:cNvSpPr txBox="1"/>
            <p:nvPr/>
          </p:nvSpPr>
          <p:spPr>
            <a:xfrm>
              <a:off x="353896" y="474917"/>
              <a:ext cx="4517400" cy="140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15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FTE</a:t>
              </a:r>
              <a:endParaRPr/>
            </a:p>
          </p:txBody>
        </p:sp>
      </p:grpSp>
      <p:grpSp>
        <p:nvGrpSpPr>
          <p:cNvPr id="198" name="Google Shape;198;g396cd0228a7_1_6"/>
          <p:cNvGrpSpPr/>
          <p:nvPr/>
        </p:nvGrpSpPr>
        <p:grpSpPr>
          <a:xfrm>
            <a:off x="7380261" y="2879816"/>
            <a:ext cx="2093890" cy="1085954"/>
            <a:chOff x="7926709" y="6574571"/>
            <a:chExt cx="3140677" cy="1437969"/>
          </a:xfrm>
        </p:grpSpPr>
        <p:sp>
          <p:nvSpPr>
            <p:cNvPr id="199" name="Google Shape;199;g396cd0228a7_1_6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g396cd0228a7_1_6"/>
            <p:cNvSpPr txBox="1"/>
            <p:nvPr/>
          </p:nvSpPr>
          <p:spPr>
            <a:xfrm>
              <a:off x="7926709" y="6851219"/>
              <a:ext cx="31134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1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,</a:t>
              </a:r>
              <a:r>
                <a:rPr lang="en-US" sz="2332">
                  <a:solidFill>
                    <a:srgbClr val="1F6AB4"/>
                  </a:solidFill>
                </a:rPr>
                <a:t>5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M€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Debts</a:t>
              </a:r>
              <a:endParaRPr/>
            </a:p>
          </p:txBody>
        </p:sp>
      </p:grpSp>
      <p:grpSp>
        <p:nvGrpSpPr>
          <p:cNvPr id="201" name="Google Shape;201;g396cd0228a7_1_6"/>
          <p:cNvGrpSpPr/>
          <p:nvPr/>
        </p:nvGrpSpPr>
        <p:grpSpPr>
          <a:xfrm>
            <a:off x="7380150" y="1620152"/>
            <a:ext cx="2078778" cy="1087858"/>
            <a:chOff x="4514578" y="4592143"/>
            <a:chExt cx="3118012" cy="1631706"/>
          </a:xfrm>
        </p:grpSpPr>
        <p:sp>
          <p:nvSpPr>
            <p:cNvPr id="202" name="Google Shape;202;g396cd0228a7_1_6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g396cd0228a7_1_6"/>
            <p:cNvSpPr txBox="1"/>
            <p:nvPr/>
          </p:nvSpPr>
          <p:spPr>
            <a:xfrm>
              <a:off x="4533590" y="5129015"/>
              <a:ext cx="3099000" cy="10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-695 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b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>
                  <a:solidFill>
                    <a:srgbClr val="1F6AB4"/>
                  </a:solidFill>
                </a:rPr>
                <a:t>EBITDA</a:t>
              </a:r>
              <a:endParaRPr/>
            </a:p>
          </p:txBody>
        </p:sp>
      </p:grpSp>
      <p:grpSp>
        <p:nvGrpSpPr>
          <p:cNvPr id="204" name="Google Shape;204;g396cd0228a7_1_6"/>
          <p:cNvGrpSpPr/>
          <p:nvPr/>
        </p:nvGrpSpPr>
        <p:grpSpPr>
          <a:xfrm>
            <a:off x="9720381" y="5399827"/>
            <a:ext cx="2079275" cy="1095445"/>
            <a:chOff x="11403021" y="6587658"/>
            <a:chExt cx="3118756" cy="1437969"/>
          </a:xfrm>
        </p:grpSpPr>
        <p:sp>
          <p:nvSpPr>
            <p:cNvPr id="205" name="Google Shape;205;g396cd0228a7_1_6"/>
            <p:cNvSpPr/>
            <p:nvPr/>
          </p:nvSpPr>
          <p:spPr>
            <a:xfrm>
              <a:off x="11403021" y="6587658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g396cd0228a7_1_6"/>
            <p:cNvSpPr txBox="1"/>
            <p:nvPr/>
          </p:nvSpPr>
          <p:spPr>
            <a:xfrm>
              <a:off x="11451501" y="6870159"/>
              <a:ext cx="3049800" cy="8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62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>
                  <a:solidFill>
                    <a:srgbClr val="0070C0"/>
                  </a:solidFill>
                </a:rPr>
                <a:t>1</a:t>
              </a:r>
              <a:r>
                <a:rPr b="0" i="0" lang="en-US" sz="2133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Revenue/FTE</a:t>
              </a:r>
              <a:endParaRPr/>
            </a:p>
          </p:txBody>
        </p:sp>
      </p:grpSp>
      <p:grpSp>
        <p:nvGrpSpPr>
          <p:cNvPr id="207" name="Google Shape;207;g396cd0228a7_1_6"/>
          <p:cNvGrpSpPr/>
          <p:nvPr/>
        </p:nvGrpSpPr>
        <p:grpSpPr>
          <a:xfrm>
            <a:off x="5040000" y="1620000"/>
            <a:ext cx="2091600" cy="1081733"/>
            <a:chOff x="2793890" y="2579854"/>
            <a:chExt cx="2091600" cy="1081733"/>
          </a:xfrm>
        </p:grpSpPr>
        <p:sp>
          <p:nvSpPr>
            <p:cNvPr id="208" name="Google Shape;208;g396cd0228a7_1_6"/>
            <p:cNvSpPr/>
            <p:nvPr/>
          </p:nvSpPr>
          <p:spPr>
            <a:xfrm>
              <a:off x="2793890" y="2579854"/>
              <a:ext cx="2078740" cy="108173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g396cd0228a7_1_6"/>
            <p:cNvSpPr txBox="1"/>
            <p:nvPr/>
          </p:nvSpPr>
          <p:spPr>
            <a:xfrm>
              <a:off x="2793890" y="2849056"/>
              <a:ext cx="2091600" cy="6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90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Growth Margin/Revenue</a:t>
              </a:r>
              <a:endParaRPr/>
            </a:p>
          </p:txBody>
        </p:sp>
      </p:grpSp>
      <p:grpSp>
        <p:nvGrpSpPr>
          <p:cNvPr id="210" name="Google Shape;210;g396cd0228a7_1_6"/>
          <p:cNvGrpSpPr/>
          <p:nvPr/>
        </p:nvGrpSpPr>
        <p:grpSpPr>
          <a:xfrm>
            <a:off x="360000" y="360000"/>
            <a:ext cx="2097841" cy="1105271"/>
            <a:chOff x="421874" y="1361908"/>
            <a:chExt cx="2097841" cy="1105271"/>
          </a:xfrm>
        </p:grpSpPr>
        <p:sp>
          <p:nvSpPr>
            <p:cNvPr id="211" name="Google Shape;211;g396cd0228a7_1_6"/>
            <p:cNvSpPr/>
            <p:nvPr/>
          </p:nvSpPr>
          <p:spPr>
            <a:xfrm>
              <a:off x="454571" y="1361908"/>
              <a:ext cx="2065144" cy="110527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96cd0228a7_1_6"/>
            <p:cNvSpPr txBox="1"/>
            <p:nvPr/>
          </p:nvSpPr>
          <p:spPr>
            <a:xfrm>
              <a:off x="421874" y="1567285"/>
              <a:ext cx="20382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15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 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(+</a:t>
              </a:r>
              <a:r>
                <a:rPr lang="en-US" sz="1200">
                  <a:solidFill>
                    <a:srgbClr val="1F6AB4"/>
                  </a:solidFill>
                </a:rPr>
                <a:t> 20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YoY)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MRR</a:t>
              </a:r>
              <a:endParaRPr/>
            </a:p>
          </p:txBody>
        </p:sp>
      </p:grpSp>
      <p:grpSp>
        <p:nvGrpSpPr>
          <p:cNvPr id="213" name="Google Shape;213;g396cd0228a7_1_6"/>
          <p:cNvGrpSpPr/>
          <p:nvPr/>
        </p:nvGrpSpPr>
        <p:grpSpPr>
          <a:xfrm>
            <a:off x="2700000" y="2880000"/>
            <a:ext cx="2084296" cy="1084380"/>
            <a:chOff x="2750748" y="3888620"/>
            <a:chExt cx="2084296" cy="1084381"/>
          </a:xfrm>
        </p:grpSpPr>
        <p:sp>
          <p:nvSpPr>
            <p:cNvPr id="214" name="Google Shape;214;g396cd0228a7_1_6"/>
            <p:cNvSpPr/>
            <p:nvPr/>
          </p:nvSpPr>
          <p:spPr>
            <a:xfrm>
              <a:off x="2760921" y="3888620"/>
              <a:ext cx="2074123" cy="1084381"/>
            </a:xfrm>
            <a:custGeom>
              <a:rect b="b" l="l" r="r" t="t"/>
              <a:pathLst>
                <a:path extrusionOk="0" h="2168761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2044301"/>
                  </a:lnTo>
                  <a:cubicBezTo>
                    <a:pt x="3531865" y="2079861"/>
                    <a:pt x="3502654" y="2109070"/>
                    <a:pt x="3467095" y="2109070"/>
                  </a:cubicBezTo>
                  <a:lnTo>
                    <a:pt x="124460" y="2109070"/>
                  </a:lnTo>
                  <a:cubicBezTo>
                    <a:pt x="88900" y="2109070"/>
                    <a:pt x="59690" y="2079861"/>
                    <a:pt x="59690" y="204430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4301"/>
                  </a:lnTo>
                  <a:cubicBezTo>
                    <a:pt x="0" y="2112881"/>
                    <a:pt x="55880" y="2168761"/>
                    <a:pt x="124460" y="2168761"/>
                  </a:cubicBezTo>
                  <a:lnTo>
                    <a:pt x="3467095" y="2168761"/>
                  </a:lnTo>
                  <a:cubicBezTo>
                    <a:pt x="3535674" y="2168761"/>
                    <a:pt x="3591555" y="2112881"/>
                    <a:pt x="3591555" y="2044301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g396cd0228a7_1_6"/>
            <p:cNvSpPr txBox="1"/>
            <p:nvPr/>
          </p:nvSpPr>
          <p:spPr>
            <a:xfrm>
              <a:off x="2750748" y="3993888"/>
              <a:ext cx="2033100" cy="92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-695 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(</a:t>
              </a:r>
              <a:r>
                <a:rPr lang="en-US" sz="1200">
                  <a:solidFill>
                    <a:srgbClr val="1F6AB4"/>
                  </a:solidFill>
                </a:rPr>
                <a:t>35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of budget)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EBITDA</a:t>
              </a:r>
              <a:endParaRPr/>
            </a:p>
          </p:txBody>
        </p:sp>
      </p:grpSp>
      <p:grpSp>
        <p:nvGrpSpPr>
          <p:cNvPr id="216" name="Google Shape;216;g396cd0228a7_1_6"/>
          <p:cNvGrpSpPr/>
          <p:nvPr/>
        </p:nvGrpSpPr>
        <p:grpSpPr>
          <a:xfrm>
            <a:off x="360000" y="2880000"/>
            <a:ext cx="2078606" cy="1100487"/>
            <a:chOff x="477553" y="3877741"/>
            <a:chExt cx="2078606" cy="1100487"/>
          </a:xfrm>
        </p:grpSpPr>
        <p:sp>
          <p:nvSpPr>
            <p:cNvPr id="217" name="Google Shape;217;g396cd0228a7_1_6"/>
            <p:cNvSpPr/>
            <p:nvPr/>
          </p:nvSpPr>
          <p:spPr>
            <a:xfrm>
              <a:off x="477553" y="3877741"/>
              <a:ext cx="2078606" cy="1100487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g396cd0228a7_1_6"/>
            <p:cNvSpPr txBox="1"/>
            <p:nvPr/>
          </p:nvSpPr>
          <p:spPr>
            <a:xfrm>
              <a:off x="491066" y="4094113"/>
              <a:ext cx="20331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45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1F6AB4"/>
                  </a:solidFill>
                </a:rPr>
                <a:t>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1200">
                  <a:solidFill>
                    <a:srgbClr val="1F6AB4"/>
                  </a:solidFill>
                </a:rPr>
                <a:t>3</a:t>
              </a:r>
              <a:r>
                <a:rPr lang="en-US" sz="1200">
                  <a:solidFill>
                    <a:srgbClr val="1F6AB4"/>
                  </a:solidFill>
                </a:rPr>
                <a:t>,5</a:t>
              </a:r>
              <a:r>
                <a:rPr b="0" i="0" lang="en-US" sz="12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 of budget)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Revenue</a:t>
              </a:r>
              <a:endParaRPr/>
            </a:p>
          </p:txBody>
        </p:sp>
      </p:grpSp>
      <p:sp>
        <p:nvSpPr>
          <p:cNvPr id="219" name="Google Shape;219;g396cd0228a7_1_6"/>
          <p:cNvSpPr txBox="1"/>
          <p:nvPr/>
        </p:nvSpPr>
        <p:spPr>
          <a:xfrm>
            <a:off x="11477059" y="-1831658"/>
            <a:ext cx="54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223353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0" i="0" sz="1000" u="none" cap="none" strike="noStrike">
              <a:solidFill>
                <a:srgbClr val="22335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20" name="Google Shape;220;g396cd0228a7_1_6"/>
          <p:cNvGrpSpPr/>
          <p:nvPr/>
        </p:nvGrpSpPr>
        <p:grpSpPr>
          <a:xfrm>
            <a:off x="2700150" y="4140152"/>
            <a:ext cx="2078710" cy="1087858"/>
            <a:chOff x="4514578" y="4592145"/>
            <a:chExt cx="3117909" cy="1631706"/>
          </a:xfrm>
        </p:grpSpPr>
        <p:sp>
          <p:nvSpPr>
            <p:cNvPr id="221" name="Google Shape;221;g396cd0228a7_1_6"/>
            <p:cNvSpPr/>
            <p:nvPr/>
          </p:nvSpPr>
          <p:spPr>
            <a:xfrm>
              <a:off x="4514578" y="4592145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g396cd0228a7_1_6"/>
            <p:cNvSpPr txBox="1"/>
            <p:nvPr/>
          </p:nvSpPr>
          <p:spPr>
            <a:xfrm>
              <a:off x="4534127" y="4893952"/>
              <a:ext cx="3073500" cy="102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6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0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X M€ </a:t>
              </a:r>
              <a:r>
                <a:rPr b="0" i="0" lang="en-US" sz="1467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(+/- X%)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Backlog</a:t>
              </a:r>
              <a:endParaRPr/>
            </a:p>
          </p:txBody>
        </p:sp>
      </p:grpSp>
      <p:grpSp>
        <p:nvGrpSpPr>
          <p:cNvPr id="223" name="Google Shape;223;g396cd0228a7_1_6"/>
          <p:cNvGrpSpPr/>
          <p:nvPr/>
        </p:nvGrpSpPr>
        <p:grpSpPr>
          <a:xfrm>
            <a:off x="7380265" y="4139687"/>
            <a:ext cx="2079275" cy="1086242"/>
            <a:chOff x="7985158" y="6574571"/>
            <a:chExt cx="3118756" cy="1437969"/>
          </a:xfrm>
        </p:grpSpPr>
        <p:sp>
          <p:nvSpPr>
            <p:cNvPr id="224" name="Google Shape;224;g396cd0228a7_1_6"/>
            <p:cNvSpPr/>
            <p:nvPr/>
          </p:nvSpPr>
          <p:spPr>
            <a:xfrm>
              <a:off x="7985158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g396cd0228a7_1_6"/>
            <p:cNvSpPr txBox="1"/>
            <p:nvPr/>
          </p:nvSpPr>
          <p:spPr>
            <a:xfrm>
              <a:off x="8001763" y="6674506"/>
              <a:ext cx="3038400" cy="127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0070C0"/>
                  </a:solidFill>
                </a:rPr>
                <a:t>55</a:t>
              </a: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332">
                  <a:solidFill>
                    <a:srgbClr val="0070C0"/>
                  </a:solidFill>
                </a:rPr>
                <a:t>K</a:t>
              </a:r>
              <a:r>
                <a:rPr b="0" i="0" lang="en-US" sz="2332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€ </a:t>
              </a:r>
              <a:r>
                <a:rPr b="0" i="0" lang="en-US" sz="1467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(Avg </a:t>
              </a:r>
              <a:r>
                <a:rPr lang="en-US" sz="1467">
                  <a:solidFill>
                    <a:srgbClr val="0070C0"/>
                  </a:solidFill>
                </a:rPr>
                <a:t>Jan/Feb/Mar</a:t>
              </a:r>
              <a:r>
                <a:rPr b="0" i="0" lang="en-US" sz="1467" u="none" cap="none" strike="noStrike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33">
                  <a:solidFill>
                    <a:srgbClr val="1F6AB4"/>
                  </a:solidFill>
                </a:rPr>
                <a:t> dépenses </a:t>
              </a: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CAC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g396cd0228a7_1_6"/>
          <p:cNvGrpSpPr/>
          <p:nvPr/>
        </p:nvGrpSpPr>
        <p:grpSpPr>
          <a:xfrm>
            <a:off x="9720265" y="4139691"/>
            <a:ext cx="2081869" cy="1086242"/>
            <a:chOff x="7917462" y="6574571"/>
            <a:chExt cx="3122648" cy="1437969"/>
          </a:xfrm>
        </p:grpSpPr>
        <p:sp>
          <p:nvSpPr>
            <p:cNvPr id="227" name="Google Shape;227;g396cd0228a7_1_6"/>
            <p:cNvSpPr/>
            <p:nvPr/>
          </p:nvSpPr>
          <p:spPr>
            <a:xfrm>
              <a:off x="7917462" y="6574571"/>
              <a:ext cx="3097468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g396cd0228a7_1_6"/>
            <p:cNvSpPr txBox="1"/>
            <p:nvPr/>
          </p:nvSpPr>
          <p:spPr>
            <a:xfrm>
              <a:off x="7926710" y="6851218"/>
              <a:ext cx="3113400" cy="88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N/A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Payback (# month)</a:t>
              </a:r>
              <a:endParaRPr sz="1333">
                <a:solidFill>
                  <a:srgbClr val="1F6AB4"/>
                </a:solidFill>
              </a:endParaRPr>
            </a:p>
          </p:txBody>
        </p:sp>
      </p:grpSp>
      <p:grpSp>
        <p:nvGrpSpPr>
          <p:cNvPr id="229" name="Google Shape;229;g396cd0228a7_1_6"/>
          <p:cNvGrpSpPr/>
          <p:nvPr/>
        </p:nvGrpSpPr>
        <p:grpSpPr>
          <a:xfrm>
            <a:off x="9587139" y="-1359545"/>
            <a:ext cx="2093890" cy="1085954"/>
            <a:chOff x="7926709" y="6574571"/>
            <a:chExt cx="3140677" cy="1437969"/>
          </a:xfrm>
        </p:grpSpPr>
        <p:sp>
          <p:nvSpPr>
            <p:cNvPr id="230" name="Google Shape;230;g396cd0228a7_1_6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g396cd0228a7_1_6"/>
            <p:cNvSpPr txBox="1"/>
            <p:nvPr/>
          </p:nvSpPr>
          <p:spPr>
            <a:xfrm>
              <a:off x="7926709" y="6851219"/>
              <a:ext cx="3113400" cy="74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332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Ratio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TTM</a:t>
              </a:r>
              <a:endParaRPr b="0" i="0" sz="13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g396cd0228a7_1_6"/>
          <p:cNvGrpSpPr/>
          <p:nvPr/>
        </p:nvGrpSpPr>
        <p:grpSpPr>
          <a:xfrm>
            <a:off x="9720150" y="1620152"/>
            <a:ext cx="2078710" cy="1087858"/>
            <a:chOff x="4514578" y="4592143"/>
            <a:chExt cx="3117909" cy="1631706"/>
          </a:xfrm>
        </p:grpSpPr>
        <p:sp>
          <p:nvSpPr>
            <p:cNvPr id="233" name="Google Shape;233;g396cd0228a7_1_6"/>
            <p:cNvSpPr/>
            <p:nvPr/>
          </p:nvSpPr>
          <p:spPr>
            <a:xfrm>
              <a:off x="4514578" y="4592143"/>
              <a:ext cx="3117909" cy="1631706"/>
            </a:xfrm>
            <a:custGeom>
              <a:rect b="b" l="l" r="r" t="t"/>
              <a:pathLst>
                <a:path extrusionOk="0" h="216838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2043920"/>
                  </a:lnTo>
                  <a:cubicBezTo>
                    <a:pt x="4559434" y="2079480"/>
                    <a:pt x="4530224" y="2108690"/>
                    <a:pt x="4494664" y="2108690"/>
                  </a:cubicBezTo>
                  <a:lnTo>
                    <a:pt x="124460" y="2108690"/>
                  </a:lnTo>
                  <a:cubicBezTo>
                    <a:pt x="88900" y="2108690"/>
                    <a:pt x="59690" y="2079480"/>
                    <a:pt x="59690" y="204392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3920"/>
                  </a:lnTo>
                  <a:cubicBezTo>
                    <a:pt x="0" y="2112500"/>
                    <a:pt x="55880" y="2168380"/>
                    <a:pt x="124460" y="2168380"/>
                  </a:cubicBezTo>
                  <a:lnTo>
                    <a:pt x="4494664" y="2168380"/>
                  </a:lnTo>
                  <a:cubicBezTo>
                    <a:pt x="4563244" y="2168380"/>
                    <a:pt x="4619124" y="2112500"/>
                    <a:pt x="4619124" y="204392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g396cd0228a7_1_6"/>
            <p:cNvSpPr txBox="1"/>
            <p:nvPr/>
          </p:nvSpPr>
          <p:spPr>
            <a:xfrm>
              <a:off x="4514578" y="4893953"/>
              <a:ext cx="3113400" cy="104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45720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-1550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%</a:t>
              </a:r>
              <a:b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EBITDA/Revenue</a:t>
              </a:r>
              <a:endParaRPr/>
            </a:p>
          </p:txBody>
        </p:sp>
      </p:grpSp>
      <p:grpSp>
        <p:nvGrpSpPr>
          <p:cNvPr id="235" name="Google Shape;235;g396cd0228a7_1_6"/>
          <p:cNvGrpSpPr/>
          <p:nvPr/>
        </p:nvGrpSpPr>
        <p:grpSpPr>
          <a:xfrm>
            <a:off x="2760821" y="-1341143"/>
            <a:ext cx="2089082" cy="1102800"/>
            <a:chOff x="2823301" y="7004649"/>
            <a:chExt cx="2089082" cy="1102800"/>
          </a:xfrm>
        </p:grpSpPr>
        <p:sp>
          <p:nvSpPr>
            <p:cNvPr id="236" name="Google Shape;236;g396cd0228a7_1_6"/>
            <p:cNvSpPr/>
            <p:nvPr/>
          </p:nvSpPr>
          <p:spPr>
            <a:xfrm>
              <a:off x="2823301" y="7004649"/>
              <a:ext cx="2089082" cy="1102800"/>
            </a:xfrm>
            <a:custGeom>
              <a:rect b="b" l="l" r="r" t="t"/>
              <a:pathLst>
                <a:path extrusionOk="0" h="2173005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2048545"/>
                  </a:lnTo>
                  <a:cubicBezTo>
                    <a:pt x="4077105" y="2084105"/>
                    <a:pt x="4047896" y="2113314"/>
                    <a:pt x="4012335" y="2113314"/>
                  </a:cubicBezTo>
                  <a:lnTo>
                    <a:pt x="124460" y="2113314"/>
                  </a:lnTo>
                  <a:cubicBezTo>
                    <a:pt x="88900" y="2113314"/>
                    <a:pt x="59690" y="2084105"/>
                    <a:pt x="59690" y="20485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8545"/>
                  </a:lnTo>
                  <a:cubicBezTo>
                    <a:pt x="0" y="2117124"/>
                    <a:pt x="55880" y="2173005"/>
                    <a:pt x="124460" y="2173005"/>
                  </a:cubicBezTo>
                  <a:lnTo>
                    <a:pt x="4012336" y="2173005"/>
                  </a:lnTo>
                  <a:cubicBezTo>
                    <a:pt x="4080916" y="2173005"/>
                    <a:pt x="4136796" y="2117124"/>
                    <a:pt x="4136796" y="2048545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rgbClr val="D86CC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D86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96cd0228a7_1_6"/>
            <p:cNvSpPr txBox="1"/>
            <p:nvPr/>
          </p:nvSpPr>
          <p:spPr>
            <a:xfrm>
              <a:off x="2848988" y="7336021"/>
              <a:ext cx="203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D86CCC"/>
                  </a:solidFill>
                  <a:latin typeface="Arial"/>
                  <a:ea typeface="Arial"/>
                  <a:cs typeface="Arial"/>
                  <a:sym typeface="Arial"/>
                </a:rPr>
                <a:t>TTM</a:t>
              </a:r>
              <a:endParaRPr b="0" i="0" sz="1333" u="none" cap="none" strike="noStrike">
                <a:solidFill>
                  <a:srgbClr val="D86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" name="Google Shape;238;g396cd0228a7_1_6"/>
          <p:cNvGrpSpPr/>
          <p:nvPr/>
        </p:nvGrpSpPr>
        <p:grpSpPr>
          <a:xfrm>
            <a:off x="420574" y="-1326962"/>
            <a:ext cx="2089082" cy="1102800"/>
            <a:chOff x="483054" y="7018830"/>
            <a:chExt cx="2089082" cy="1102800"/>
          </a:xfrm>
        </p:grpSpPr>
        <p:sp>
          <p:nvSpPr>
            <p:cNvPr id="239" name="Google Shape;239;g396cd0228a7_1_6"/>
            <p:cNvSpPr/>
            <p:nvPr/>
          </p:nvSpPr>
          <p:spPr>
            <a:xfrm>
              <a:off x="483054" y="7018830"/>
              <a:ext cx="2089082" cy="1102800"/>
            </a:xfrm>
            <a:custGeom>
              <a:rect b="b" l="l" r="r" t="t"/>
              <a:pathLst>
                <a:path extrusionOk="0" h="2173005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2048545"/>
                  </a:lnTo>
                  <a:cubicBezTo>
                    <a:pt x="4077105" y="2084105"/>
                    <a:pt x="4047896" y="2113314"/>
                    <a:pt x="4012335" y="2113314"/>
                  </a:cubicBezTo>
                  <a:lnTo>
                    <a:pt x="124460" y="2113314"/>
                  </a:lnTo>
                  <a:cubicBezTo>
                    <a:pt x="88900" y="2113314"/>
                    <a:pt x="59690" y="2084105"/>
                    <a:pt x="59690" y="204854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2048545"/>
                  </a:lnTo>
                  <a:cubicBezTo>
                    <a:pt x="0" y="2117124"/>
                    <a:pt x="55880" y="2173005"/>
                    <a:pt x="124460" y="2173005"/>
                  </a:cubicBezTo>
                  <a:lnTo>
                    <a:pt x="4012336" y="2173005"/>
                  </a:lnTo>
                  <a:cubicBezTo>
                    <a:pt x="4080916" y="2173005"/>
                    <a:pt x="4136796" y="2117124"/>
                    <a:pt x="4136796" y="2048545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43D65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D86C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396cd0228a7_1_6"/>
            <p:cNvSpPr txBox="1"/>
            <p:nvPr/>
          </p:nvSpPr>
          <p:spPr>
            <a:xfrm>
              <a:off x="505500" y="7186837"/>
              <a:ext cx="2033100" cy="8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  <a:t>Spot : </a:t>
              </a:r>
              <a:b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2400">
                  <a:solidFill>
                    <a:srgbClr val="43D658"/>
                  </a:solidFill>
                </a:rPr>
                <a:t>Feb</a:t>
              </a:r>
              <a:r>
                <a:rPr b="0" i="0" lang="en-US" sz="2400" u="none" cap="none" strike="noStrike">
                  <a:solidFill>
                    <a:srgbClr val="43D658"/>
                  </a:solidFill>
                  <a:latin typeface="Arial"/>
                  <a:ea typeface="Arial"/>
                  <a:cs typeface="Arial"/>
                  <a:sym typeface="Arial"/>
                </a:rPr>
                <a:t>. 2</a:t>
              </a:r>
              <a:r>
                <a:rPr lang="en-US" sz="2400">
                  <a:solidFill>
                    <a:srgbClr val="43D658"/>
                  </a:solidFill>
                </a:rPr>
                <a:t>6</a:t>
              </a:r>
              <a:endParaRPr b="0" i="0" sz="1333" u="none" cap="none" strike="noStrike">
                <a:solidFill>
                  <a:srgbClr val="43D65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1" name="Google Shape;241;g396cd0228a7_1_6"/>
          <p:cNvGrpSpPr/>
          <p:nvPr/>
        </p:nvGrpSpPr>
        <p:grpSpPr>
          <a:xfrm>
            <a:off x="9720262" y="359816"/>
            <a:ext cx="2079275" cy="1085954"/>
            <a:chOff x="7948630" y="6574571"/>
            <a:chExt cx="3118756" cy="1437969"/>
          </a:xfrm>
        </p:grpSpPr>
        <p:sp>
          <p:nvSpPr>
            <p:cNvPr id="242" name="Google Shape;242;g396cd0228a7_1_6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396cd0228a7_1_6"/>
            <p:cNvSpPr txBox="1"/>
            <p:nvPr/>
          </p:nvSpPr>
          <p:spPr>
            <a:xfrm>
              <a:off x="7995460" y="6851219"/>
              <a:ext cx="30447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0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(€)</a:t>
              </a:r>
              <a:endParaRPr/>
            </a:p>
          </p:txBody>
        </p:sp>
      </p:grpSp>
      <p:grpSp>
        <p:nvGrpSpPr>
          <p:cNvPr id="244" name="Google Shape;244;g396cd0228a7_1_6"/>
          <p:cNvGrpSpPr/>
          <p:nvPr/>
        </p:nvGrpSpPr>
        <p:grpSpPr>
          <a:xfrm>
            <a:off x="7380262" y="359816"/>
            <a:ext cx="2079275" cy="1085954"/>
            <a:chOff x="7948630" y="6574571"/>
            <a:chExt cx="3118756" cy="1437969"/>
          </a:xfrm>
        </p:grpSpPr>
        <p:sp>
          <p:nvSpPr>
            <p:cNvPr id="245" name="Google Shape;245;g396cd0228a7_1_6"/>
            <p:cNvSpPr/>
            <p:nvPr/>
          </p:nvSpPr>
          <p:spPr>
            <a:xfrm>
              <a:off x="7948630" y="6574571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396cd0228a7_1_6"/>
            <p:cNvSpPr txBox="1"/>
            <p:nvPr/>
          </p:nvSpPr>
          <p:spPr>
            <a:xfrm>
              <a:off x="8008526" y="6851219"/>
              <a:ext cx="3031800" cy="88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32">
                  <a:solidFill>
                    <a:srgbClr val="1F6AB4"/>
                  </a:solidFill>
                </a:rPr>
                <a:t>0</a:t>
              </a:r>
              <a:r>
                <a:rPr b="0" i="0" lang="en-US" sz="2332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%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Churn (#)</a:t>
              </a:r>
              <a:endParaRPr/>
            </a:p>
          </p:txBody>
        </p:sp>
      </p:grpSp>
      <p:grpSp>
        <p:nvGrpSpPr>
          <p:cNvPr id="247" name="Google Shape;247;g396cd0228a7_1_6"/>
          <p:cNvGrpSpPr/>
          <p:nvPr/>
        </p:nvGrpSpPr>
        <p:grpSpPr>
          <a:xfrm>
            <a:off x="2700000" y="1620000"/>
            <a:ext cx="2091600" cy="1081733"/>
            <a:chOff x="468310" y="2579854"/>
            <a:chExt cx="2091600" cy="1081733"/>
          </a:xfrm>
        </p:grpSpPr>
        <p:sp>
          <p:nvSpPr>
            <p:cNvPr id="248" name="Google Shape;248;g396cd0228a7_1_6"/>
            <p:cNvSpPr/>
            <p:nvPr/>
          </p:nvSpPr>
          <p:spPr>
            <a:xfrm>
              <a:off x="468310" y="2579854"/>
              <a:ext cx="2078740" cy="1081733"/>
            </a:xfrm>
            <a:custGeom>
              <a:rect b="b" l="l" r="r" t="t"/>
              <a:pathLst>
                <a:path extrusionOk="0" h="1825710" w="4136796">
                  <a:moveTo>
                    <a:pt x="4012335" y="59690"/>
                  </a:moveTo>
                  <a:cubicBezTo>
                    <a:pt x="4047896" y="59690"/>
                    <a:pt x="4077105" y="88900"/>
                    <a:pt x="4077105" y="124460"/>
                  </a:cubicBezTo>
                  <a:lnTo>
                    <a:pt x="4077105" y="1701250"/>
                  </a:lnTo>
                  <a:cubicBezTo>
                    <a:pt x="4077105" y="1736810"/>
                    <a:pt x="4047896" y="1766020"/>
                    <a:pt x="4012335" y="1766020"/>
                  </a:cubicBezTo>
                  <a:lnTo>
                    <a:pt x="124460" y="1766020"/>
                  </a:lnTo>
                  <a:cubicBezTo>
                    <a:pt x="88900" y="1766020"/>
                    <a:pt x="59690" y="1736810"/>
                    <a:pt x="59690" y="170125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012335" y="59690"/>
                  </a:lnTo>
                  <a:moveTo>
                    <a:pt x="401233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01250"/>
                  </a:lnTo>
                  <a:cubicBezTo>
                    <a:pt x="0" y="1769830"/>
                    <a:pt x="55880" y="1825710"/>
                    <a:pt x="124460" y="1825710"/>
                  </a:cubicBezTo>
                  <a:lnTo>
                    <a:pt x="4012336" y="1825710"/>
                  </a:lnTo>
                  <a:cubicBezTo>
                    <a:pt x="4080916" y="1825710"/>
                    <a:pt x="4136796" y="1769830"/>
                    <a:pt x="4136796" y="1701250"/>
                  </a:cubicBezTo>
                  <a:lnTo>
                    <a:pt x="4136796" y="124460"/>
                  </a:lnTo>
                  <a:cubicBezTo>
                    <a:pt x="4136796" y="55880"/>
                    <a:pt x="4080916" y="0"/>
                    <a:pt x="4012335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396cd0228a7_1_6"/>
            <p:cNvSpPr txBox="1"/>
            <p:nvPr/>
          </p:nvSpPr>
          <p:spPr>
            <a:xfrm>
              <a:off x="468310" y="2849056"/>
              <a:ext cx="2091600" cy="67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63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40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2400">
                  <a:solidFill>
                    <a:srgbClr val="1F6AB4"/>
                  </a:solidFill>
                </a:rPr>
                <a:t>K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€</a:t>
              </a:r>
              <a:endParaRPr/>
            </a:p>
            <a:p>
              <a:pPr indent="0" lvl="0" marL="0" marR="0" rtl="0" algn="ctr">
                <a:lnSpc>
                  <a:spcPct val="12003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Growth Margin</a:t>
              </a:r>
              <a:endParaRPr/>
            </a:p>
          </p:txBody>
        </p:sp>
      </p:grpSp>
      <p:grpSp>
        <p:nvGrpSpPr>
          <p:cNvPr id="250" name="Google Shape;250;g396cd0228a7_1_6"/>
          <p:cNvGrpSpPr/>
          <p:nvPr/>
        </p:nvGrpSpPr>
        <p:grpSpPr>
          <a:xfrm>
            <a:off x="2700148" y="359826"/>
            <a:ext cx="2085299" cy="1104726"/>
            <a:chOff x="4500188" y="6590579"/>
            <a:chExt cx="3127792" cy="1449772"/>
          </a:xfrm>
        </p:grpSpPr>
        <p:sp>
          <p:nvSpPr>
            <p:cNvPr id="251" name="Google Shape;251;g396cd0228a7_1_6"/>
            <p:cNvSpPr/>
            <p:nvPr/>
          </p:nvSpPr>
          <p:spPr>
            <a:xfrm>
              <a:off x="4500188" y="6590579"/>
              <a:ext cx="3117909" cy="1449772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g396cd0228a7_1_6"/>
            <p:cNvSpPr txBox="1"/>
            <p:nvPr/>
          </p:nvSpPr>
          <p:spPr>
            <a:xfrm>
              <a:off x="4514580" y="6877055"/>
              <a:ext cx="3113400" cy="9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F6AB4"/>
                  </a:solidFill>
                </a:rPr>
                <a:t>2</a:t>
              </a: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K€</a:t>
              </a:r>
              <a:endParaRPr/>
            </a:p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 New &amp; upsell MRR</a:t>
              </a:r>
              <a:endParaRPr/>
            </a:p>
          </p:txBody>
        </p:sp>
      </p:grpSp>
      <p:grpSp>
        <p:nvGrpSpPr>
          <p:cNvPr id="253" name="Google Shape;253;g396cd0228a7_1_6"/>
          <p:cNvGrpSpPr/>
          <p:nvPr/>
        </p:nvGrpSpPr>
        <p:grpSpPr>
          <a:xfrm>
            <a:off x="2680964" y="5400000"/>
            <a:ext cx="2075394" cy="1105271"/>
            <a:chOff x="421874" y="1361908"/>
            <a:chExt cx="2097841" cy="1105271"/>
          </a:xfrm>
        </p:grpSpPr>
        <p:sp>
          <p:nvSpPr>
            <p:cNvPr id="254" name="Google Shape;254;g396cd0228a7_1_6"/>
            <p:cNvSpPr/>
            <p:nvPr/>
          </p:nvSpPr>
          <p:spPr>
            <a:xfrm>
              <a:off x="454571" y="1361908"/>
              <a:ext cx="2065144" cy="1105271"/>
            </a:xfrm>
            <a:custGeom>
              <a:rect b="b" l="l" r="r" t="t"/>
              <a:pathLst>
                <a:path extrusionOk="0" h="1913890" w="3591555">
                  <a:moveTo>
                    <a:pt x="3467095" y="59690"/>
                  </a:moveTo>
                  <a:cubicBezTo>
                    <a:pt x="3502654" y="59690"/>
                    <a:pt x="3531865" y="88900"/>
                    <a:pt x="3531865" y="124460"/>
                  </a:cubicBezTo>
                  <a:lnTo>
                    <a:pt x="3531865" y="1789430"/>
                  </a:lnTo>
                  <a:cubicBezTo>
                    <a:pt x="3531865" y="1824990"/>
                    <a:pt x="3502654" y="1854200"/>
                    <a:pt x="3467095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467095" y="59690"/>
                  </a:lnTo>
                  <a:moveTo>
                    <a:pt x="346709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3467095" y="1913890"/>
                  </a:lnTo>
                  <a:cubicBezTo>
                    <a:pt x="3535674" y="1913890"/>
                    <a:pt x="3591555" y="1858010"/>
                    <a:pt x="3591555" y="1789430"/>
                  </a:cubicBezTo>
                  <a:lnTo>
                    <a:pt x="3591555" y="124460"/>
                  </a:lnTo>
                  <a:cubicBezTo>
                    <a:pt x="3591554" y="55880"/>
                    <a:pt x="3535674" y="0"/>
                    <a:pt x="3467095" y="0"/>
                  </a:cubicBezTo>
                  <a:close/>
                </a:path>
              </a:pathLst>
            </a:custGeom>
            <a:solidFill>
              <a:schemeClr val="accent6"/>
            </a:solidFill>
            <a:ln cap="flat" cmpd="sng" w="9525">
              <a:solidFill>
                <a:srgbClr val="92D05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96cd0228a7_1_6"/>
            <p:cNvSpPr txBox="1"/>
            <p:nvPr/>
          </p:nvSpPr>
          <p:spPr>
            <a:xfrm>
              <a:off x="421874" y="1567285"/>
              <a:ext cx="2038200" cy="68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b="0" i="0" sz="1200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NPS</a:t>
              </a:r>
              <a:endParaRPr/>
            </a:p>
          </p:txBody>
        </p:sp>
      </p:grpSp>
      <p:grpSp>
        <p:nvGrpSpPr>
          <p:cNvPr id="256" name="Google Shape;256;g396cd0228a7_1_6"/>
          <p:cNvGrpSpPr/>
          <p:nvPr/>
        </p:nvGrpSpPr>
        <p:grpSpPr>
          <a:xfrm>
            <a:off x="5101068" y="-1341144"/>
            <a:ext cx="2078606" cy="1100487"/>
            <a:chOff x="477553" y="3877741"/>
            <a:chExt cx="2078606" cy="1100487"/>
          </a:xfrm>
        </p:grpSpPr>
        <p:sp>
          <p:nvSpPr>
            <p:cNvPr id="257" name="Google Shape;257;g396cd0228a7_1_6"/>
            <p:cNvSpPr/>
            <p:nvPr/>
          </p:nvSpPr>
          <p:spPr>
            <a:xfrm>
              <a:off x="477553" y="3877741"/>
              <a:ext cx="2078606" cy="1100487"/>
            </a:xfrm>
            <a:custGeom>
              <a:rect b="b" l="l" r="r" t="t"/>
              <a:pathLst>
                <a:path extrusionOk="0" h="1913890" w="4619124">
                  <a:moveTo>
                    <a:pt x="4494664" y="59690"/>
                  </a:moveTo>
                  <a:cubicBezTo>
                    <a:pt x="4530224" y="59690"/>
                    <a:pt x="4559434" y="88900"/>
                    <a:pt x="4559434" y="124460"/>
                  </a:cubicBezTo>
                  <a:lnTo>
                    <a:pt x="4559434" y="1789430"/>
                  </a:lnTo>
                  <a:cubicBezTo>
                    <a:pt x="4559434" y="1824990"/>
                    <a:pt x="4530224" y="1854200"/>
                    <a:pt x="4494664" y="1854200"/>
                  </a:cubicBezTo>
                  <a:lnTo>
                    <a:pt x="124460" y="1854200"/>
                  </a:lnTo>
                  <a:cubicBezTo>
                    <a:pt x="88900" y="1854200"/>
                    <a:pt x="59690" y="1824990"/>
                    <a:pt x="59690" y="1789430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494664" y="59690"/>
                  </a:lnTo>
                  <a:moveTo>
                    <a:pt x="449466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789430"/>
                  </a:lnTo>
                  <a:cubicBezTo>
                    <a:pt x="0" y="1858010"/>
                    <a:pt x="55880" y="1913890"/>
                    <a:pt x="124460" y="1913890"/>
                  </a:cubicBezTo>
                  <a:lnTo>
                    <a:pt x="4494664" y="1913890"/>
                  </a:lnTo>
                  <a:cubicBezTo>
                    <a:pt x="4563244" y="1913890"/>
                    <a:pt x="4619124" y="1858010"/>
                    <a:pt x="4619124" y="1789430"/>
                  </a:cubicBezTo>
                  <a:lnTo>
                    <a:pt x="4619124" y="124460"/>
                  </a:lnTo>
                  <a:cubicBezTo>
                    <a:pt x="4619124" y="55880"/>
                    <a:pt x="4563244" y="0"/>
                    <a:pt x="4494664" y="0"/>
                  </a:cubicBezTo>
                  <a:close/>
                </a:path>
              </a:pathLst>
            </a:custGeom>
            <a:solidFill>
              <a:srgbClr val="1F6AB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g396cd0228a7_1_6"/>
            <p:cNvSpPr txBox="1"/>
            <p:nvPr/>
          </p:nvSpPr>
          <p:spPr>
            <a:xfrm>
              <a:off x="491066" y="4094113"/>
              <a:ext cx="2033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400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YTD</a:t>
              </a:r>
              <a:endParaRPr b="0" i="0" sz="1333" u="none" cap="none" strike="noStrike">
                <a:solidFill>
                  <a:srgbClr val="1F6AB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9" name="Google Shape;259;g396cd0228a7_1_6"/>
          <p:cNvGrpSpPr/>
          <p:nvPr/>
        </p:nvGrpSpPr>
        <p:grpSpPr>
          <a:xfrm>
            <a:off x="9720381" y="2879827"/>
            <a:ext cx="2079275" cy="1095445"/>
            <a:chOff x="11403021" y="6587658"/>
            <a:chExt cx="3118756" cy="1437969"/>
          </a:xfrm>
        </p:grpSpPr>
        <p:sp>
          <p:nvSpPr>
            <p:cNvPr id="260" name="Google Shape;260;g396cd0228a7_1_6"/>
            <p:cNvSpPr/>
            <p:nvPr/>
          </p:nvSpPr>
          <p:spPr>
            <a:xfrm>
              <a:off x="11403021" y="6587658"/>
              <a:ext cx="3118756" cy="1437969"/>
            </a:xfrm>
            <a:custGeom>
              <a:rect b="b" l="l" r="r" t="t"/>
              <a:pathLst>
                <a:path extrusionOk="0" h="1969821" w="4257688">
                  <a:moveTo>
                    <a:pt x="4133228" y="59690"/>
                  </a:moveTo>
                  <a:cubicBezTo>
                    <a:pt x="4168788" y="59690"/>
                    <a:pt x="4197998" y="88900"/>
                    <a:pt x="4197998" y="124460"/>
                  </a:cubicBezTo>
                  <a:lnTo>
                    <a:pt x="4197998" y="1845361"/>
                  </a:lnTo>
                  <a:cubicBezTo>
                    <a:pt x="4197998" y="1880921"/>
                    <a:pt x="4168788" y="1910131"/>
                    <a:pt x="4133228" y="1910131"/>
                  </a:cubicBezTo>
                  <a:lnTo>
                    <a:pt x="124460" y="1910131"/>
                  </a:lnTo>
                  <a:cubicBezTo>
                    <a:pt x="88900" y="1910131"/>
                    <a:pt x="59690" y="1880921"/>
                    <a:pt x="59690" y="1845361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4133228" y="59690"/>
                  </a:lnTo>
                  <a:moveTo>
                    <a:pt x="413322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45361"/>
                  </a:lnTo>
                  <a:cubicBezTo>
                    <a:pt x="0" y="1913941"/>
                    <a:pt x="55880" y="1969821"/>
                    <a:pt x="124460" y="1969821"/>
                  </a:cubicBezTo>
                  <a:lnTo>
                    <a:pt x="4133228" y="1969821"/>
                  </a:lnTo>
                  <a:cubicBezTo>
                    <a:pt x="4201808" y="1969821"/>
                    <a:pt x="4257688" y="1913941"/>
                    <a:pt x="4257688" y="1845361"/>
                  </a:cubicBezTo>
                  <a:lnTo>
                    <a:pt x="4257688" y="124460"/>
                  </a:lnTo>
                  <a:cubicBezTo>
                    <a:pt x="4257688" y="55880"/>
                    <a:pt x="4201808" y="0"/>
                    <a:pt x="4133228" y="0"/>
                  </a:cubicBezTo>
                  <a:close/>
                </a:path>
              </a:pathLst>
            </a:custGeom>
            <a:solidFill>
              <a:srgbClr val="FF00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3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g396cd0228a7_1_6"/>
            <p:cNvSpPr txBox="1"/>
            <p:nvPr/>
          </p:nvSpPr>
          <p:spPr>
            <a:xfrm>
              <a:off x="11451501" y="6870159"/>
              <a:ext cx="3049800" cy="89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462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33">
                  <a:solidFill>
                    <a:srgbClr val="0070C0"/>
                  </a:solidFill>
                </a:rPr>
                <a:t>N/A</a:t>
              </a:r>
              <a:endParaRPr/>
            </a:p>
            <a:p>
              <a:pPr indent="0" lvl="0" marL="0" marR="0" rtl="0" algn="ctr">
                <a:lnSpc>
                  <a:spcPct val="13653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33" u="none" cap="none" strike="noStrike">
                  <a:solidFill>
                    <a:srgbClr val="1F6AB4"/>
                  </a:solidFill>
                  <a:latin typeface="Arial"/>
                  <a:ea typeface="Arial"/>
                  <a:cs typeface="Arial"/>
                  <a:sym typeface="Arial"/>
                </a:rPr>
                <a:t>Rule of 40</a:t>
              </a:r>
              <a:endParaRPr/>
            </a:p>
          </p:txBody>
        </p:sp>
      </p:grpSp>
      <p:sp>
        <p:nvSpPr>
          <p:cNvPr id="262" name="Google Shape;262;g396cd0228a7_1_6"/>
          <p:cNvSpPr/>
          <p:nvPr/>
        </p:nvSpPr>
        <p:spPr>
          <a:xfrm>
            <a:off x="3642300" y="2571"/>
            <a:ext cx="4907400" cy="246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MARS</a:t>
            </a:r>
            <a:endParaRPr b="1"/>
          </a:p>
        </p:txBody>
      </p:sp>
      <p:sp>
        <p:nvSpPr>
          <p:cNvPr id="263" name="Google Shape;263;g396cd0228a7_1_6"/>
          <p:cNvSpPr/>
          <p:nvPr/>
        </p:nvSpPr>
        <p:spPr>
          <a:xfrm rot="10800000">
            <a:off x="4317825" y="4351225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96cd0228a7_1_6"/>
          <p:cNvSpPr/>
          <p:nvPr/>
        </p:nvSpPr>
        <p:spPr>
          <a:xfrm rot="10800000">
            <a:off x="4101700" y="5565150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96cd0228a7_1_6"/>
          <p:cNvSpPr/>
          <p:nvPr/>
        </p:nvSpPr>
        <p:spPr>
          <a:xfrm rot="10800000">
            <a:off x="2022925" y="4662375"/>
            <a:ext cx="1443000" cy="61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d4034d1734_0_0"/>
          <p:cNvSpPr txBox="1"/>
          <p:nvPr>
            <p:ph idx="1" type="body"/>
          </p:nvPr>
        </p:nvSpPr>
        <p:spPr>
          <a:xfrm>
            <a:off x="838200" y="1174050"/>
            <a:ext cx="10515600" cy="50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MRR → 15k€ (MRT 154k€ + Dilon 25k€)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Growth margin -&gt; 13k€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Growth Margin/Revenue → 90%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EBITDA → -490k€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Revenue → 30k€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Cash → 4M€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Dette → 135+350+420 → 0,9M€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Rule of 40 : KPI peu pertinent à ce stade (revenus trop faibles), le ratio est mécaniquement “cassé” par le dénominateur (-490k)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Booking : la valeur des contrats signés dans l'année ?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Backlog : CA signé restant à reconnaître ?</a:t>
            </a:r>
            <a:br>
              <a:rPr b="1" lang="en-US" sz="1300">
                <a:solidFill>
                  <a:srgbClr val="FF0000"/>
                </a:solidFill>
              </a:rPr>
            </a:br>
            <a:r>
              <a:rPr b="1" lang="en-US" sz="1300">
                <a:solidFill>
                  <a:srgbClr val="FF0000"/>
                </a:solidFill>
              </a:rPr>
              <a:t>NPS (Net Promoter Score) : est-ce que tu as cette donnée ?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2" name="Google Shape;272;g3d4034d1734_0_0"/>
          <p:cNvSpPr txBox="1"/>
          <p:nvPr>
            <p:ph idx="1" type="body"/>
          </p:nvPr>
        </p:nvSpPr>
        <p:spPr>
          <a:xfrm>
            <a:off x="977375" y="354300"/>
            <a:ext cx="10515600" cy="7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 février 2026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6cd0228a7_1_96"/>
          <p:cNvSpPr txBox="1"/>
          <p:nvPr>
            <p:ph idx="1" type="body"/>
          </p:nvPr>
        </p:nvSpPr>
        <p:spPr>
          <a:xfrm>
            <a:off x="838200" y="1174050"/>
            <a:ext cx="10515600" cy="50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MRR → 15k€ (MRT 154k€ + Dilon 25k€)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Growth margin -&gt; 13k€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Growth Margin/Revenue → 90%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EBITDA → -695k€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Revenue → 45k€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Cash → 3,4M€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Dette → 135+420+933 → 1,5M€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CAC → pas de nouveaux clients donc pas calculable, j’ai donc mis uniquement les dépenses 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Rule of 40 : KPI peu pertinent à ce stade (revenus trop faibles), le ratio est mécaniquement “cassé” par le dénominateur (-490k)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Booking : la valeur des contrats signés dans l'année ?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0000"/>
                </a:solidFill>
              </a:rPr>
              <a:t>Backlog : CA signé restant à reconnaître ?</a:t>
            </a:r>
            <a:br>
              <a:rPr b="1" lang="en-US" sz="1300">
                <a:solidFill>
                  <a:srgbClr val="FF0000"/>
                </a:solidFill>
              </a:rPr>
            </a:br>
            <a:r>
              <a:rPr b="1" lang="en-US" sz="1300">
                <a:solidFill>
                  <a:srgbClr val="FF0000"/>
                </a:solidFill>
              </a:rPr>
              <a:t>NPS (Net Promoter Score) : est-ce que tu as cette donnée ? </a:t>
            </a:r>
            <a:endParaRPr b="1" sz="13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79" name="Google Shape;279;g396cd0228a7_1_96"/>
          <p:cNvSpPr txBox="1"/>
          <p:nvPr>
            <p:ph idx="1" type="body"/>
          </p:nvPr>
        </p:nvSpPr>
        <p:spPr>
          <a:xfrm>
            <a:off x="977375" y="354300"/>
            <a:ext cx="10515600" cy="7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A mars 2026</a:t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4034d1734_0_7"/>
          <p:cNvSpPr txBox="1"/>
          <p:nvPr>
            <p:ph idx="1" type="body"/>
          </p:nvPr>
        </p:nvSpPr>
        <p:spPr>
          <a:xfrm>
            <a:off x="838200" y="1174050"/>
            <a:ext cx="10515600" cy="500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300"/>
              <a:t>Immobilisation</a:t>
            </a:r>
            <a:endParaRPr b="1"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/>
              <a:t>Sur 5 ans : 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95% de l’IT (salaires et prestataires RH)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30% du salaire de Romain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/>
              <a:t>Sur 3 ans  :</a:t>
            </a:r>
            <a:endParaRPr sz="1300"/>
          </a:p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SzPts val="1300"/>
              <a:buChar char="-"/>
            </a:pPr>
            <a:r>
              <a:rPr lang="en-US" sz="1300"/>
              <a:t>Frais de levée de fonds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/>
              <a:t>Report à nouveau à mettre sur prime d’emission, afin d’augmenter le résultat de la société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/>
              <a:t>→ risque de Control fiscal si on fait cela sur les comptes historiques (2024 et 2023)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300"/>
              <a:t>→ Partir sur des bases saines dès 2025 ? </a:t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286" name="Google Shape;286;g3d4034d1734_0_7"/>
          <p:cNvSpPr txBox="1"/>
          <p:nvPr>
            <p:ph idx="1" type="body"/>
          </p:nvPr>
        </p:nvSpPr>
        <p:spPr>
          <a:xfrm>
            <a:off x="977375" y="354300"/>
            <a:ext cx="10515600" cy="760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Compta (à </a:t>
            </a:r>
            <a:r>
              <a:rPr lang="en-US" sz="2400"/>
              <a:t>aborder</a:t>
            </a:r>
            <a:r>
              <a:rPr lang="en-US" sz="2400"/>
              <a:t> en CA)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2025-11-20T13:52:28Z</dcterms:created>
  <dc:creator>Maximilien OURSEL</dc:creator>
</cp:coreProperties>
</file>