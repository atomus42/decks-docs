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interne : Contrairement au dossier, nous utilisons actuellement des modèles OpenAI pour la summarization et les rapports. Ce point doit être clarifié avant la présentation.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Gap documenté : une stratégie formalisée et unifiée de correction des biais pour le World Model (WP6) n'est pas encore spécifiée dans le dossier — c'est un point ouvert identifié.</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interne — Certaines affirmations ne reflètent pas la réalité actuelle, notamment : existence des modèles WP6, les performances modèles décrites, et le monitoring infrastructure. Ces éléments sont des objectifs, pas l'état actuel. Le présentateur doit parler au futur et ne pas affirmer que ces capacités existent déjà.</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interne — Aucun de ces éléments ne reflète la réalité actuelle. Ce sont des capacités planifiées et des objectifs d'architecture. Le présentateur doit formuler ces points comme la cible de déploiement, pas comme l'état existant.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1734"/>
        </a:solidFill>
        <a:effectLst/>
      </p:bgPr>
    </p:bg>
    <p:spTree>
      <p:nvGrpSpPr>
        <p:cNvPr id="1" name=""/>
        <p:cNvGrpSpPr/>
        <p:nvPr/>
      </p:nvGrpSpPr>
      <p:grpSpPr/>
      <p:sp>
        <p:nvSpPr>
          <p:cNvPr id="2" name="TextBox 1"/>
          <p:cNvSpPr txBox="1"/>
          <p:nvPr/>
        </p:nvSpPr>
        <p:spPr>
          <a:xfrm>
            <a:off x="1371600" y="1645920"/>
            <a:ext cx="9418320" cy="2286000"/>
          </a:xfrm>
          <a:prstGeom prst="rect">
            <a:avLst/>
          </a:prstGeom>
          <a:noFill/>
        </p:spPr>
        <p:txBody>
          <a:bodyPr wrap="square">
            <a:spAutoFit/>
          </a:bodyPr>
          <a:lstStyle/>
          <a:p>
            <a:pPr algn="ctr"/>
            <a:r>
              <a:rPr sz="3600" b="1">
                <a:solidFill>
                  <a:srgbClr val="FFFFFF"/>
                </a:solidFill>
              </a:rPr>
              <a:t>I-demo — Réponses aux questions
du comité d'évaluation</a:t>
            </a:r>
          </a:p>
          <a:p>
            <a:pPr algn="ctr">
              <a:spcBef>
                <a:spcPts val="1600"/>
              </a:spcBef>
            </a:pPr>
            <a:r>
              <a:rPr sz="2800" b="0">
                <a:solidFill>
                  <a:srgbClr val="3ACFFF"/>
                </a:solidFill>
              </a:rPr>
              <a:t>BR-PREDICT / ArcaScience</a:t>
            </a:r>
          </a:p>
        </p:txBody>
      </p:sp>
      <p:sp>
        <p:nvSpPr>
          <p:cNvPr id="3" name="TextBox 2"/>
          <p:cNvSpPr txBox="1"/>
          <p:nvPr/>
        </p:nvSpPr>
        <p:spPr>
          <a:xfrm>
            <a:off x="3200400" y="4389120"/>
            <a:ext cx="5760720" cy="914400"/>
          </a:xfrm>
          <a:prstGeom prst="rect">
            <a:avLst/>
          </a:prstGeom>
          <a:noFill/>
        </p:spPr>
        <p:txBody>
          <a:bodyPr wrap="square">
            <a:spAutoFit/>
          </a:bodyPr>
          <a:lstStyle/>
          <a:p>
            <a:pPr algn="ctr"/>
            <a:r>
              <a:rPr sz="1600">
                <a:solidFill>
                  <a:srgbClr val="F1B457"/>
                </a:solidFill>
              </a:rPr>
              <a:t>Avril 2026 — Confidentiel</a:t>
            </a:r>
          </a:p>
        </p:txBody>
      </p:sp>
      <p:sp>
        <p:nvSpPr>
          <p:cNvPr id="4" name="Rectangle 3"/>
          <p:cNvSpPr/>
          <p:nvPr/>
        </p:nvSpPr>
        <p:spPr>
          <a:xfrm>
            <a:off x="4114800" y="4114800"/>
            <a:ext cx="3931920" cy="36576"/>
          </a:xfrm>
          <a:prstGeom prst="rect">
            <a:avLst/>
          </a:prstGeom>
          <a:solidFill>
            <a:srgbClr val="3AC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header.png"/>
          <p:cNvPicPr>
            <a:picLocks noChangeAspect="1"/>
          </p:cNvPicPr>
          <p:nvPr/>
        </p:nvPicPr>
        <p:blipFill>
          <a:blip r:embed="rId2"/>
          <a:stretch>
            <a:fillRect/>
          </a:stretch>
        </p:blipFill>
        <p:spPr>
          <a:xfrm>
            <a:off x="10637215" y="137160"/>
            <a:ext cx="1371600" cy="384048"/>
          </a:xfrm>
          <a:prstGeom prst="rect">
            <a:avLst/>
          </a:prstGeom>
        </p:spPr>
      </p:pic>
      <p:sp>
        <p:nvSpPr>
          <p:cNvPr id="6" name="Rectangle 5"/>
          <p:cNvSpPr/>
          <p:nvPr/>
        </p:nvSpPr>
        <p:spPr>
          <a:xfrm>
            <a:off x="0" y="6446520"/>
            <a:ext cx="12191695" cy="411480"/>
          </a:xfrm>
          <a:prstGeom prst="rect">
            <a:avLst/>
          </a:prstGeom>
          <a:solidFill>
            <a:srgbClr val="0317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999999"/>
                </a:solidFill>
              </a:defRPr>
            </a:pPr>
            <a:r>
              <a:t>ArcaScience — I-demo Q&amp;A — Confidentiel — Avril 2026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7772400" cy="594360"/>
          </a:xfrm>
          <a:prstGeom prst="rect">
            <a:avLst/>
          </a:prstGeom>
          <a:noFill/>
        </p:spPr>
        <p:txBody>
          <a:bodyPr wrap="square">
            <a:spAutoFit/>
          </a:bodyPr>
          <a:lstStyle/>
          <a:p>
            <a:r>
              <a:rPr sz="2200" b="1">
                <a:solidFill>
                  <a:srgbClr val="031734"/>
                </a:solidFill>
              </a:rPr>
              <a:t>Agenda — Thématiques abordées</a:t>
            </a:r>
          </a:p>
        </p:txBody>
      </p:sp>
      <p:pic>
        <p:nvPicPr>
          <p:cNvPr id="3" name="Picture 2" descr="logo_header.png"/>
          <p:cNvPicPr>
            <a:picLocks noChangeAspect="1"/>
          </p:cNvPicPr>
          <p:nvPr/>
        </p:nvPicPr>
        <p:blipFill>
          <a:blip r:embed="rId2"/>
          <a:stretch>
            <a:fillRect/>
          </a:stretch>
        </p:blipFill>
        <p:spPr>
          <a:xfrm>
            <a:off x="10637215" y="137160"/>
            <a:ext cx="1371600" cy="384048"/>
          </a:xfrm>
          <a:prstGeom prst="rect">
            <a:avLst/>
          </a:prstGeom>
        </p:spPr>
      </p:pic>
      <p:sp>
        <p:nvSpPr>
          <p:cNvPr id="4" name="Rectangle 3"/>
          <p:cNvSpPr/>
          <p:nvPr/>
        </p:nvSpPr>
        <p:spPr>
          <a:xfrm>
            <a:off x="0" y="6446520"/>
            <a:ext cx="12191695" cy="411480"/>
          </a:xfrm>
          <a:prstGeom prst="rect">
            <a:avLst/>
          </a:prstGeom>
          <a:solidFill>
            <a:srgbClr val="0317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999999"/>
                </a:solidFill>
              </a:defRPr>
            </a:pPr>
            <a:r>
              <a:t>ArcaScience — I-demo Q&amp;A — Confidentiel — Avril 2026          2</a:t>
            </a:r>
          </a:p>
        </p:txBody>
      </p:sp>
      <p:sp>
        <p:nvSpPr>
          <p:cNvPr id="5" name="Rounded Rectangle 4"/>
          <p:cNvSpPr/>
          <p:nvPr/>
        </p:nvSpPr>
        <p:spPr>
          <a:xfrm>
            <a:off x="914400" y="1005840"/>
            <a:ext cx="10332720" cy="502920"/>
          </a:xfrm>
          <a:prstGeom prst="roundRect">
            <a:avLst/>
          </a:prstGeom>
          <a:solidFill>
            <a:srgbClr val="E5EBF8"/>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sz="1600" b="1">
                <a:solidFill>
                  <a:srgbClr val="031734"/>
                </a:solidFill>
              </a:rPr>
              <a:t>1.  Infrastructure &amp; Ressources</a:t>
            </a:r>
            <a:r>
              <a:rPr sz="1200">
                <a:solidFill>
                  <a:srgbClr val="1973C2"/>
                </a:solidFill>
              </a:rPr>
              <a:t>          Q1</a:t>
            </a:r>
          </a:p>
        </p:txBody>
      </p:sp>
      <p:sp>
        <p:nvSpPr>
          <p:cNvPr id="6" name="Rounded Rectangle 5"/>
          <p:cNvSpPr/>
          <p:nvPr/>
        </p:nvSpPr>
        <p:spPr>
          <a:xfrm>
            <a:off x="914400" y="1600200"/>
            <a:ext cx="10332720" cy="502920"/>
          </a:xfrm>
          <a:prstGeom prst="roundRect">
            <a:avLst/>
          </a:prstGeom>
          <a:solidFill>
            <a:srgbClr val="E5EBF8"/>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sz="1600" b="1">
                <a:solidFill>
                  <a:srgbClr val="031734"/>
                </a:solidFill>
              </a:rPr>
              <a:t>2.  RH &amp; Dissémination scientifique</a:t>
            </a:r>
            <a:r>
              <a:rPr sz="1200">
                <a:solidFill>
                  <a:srgbClr val="1973C2"/>
                </a:solidFill>
              </a:rPr>
              <a:t>          Q2–Q3</a:t>
            </a:r>
          </a:p>
        </p:txBody>
      </p:sp>
      <p:sp>
        <p:nvSpPr>
          <p:cNvPr id="7" name="Rounded Rectangle 6"/>
          <p:cNvSpPr/>
          <p:nvPr/>
        </p:nvSpPr>
        <p:spPr>
          <a:xfrm>
            <a:off x="914400" y="2194560"/>
            <a:ext cx="10332720" cy="502920"/>
          </a:xfrm>
          <a:prstGeom prst="roundRect">
            <a:avLst/>
          </a:prstGeom>
          <a:solidFill>
            <a:srgbClr val="E5EBF8"/>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sz="1600" b="1">
                <a:solidFill>
                  <a:srgbClr val="031734"/>
                </a:solidFill>
              </a:rPr>
              <a:t>3.  LLM &amp; Explicabilité</a:t>
            </a:r>
            <a:r>
              <a:rPr sz="1200">
                <a:solidFill>
                  <a:srgbClr val="1973C2"/>
                </a:solidFill>
              </a:rPr>
              <a:t>          Q4–Q5</a:t>
            </a:r>
          </a:p>
        </p:txBody>
      </p:sp>
      <p:sp>
        <p:nvSpPr>
          <p:cNvPr id="8" name="Rounded Rectangle 7"/>
          <p:cNvSpPr/>
          <p:nvPr/>
        </p:nvSpPr>
        <p:spPr>
          <a:xfrm>
            <a:off x="914400" y="2788920"/>
            <a:ext cx="10332720" cy="502920"/>
          </a:xfrm>
          <a:prstGeom prst="roundRect">
            <a:avLst/>
          </a:prstGeom>
          <a:solidFill>
            <a:srgbClr val="E5EBF8"/>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sz="1600" b="1">
                <a:solidFill>
                  <a:srgbClr val="031734"/>
                </a:solidFill>
              </a:rPr>
              <a:t>4.  Trustworthy AI &amp; Biais</a:t>
            </a:r>
            <a:r>
              <a:rPr sz="1200">
                <a:solidFill>
                  <a:srgbClr val="1973C2"/>
                </a:solidFill>
              </a:rPr>
              <a:t>          Q6–Q7</a:t>
            </a:r>
          </a:p>
        </p:txBody>
      </p:sp>
      <p:sp>
        <p:nvSpPr>
          <p:cNvPr id="9" name="Rounded Rectangle 8"/>
          <p:cNvSpPr/>
          <p:nvPr/>
        </p:nvSpPr>
        <p:spPr>
          <a:xfrm>
            <a:off x="914400" y="3383280"/>
            <a:ext cx="10332720" cy="502920"/>
          </a:xfrm>
          <a:prstGeom prst="roundRect">
            <a:avLst/>
          </a:prstGeom>
          <a:solidFill>
            <a:srgbClr val="E5EBF8"/>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sz="1600" b="1">
                <a:solidFill>
                  <a:srgbClr val="031734"/>
                </a:solidFill>
              </a:rPr>
              <a:t>5.  Validation &amp; Golden Standard</a:t>
            </a:r>
            <a:r>
              <a:rPr sz="1200">
                <a:solidFill>
                  <a:srgbClr val="1973C2"/>
                </a:solidFill>
              </a:rPr>
              <a:t>          Q8–Q10</a:t>
            </a:r>
          </a:p>
        </p:txBody>
      </p:sp>
      <p:sp>
        <p:nvSpPr>
          <p:cNvPr id="10" name="Rounded Rectangle 9"/>
          <p:cNvSpPr/>
          <p:nvPr/>
        </p:nvSpPr>
        <p:spPr>
          <a:xfrm>
            <a:off x="914400" y="3977640"/>
            <a:ext cx="10332720" cy="502920"/>
          </a:xfrm>
          <a:prstGeom prst="roundRect">
            <a:avLst/>
          </a:prstGeom>
          <a:solidFill>
            <a:srgbClr val="E5EBF8"/>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sz="1600" b="1">
                <a:solidFill>
                  <a:srgbClr val="031734"/>
                </a:solidFill>
              </a:rPr>
              <a:t>6.  Monitoring &amp; Déploiement on-premise</a:t>
            </a:r>
            <a:r>
              <a:rPr sz="1200">
                <a:solidFill>
                  <a:srgbClr val="1973C2"/>
                </a:solidFill>
              </a:rPr>
              <a:t>          Q11–Q12</a:t>
            </a:r>
          </a:p>
        </p:txBody>
      </p:sp>
      <p:sp>
        <p:nvSpPr>
          <p:cNvPr id="11" name="Rounded Rectangle 10"/>
          <p:cNvSpPr/>
          <p:nvPr/>
        </p:nvSpPr>
        <p:spPr>
          <a:xfrm>
            <a:off x="914400" y="4572000"/>
            <a:ext cx="10332720" cy="502920"/>
          </a:xfrm>
          <a:prstGeom prst="roundRect">
            <a:avLst/>
          </a:prstGeom>
          <a:solidFill>
            <a:srgbClr val="E5EBF8"/>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sz="1600" b="1">
                <a:solidFill>
                  <a:srgbClr val="031734"/>
                </a:solidFill>
              </a:rPr>
              <a:t>7.  Sous-traitance &amp; PI</a:t>
            </a:r>
            <a:r>
              <a:rPr sz="1200">
                <a:solidFill>
                  <a:srgbClr val="1973C2"/>
                </a:solidFill>
              </a:rPr>
              <a:t>          Q13–Q16</a:t>
            </a:r>
          </a:p>
        </p:txBody>
      </p:sp>
      <p:sp>
        <p:nvSpPr>
          <p:cNvPr id="12" name="Rounded Rectangle 11"/>
          <p:cNvSpPr/>
          <p:nvPr/>
        </p:nvSpPr>
        <p:spPr>
          <a:xfrm>
            <a:off x="914400" y="5166360"/>
            <a:ext cx="10332720" cy="502920"/>
          </a:xfrm>
          <a:prstGeom prst="roundRect">
            <a:avLst/>
          </a:prstGeom>
          <a:solidFill>
            <a:srgbClr val="E5EBF8"/>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sz="1600" b="1">
                <a:solidFill>
                  <a:srgbClr val="031734"/>
                </a:solidFill>
              </a:rPr>
              <a:t>8.  Structure capitalistique &amp; Financement</a:t>
            </a:r>
            <a:r>
              <a:rPr sz="1200">
                <a:solidFill>
                  <a:srgbClr val="1973C2"/>
                </a:solidFill>
              </a:rPr>
              <a:t>          Q20–Q23</a:t>
            </a:r>
          </a:p>
        </p:txBody>
      </p:sp>
      <p:sp>
        <p:nvSpPr>
          <p:cNvPr id="13" name="Rounded Rectangle 12"/>
          <p:cNvSpPr/>
          <p:nvPr/>
        </p:nvSpPr>
        <p:spPr>
          <a:xfrm>
            <a:off x="914400" y="5760720"/>
            <a:ext cx="10332720" cy="502920"/>
          </a:xfrm>
          <a:prstGeom prst="roundRect">
            <a:avLst/>
          </a:prstGeom>
          <a:solidFill>
            <a:srgbClr val="E5EBF8"/>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sz="1600" b="1">
                <a:solidFill>
                  <a:srgbClr val="031734"/>
                </a:solidFill>
              </a:rPr>
              <a:t>9.  Modèle économique &amp; Positionnement</a:t>
            </a:r>
            <a:r>
              <a:rPr sz="1200">
                <a:solidFill>
                  <a:srgbClr val="1973C2"/>
                </a:solidFill>
              </a:rPr>
              <a:t>          Q24–Q30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7772400" cy="594360"/>
          </a:xfrm>
          <a:prstGeom prst="rect">
            <a:avLst/>
          </a:prstGeom>
          <a:noFill/>
        </p:spPr>
        <p:txBody>
          <a:bodyPr wrap="square">
            <a:spAutoFit/>
          </a:bodyPr>
          <a:lstStyle/>
          <a:p>
            <a:r>
              <a:rPr sz="2200" b="1">
                <a:solidFill>
                  <a:srgbClr val="031734"/>
                </a:solidFill>
              </a:rPr>
              <a:t>Q1 — Capacités de stockage et calcul</a:t>
            </a:r>
          </a:p>
        </p:txBody>
      </p:sp>
      <p:sp>
        <p:nvSpPr>
          <p:cNvPr id="3" name="Rounded Rectangle 2"/>
          <p:cNvSpPr/>
          <p:nvPr/>
        </p:nvSpPr>
        <p:spPr>
          <a:xfrm>
            <a:off x="457200" y="777240"/>
            <a:ext cx="11277295" cy="1051560"/>
          </a:xfrm>
          <a:prstGeom prst="roundRect">
            <a:avLst/>
          </a:prstGeom>
          <a:solidFill>
            <a:srgbClr val="E5EB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r>
              <a:rPr sz="1000" i="1">
                <a:solidFill>
                  <a:srgbClr val="031734"/>
                </a:solidFill>
              </a:rPr>
              <a:t>De quelles capacités de stockage et de calcul dispose actuellement ArcaScience ? Quels sont les sous-traitants ? Des dépenses de cette nature sont précisées dans les WP5 (infra Neo4j cloud) et WP6 (cloud GPU haute performance), quelles ressources sont allouées aux WP1-4 ?</a:t>
            </a:r>
          </a:p>
          <a:p>
            <a:r>
              <a:rPr sz="900" i="1">
                <a:solidFill>
                  <a:srgbClr val="999999"/>
                </a:solidFill>
              </a:rPr>
              <a:t>What storage and computing capabilities does ArcaScience currently have? Who are the subcontractors? What resources are allocated to WP1-4?</a:t>
            </a:r>
          </a:p>
        </p:txBody>
      </p:sp>
      <p:sp>
        <p:nvSpPr>
          <p:cNvPr id="4" name="Rounded Rectangle 3"/>
          <p:cNvSpPr/>
          <p:nvPr/>
        </p:nvSpPr>
        <p:spPr>
          <a:xfrm>
            <a:off x="9448495" y="137160"/>
            <a:ext cx="1097280" cy="3200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Cross</a:t>
            </a:r>
          </a:p>
        </p:txBody>
      </p:sp>
      <p:pic>
        <p:nvPicPr>
          <p:cNvPr id="5" name="Picture 4" descr="logo_header.png"/>
          <p:cNvPicPr>
            <a:picLocks noChangeAspect="1"/>
          </p:cNvPicPr>
          <p:nvPr/>
        </p:nvPicPr>
        <p:blipFill>
          <a:blip r:embed="rId2"/>
          <a:stretch>
            <a:fillRect/>
          </a:stretch>
        </p:blipFill>
        <p:spPr>
          <a:xfrm>
            <a:off x="10637215" y="137160"/>
            <a:ext cx="1371600" cy="384048"/>
          </a:xfrm>
          <a:prstGeom prst="rect">
            <a:avLst/>
          </a:prstGeom>
        </p:spPr>
      </p:pic>
      <p:sp>
        <p:nvSpPr>
          <p:cNvPr id="6" name="Rectangle 5"/>
          <p:cNvSpPr/>
          <p:nvPr/>
        </p:nvSpPr>
        <p:spPr>
          <a:xfrm>
            <a:off x="0" y="6446520"/>
            <a:ext cx="12191695" cy="411480"/>
          </a:xfrm>
          <a:prstGeom prst="rect">
            <a:avLst/>
          </a:prstGeom>
          <a:solidFill>
            <a:srgbClr val="0317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999999"/>
                </a:solidFill>
              </a:defRPr>
            </a:pPr>
            <a:r>
              <a:t>ArcaScience — I-demo Q&amp;A — Confidentiel — Avril 2026          3</a:t>
            </a:r>
          </a:p>
        </p:txBody>
      </p:sp>
      <p:sp>
        <p:nvSpPr>
          <p:cNvPr id="7" name="TextBox 6"/>
          <p:cNvSpPr txBox="1"/>
          <p:nvPr/>
        </p:nvSpPr>
        <p:spPr>
          <a:xfrm>
            <a:off x="548640" y="1965960"/>
            <a:ext cx="11094415" cy="4114800"/>
          </a:xfrm>
          <a:prstGeom prst="rect">
            <a:avLst/>
          </a:prstGeom>
          <a:noFill/>
        </p:spPr>
        <p:txBody>
          <a:bodyPr wrap="square">
            <a:spAutoFit/>
          </a:bodyPr>
          <a:lstStyle/>
          <a:p>
            <a:pPr>
              <a:spcBef>
                <a:spcPts val="400"/>
              </a:spcBef>
              <a:spcAft>
                <a:spcPts val="200"/>
              </a:spcAft>
            </a:pPr>
            <a:r>
              <a:rPr sz="1300" b="1">
                <a:solidFill>
                  <a:srgbClr val="1973C2"/>
                </a:solidFill>
              </a:rPr>
              <a:t>Plateforme actuelle</a:t>
            </a:r>
          </a:p>
          <a:p>
            <a:pPr lvl="1">
              <a:spcBef>
                <a:spcPts val="100"/>
              </a:spcBef>
              <a:spcAft>
                <a:spcPts val="100"/>
              </a:spcAft>
            </a:pPr>
            <a:r>
              <a:rPr sz="1100">
                <a:solidFill>
                  <a:srgbClr val="434343"/>
                </a:solidFill>
              </a:rPr>
              <a:t>DataFactory BRA indexe &gt;40M entrées textuelles (PubMed, MEDLINE, registres d'essais cliniques)</a:t>
            </a:r>
          </a:p>
          <a:p>
            <a:pPr lvl="1">
              <a:spcBef>
                <a:spcPts val="100"/>
              </a:spcBef>
              <a:spcAft>
                <a:spcPts val="100"/>
              </a:spcAft>
            </a:pPr>
            <a:r>
              <a:rPr sz="1100">
                <a:solidFill>
                  <a:srgbClr val="434343"/>
                </a:solidFill>
              </a:rPr>
              <a:t>Feuille de route technique définie sous T2.1, planifiée Q2–Q3 2026</a:t>
            </a:r>
          </a:p>
          <a:p>
            <a:pPr>
              <a:spcBef>
                <a:spcPts val="400"/>
              </a:spcBef>
              <a:spcAft>
                <a:spcPts val="0"/>
              </a:spcAft>
            </a:pPr>
          </a:p>
          <a:p>
            <a:pPr>
              <a:spcBef>
                <a:spcPts val="400"/>
              </a:spcBef>
              <a:spcAft>
                <a:spcPts val="200"/>
              </a:spcAft>
            </a:pPr>
            <a:r>
              <a:rPr sz="1300" b="1">
                <a:solidFill>
                  <a:srgbClr val="1973C2"/>
                </a:solidFill>
              </a:rPr>
              <a:t>Calcul</a:t>
            </a:r>
          </a:p>
          <a:p>
            <a:pPr lvl="1">
              <a:spcBef>
                <a:spcPts val="100"/>
              </a:spcBef>
              <a:spcAft>
                <a:spcPts val="100"/>
              </a:spcAft>
            </a:pPr>
            <a:r>
              <a:rPr sz="1100">
                <a:solidFill>
                  <a:srgbClr val="434343"/>
                </a:solidFill>
              </a:rPr>
              <a:t>WP1, WP2 : clusters CPU standards — pas de GPU nécessaire</a:t>
            </a:r>
          </a:p>
          <a:p>
            <a:pPr lvl="1">
              <a:spcBef>
                <a:spcPts val="100"/>
              </a:spcBef>
              <a:spcAft>
                <a:spcPts val="100"/>
              </a:spcAft>
            </a:pPr>
            <a:r>
              <a:rPr sz="1100">
                <a:solidFill>
                  <a:srgbClr val="434343"/>
                </a:solidFill>
              </a:rPr>
              <a:t>WP3, WP4, WP6 : environnements GPU supplémentaires, dimensionnés après validation focalisée</a:t>
            </a:r>
          </a:p>
          <a:p>
            <a:pPr lvl="1">
              <a:spcBef>
                <a:spcPts val="100"/>
              </a:spcBef>
              <a:spcAft>
                <a:spcPts val="100"/>
              </a:spcAft>
            </a:pPr>
            <a:r>
              <a:rPr sz="1100">
                <a:solidFill>
                  <a:srgbClr val="434343"/>
                </a:solidFill>
              </a:rPr>
              <a:t>MLflow : automatisation ML, tracking, versioning des modèles, stockage des artefacts</a:t>
            </a:r>
          </a:p>
          <a:p>
            <a:pPr>
              <a:spcBef>
                <a:spcPts val="400"/>
              </a:spcBef>
              <a:spcAft>
                <a:spcPts val="0"/>
              </a:spcAft>
            </a:pPr>
          </a:p>
          <a:p>
            <a:pPr>
              <a:spcBef>
                <a:spcPts val="400"/>
              </a:spcBef>
              <a:spcAft>
                <a:spcPts val="200"/>
              </a:spcAft>
            </a:pPr>
            <a:r>
              <a:rPr sz="1300" b="1">
                <a:solidFill>
                  <a:srgbClr val="1973C2"/>
                </a:solidFill>
              </a:rPr>
              <a:t>Stockage</a:t>
            </a:r>
          </a:p>
          <a:p>
            <a:pPr lvl="1">
              <a:spcBef>
                <a:spcPts val="100"/>
              </a:spcBef>
              <a:spcAft>
                <a:spcPts val="100"/>
              </a:spcAft>
            </a:pPr>
            <a:r>
              <a:rPr sz="1100">
                <a:solidFill>
                  <a:srgbClr val="434343"/>
                </a:solidFill>
              </a:rPr>
              <a:t>Extension infra existante : Buckets S3, ElasticSearch, Qdrant pour datasets WP-spécifiques</a:t>
            </a:r>
          </a:p>
          <a:p>
            <a:pPr lvl="1">
              <a:spcBef>
                <a:spcPts val="100"/>
              </a:spcBef>
              <a:spcAft>
                <a:spcPts val="100"/>
              </a:spcAft>
            </a:pPr>
            <a:r>
              <a:rPr sz="1100">
                <a:solidFill>
                  <a:srgbClr val="434343"/>
                </a:solidFill>
              </a:rPr>
              <a:t>KG WP5 : évalué sur Neo4j + backends analytiques alternatifs (benchmarks cold/cached = KPIs WP5)</a:t>
            </a:r>
          </a:p>
          <a:p>
            <a:pPr>
              <a:spcBef>
                <a:spcPts val="400"/>
              </a:spcBef>
              <a:spcAft>
                <a:spcPts val="0"/>
              </a:spcAft>
            </a:pPr>
          </a:p>
          <a:p>
            <a:pPr>
              <a:spcBef>
                <a:spcPts val="400"/>
              </a:spcBef>
              <a:spcAft>
                <a:spcPts val="200"/>
              </a:spcAft>
            </a:pPr>
            <a:r>
              <a:rPr sz="1300" b="1">
                <a:solidFill>
                  <a:srgbClr val="1973C2"/>
                </a:solidFill>
              </a:rPr>
              <a:t>Sous-traitants</a:t>
            </a:r>
          </a:p>
          <a:p>
            <a:pPr lvl="1">
              <a:spcBef>
                <a:spcPts val="100"/>
              </a:spcBef>
              <a:spcAft>
                <a:spcPts val="100"/>
              </a:spcAft>
            </a:pPr>
            <a:r>
              <a:rPr sz="1100">
                <a:solidFill>
                  <a:srgbClr val="434343"/>
                </a:solidFill>
              </a:rPr>
              <a:t>Infrastructure : Cloud agnostique, multi-cloud Scaleway + AWS (~200K€/an total)</a:t>
            </a:r>
          </a:p>
          <a:p>
            <a:pPr lvl="1">
              <a:spcBef>
                <a:spcPts val="100"/>
              </a:spcBef>
              <a:spcAft>
                <a:spcPts val="100"/>
              </a:spcAft>
            </a:pPr>
            <a:r>
              <a:rPr sz="1100">
                <a:solidFill>
                  <a:srgbClr val="434343"/>
                </a:solidFill>
              </a:rPr>
              <a:t>Partenaires : INRIA (méthodologie), Gradient Health (données RWE), AMI Labs (évaluation indépendante)</a:t>
            </a:r>
          </a:p>
          <a:p>
            <a:pPr lvl="1">
              <a:spcBef>
                <a:spcPts val="100"/>
              </a:spcBef>
              <a:spcAft>
                <a:spcPts val="100"/>
              </a:spcAft>
            </a:pPr>
            <a:r>
              <a:rPr sz="1100">
                <a:solidFill>
                  <a:srgbClr val="434343"/>
                </a:solidFill>
              </a:rPr>
              <a:t>⚠ Clarification : « 100 milliards de relations » = encodeurs pré-entraînés externes (ChemBERTa, PubMedBERT, ESM-2), non entraînement from scratch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7772400" cy="594360"/>
          </a:xfrm>
          <a:prstGeom prst="rect">
            <a:avLst/>
          </a:prstGeom>
          <a:noFill/>
        </p:spPr>
        <p:txBody>
          <a:bodyPr wrap="square">
            <a:spAutoFit/>
          </a:bodyPr>
          <a:lstStyle/>
          <a:p>
            <a:r>
              <a:rPr sz="2200" b="1">
                <a:solidFill>
                  <a:srgbClr val="031734"/>
                </a:solidFill>
              </a:rPr>
              <a:t>Q2 — ETP prévus par WP et profils</a:t>
            </a:r>
          </a:p>
        </p:txBody>
      </p:sp>
      <p:sp>
        <p:nvSpPr>
          <p:cNvPr id="3" name="Rounded Rectangle 2"/>
          <p:cNvSpPr/>
          <p:nvPr/>
        </p:nvSpPr>
        <p:spPr>
          <a:xfrm>
            <a:off x="457200" y="777240"/>
            <a:ext cx="11277295" cy="1051560"/>
          </a:xfrm>
          <a:prstGeom prst="roundRect">
            <a:avLst/>
          </a:prstGeom>
          <a:solidFill>
            <a:srgbClr val="E5EB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r>
              <a:rPr sz="1000" i="1">
                <a:solidFill>
                  <a:srgbClr val="031734"/>
                </a:solidFill>
              </a:rPr>
              <a:t>Quels sont les ETP prévus par WP et pour quels types de profils ?</a:t>
            </a:r>
          </a:p>
          <a:p>
            <a:r>
              <a:rPr sz="900" i="1">
                <a:solidFill>
                  <a:srgbClr val="999999"/>
                </a:solidFill>
              </a:rPr>
              <a:t>What are the planned FTEs per WP and for what types of profiles?</a:t>
            </a:r>
          </a:p>
        </p:txBody>
      </p:sp>
      <p:sp>
        <p:nvSpPr>
          <p:cNvPr id="4" name="Rounded Rectangle 3"/>
          <p:cNvSpPr/>
          <p:nvPr/>
        </p:nvSpPr>
        <p:spPr>
          <a:xfrm>
            <a:off x="9448495" y="137160"/>
            <a:ext cx="1097280" cy="3200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Cross</a:t>
            </a:r>
          </a:p>
        </p:txBody>
      </p:sp>
      <p:pic>
        <p:nvPicPr>
          <p:cNvPr id="5" name="Picture 4" descr="logo_header.png"/>
          <p:cNvPicPr>
            <a:picLocks noChangeAspect="1"/>
          </p:cNvPicPr>
          <p:nvPr/>
        </p:nvPicPr>
        <p:blipFill>
          <a:blip r:embed="rId2"/>
          <a:stretch>
            <a:fillRect/>
          </a:stretch>
        </p:blipFill>
        <p:spPr>
          <a:xfrm>
            <a:off x="10637215" y="137160"/>
            <a:ext cx="1371600" cy="384048"/>
          </a:xfrm>
          <a:prstGeom prst="rect">
            <a:avLst/>
          </a:prstGeom>
        </p:spPr>
      </p:pic>
      <p:sp>
        <p:nvSpPr>
          <p:cNvPr id="6" name="Rectangle 5"/>
          <p:cNvSpPr/>
          <p:nvPr/>
        </p:nvSpPr>
        <p:spPr>
          <a:xfrm>
            <a:off x="0" y="6446520"/>
            <a:ext cx="12191695" cy="411480"/>
          </a:xfrm>
          <a:prstGeom prst="rect">
            <a:avLst/>
          </a:prstGeom>
          <a:solidFill>
            <a:srgbClr val="0317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999999"/>
                </a:solidFill>
              </a:defRPr>
            </a:pPr>
            <a:r>
              <a:t>ArcaScience — I-demo Q&amp;A — Confidentiel — Avril 2026          4</a:t>
            </a:r>
          </a:p>
        </p:txBody>
      </p:sp>
      <p:sp>
        <p:nvSpPr>
          <p:cNvPr id="7" name="Rounded Rectangle 6"/>
          <p:cNvSpPr/>
          <p:nvPr/>
        </p:nvSpPr>
        <p:spPr>
          <a:xfrm>
            <a:off x="548640" y="1965960"/>
            <a:ext cx="11094415" cy="457200"/>
          </a:xfrm>
          <a:prstGeom prst="round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a:lstStyle/>
          <a:p>
            <a:pPr algn="ctr"/>
            <a:r>
              <a:rPr sz="1200" b="1">
                <a:solidFill>
                  <a:srgbClr val="999999"/>
                </a:solidFill>
              </a:rPr>
              <a:t>À compléter — RH / Direction</a:t>
            </a:r>
          </a:p>
        </p:txBody>
      </p:sp>
      <p:sp>
        <p:nvSpPr>
          <p:cNvPr id="8" name="Rectangle 7"/>
          <p:cNvSpPr/>
          <p:nvPr/>
        </p:nvSpPr>
        <p:spPr>
          <a:xfrm>
            <a:off x="731520" y="2606040"/>
            <a:ext cx="1097280" cy="292608"/>
          </a:xfrm>
          <a:prstGeom prst="rect">
            <a:avLst/>
          </a:prstGeom>
          <a:solidFill>
            <a:srgbClr val="0E477A"/>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WP</a:t>
            </a:r>
          </a:p>
        </p:txBody>
      </p:sp>
      <p:sp>
        <p:nvSpPr>
          <p:cNvPr id="9" name="Rectangle 8"/>
          <p:cNvSpPr/>
          <p:nvPr/>
        </p:nvSpPr>
        <p:spPr>
          <a:xfrm>
            <a:off x="1828800" y="2606040"/>
            <a:ext cx="1645920" cy="292608"/>
          </a:xfrm>
          <a:prstGeom prst="rect">
            <a:avLst/>
          </a:prstGeom>
          <a:solidFill>
            <a:srgbClr val="0E477A"/>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IT (ETP)</a:t>
            </a:r>
          </a:p>
        </p:txBody>
      </p:sp>
      <p:sp>
        <p:nvSpPr>
          <p:cNvPr id="10" name="Rectangle 9"/>
          <p:cNvSpPr/>
          <p:nvPr/>
        </p:nvSpPr>
        <p:spPr>
          <a:xfrm>
            <a:off x="3474720" y="2606040"/>
            <a:ext cx="1645920" cy="292608"/>
          </a:xfrm>
          <a:prstGeom prst="rect">
            <a:avLst/>
          </a:prstGeom>
          <a:solidFill>
            <a:srgbClr val="0E477A"/>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R&amp;D (ETP)</a:t>
            </a:r>
          </a:p>
        </p:txBody>
      </p:sp>
      <p:sp>
        <p:nvSpPr>
          <p:cNvPr id="11" name="Rectangle 10"/>
          <p:cNvSpPr/>
          <p:nvPr/>
        </p:nvSpPr>
        <p:spPr>
          <a:xfrm>
            <a:off x="5120640" y="2606040"/>
            <a:ext cx="1645920" cy="292608"/>
          </a:xfrm>
          <a:prstGeom prst="rect">
            <a:avLst/>
          </a:prstGeom>
          <a:solidFill>
            <a:srgbClr val="0E477A"/>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Médical (ETP)</a:t>
            </a:r>
          </a:p>
        </p:txBody>
      </p:sp>
      <p:sp>
        <p:nvSpPr>
          <p:cNvPr id="12" name="Rectangle 11"/>
          <p:cNvSpPr/>
          <p:nvPr/>
        </p:nvSpPr>
        <p:spPr>
          <a:xfrm>
            <a:off x="731520" y="2898648"/>
            <a:ext cx="1097280" cy="292608"/>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31734"/>
                </a:solidFill>
              </a:defRPr>
            </a:pPr>
            <a:r>
              <a:t>WP1</a:t>
            </a:r>
          </a:p>
        </p:txBody>
      </p:sp>
      <p:sp>
        <p:nvSpPr>
          <p:cNvPr id="13" name="Rectangle 12"/>
          <p:cNvSpPr/>
          <p:nvPr/>
        </p:nvSpPr>
        <p:spPr>
          <a:xfrm>
            <a:off x="1828800" y="2898648"/>
            <a:ext cx="1645920" cy="292608"/>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999999"/>
                </a:solidFill>
              </a:defRPr>
            </a:pPr>
            <a:r>
              <a:t>—</a:t>
            </a:r>
          </a:p>
        </p:txBody>
      </p:sp>
      <p:sp>
        <p:nvSpPr>
          <p:cNvPr id="14" name="Rectangle 13"/>
          <p:cNvSpPr/>
          <p:nvPr/>
        </p:nvSpPr>
        <p:spPr>
          <a:xfrm>
            <a:off x="3474720" y="2898648"/>
            <a:ext cx="1645920" cy="292608"/>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999999"/>
                </a:solidFill>
              </a:defRPr>
            </a:pPr>
            <a:r>
              <a:t>—</a:t>
            </a:r>
          </a:p>
        </p:txBody>
      </p:sp>
      <p:sp>
        <p:nvSpPr>
          <p:cNvPr id="15" name="Rectangle 14"/>
          <p:cNvSpPr/>
          <p:nvPr/>
        </p:nvSpPr>
        <p:spPr>
          <a:xfrm>
            <a:off x="5120640" y="2898648"/>
            <a:ext cx="1645920" cy="292608"/>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999999"/>
                </a:solidFill>
              </a:defRPr>
            </a:pPr>
            <a:r>
              <a:t>—</a:t>
            </a:r>
          </a:p>
        </p:txBody>
      </p:sp>
      <p:sp>
        <p:nvSpPr>
          <p:cNvPr id="16" name="Rectangle 15"/>
          <p:cNvSpPr/>
          <p:nvPr/>
        </p:nvSpPr>
        <p:spPr>
          <a:xfrm>
            <a:off x="731520" y="3191256"/>
            <a:ext cx="1097280" cy="292608"/>
          </a:xfrm>
          <a:prstGeom prst="rect">
            <a:avLst/>
          </a:prstGeom>
          <a:solidFill>
            <a:srgbClr val="F2F2F2"/>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31734"/>
                </a:solidFill>
              </a:defRPr>
            </a:pPr>
            <a:r>
              <a:t>WP2</a:t>
            </a:r>
          </a:p>
        </p:txBody>
      </p:sp>
      <p:sp>
        <p:nvSpPr>
          <p:cNvPr id="17" name="Rectangle 16"/>
          <p:cNvSpPr/>
          <p:nvPr/>
        </p:nvSpPr>
        <p:spPr>
          <a:xfrm>
            <a:off x="1828800" y="3191256"/>
            <a:ext cx="1645920" cy="292608"/>
          </a:xfrm>
          <a:prstGeom prst="rect">
            <a:avLst/>
          </a:prstGeom>
          <a:solidFill>
            <a:srgbClr val="F2F2F2"/>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999999"/>
                </a:solidFill>
              </a:defRPr>
            </a:pPr>
            <a:r>
              <a:t>—</a:t>
            </a:r>
          </a:p>
        </p:txBody>
      </p:sp>
      <p:sp>
        <p:nvSpPr>
          <p:cNvPr id="18" name="Rectangle 17"/>
          <p:cNvSpPr/>
          <p:nvPr/>
        </p:nvSpPr>
        <p:spPr>
          <a:xfrm>
            <a:off x="3474720" y="3191256"/>
            <a:ext cx="1645920" cy="292608"/>
          </a:xfrm>
          <a:prstGeom prst="rect">
            <a:avLst/>
          </a:prstGeom>
          <a:solidFill>
            <a:srgbClr val="F2F2F2"/>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999999"/>
                </a:solidFill>
              </a:defRPr>
            </a:pPr>
            <a:r>
              <a:t>—</a:t>
            </a:r>
          </a:p>
        </p:txBody>
      </p:sp>
      <p:sp>
        <p:nvSpPr>
          <p:cNvPr id="19" name="Rectangle 18"/>
          <p:cNvSpPr/>
          <p:nvPr/>
        </p:nvSpPr>
        <p:spPr>
          <a:xfrm>
            <a:off x="5120640" y="3191256"/>
            <a:ext cx="1645920" cy="292608"/>
          </a:xfrm>
          <a:prstGeom prst="rect">
            <a:avLst/>
          </a:prstGeom>
          <a:solidFill>
            <a:srgbClr val="F2F2F2"/>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999999"/>
                </a:solidFill>
              </a:defRPr>
            </a:pPr>
            <a:r>
              <a:t>—</a:t>
            </a:r>
          </a:p>
        </p:txBody>
      </p:sp>
      <p:sp>
        <p:nvSpPr>
          <p:cNvPr id="20" name="Rectangle 19"/>
          <p:cNvSpPr/>
          <p:nvPr/>
        </p:nvSpPr>
        <p:spPr>
          <a:xfrm>
            <a:off x="731520" y="3483864"/>
            <a:ext cx="1097280" cy="292608"/>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31734"/>
                </a:solidFill>
              </a:defRPr>
            </a:pPr>
            <a:r>
              <a:t>WP3</a:t>
            </a:r>
          </a:p>
        </p:txBody>
      </p:sp>
      <p:sp>
        <p:nvSpPr>
          <p:cNvPr id="21" name="Rectangle 20"/>
          <p:cNvSpPr/>
          <p:nvPr/>
        </p:nvSpPr>
        <p:spPr>
          <a:xfrm>
            <a:off x="1828800" y="3483864"/>
            <a:ext cx="1645920" cy="292608"/>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999999"/>
                </a:solidFill>
              </a:defRPr>
            </a:pPr>
            <a:r>
              <a:t>—</a:t>
            </a:r>
          </a:p>
        </p:txBody>
      </p:sp>
      <p:sp>
        <p:nvSpPr>
          <p:cNvPr id="22" name="Rectangle 21"/>
          <p:cNvSpPr/>
          <p:nvPr/>
        </p:nvSpPr>
        <p:spPr>
          <a:xfrm>
            <a:off x="3474720" y="3483864"/>
            <a:ext cx="1645920" cy="292608"/>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999999"/>
                </a:solidFill>
              </a:defRPr>
            </a:pPr>
            <a:r>
              <a:t>—</a:t>
            </a:r>
          </a:p>
        </p:txBody>
      </p:sp>
      <p:sp>
        <p:nvSpPr>
          <p:cNvPr id="23" name="Rectangle 22"/>
          <p:cNvSpPr/>
          <p:nvPr/>
        </p:nvSpPr>
        <p:spPr>
          <a:xfrm>
            <a:off x="5120640" y="3483864"/>
            <a:ext cx="1645920" cy="292608"/>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999999"/>
                </a:solidFill>
              </a:defRPr>
            </a:pPr>
            <a:r>
              <a:t>—</a:t>
            </a:r>
          </a:p>
        </p:txBody>
      </p:sp>
      <p:sp>
        <p:nvSpPr>
          <p:cNvPr id="24" name="Rectangle 23"/>
          <p:cNvSpPr/>
          <p:nvPr/>
        </p:nvSpPr>
        <p:spPr>
          <a:xfrm>
            <a:off x="731520" y="3776472"/>
            <a:ext cx="1097280" cy="292608"/>
          </a:xfrm>
          <a:prstGeom prst="rect">
            <a:avLst/>
          </a:prstGeom>
          <a:solidFill>
            <a:srgbClr val="F2F2F2"/>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31734"/>
                </a:solidFill>
              </a:defRPr>
            </a:pPr>
            <a:r>
              <a:t>WP4</a:t>
            </a:r>
          </a:p>
        </p:txBody>
      </p:sp>
      <p:sp>
        <p:nvSpPr>
          <p:cNvPr id="25" name="Rectangle 24"/>
          <p:cNvSpPr/>
          <p:nvPr/>
        </p:nvSpPr>
        <p:spPr>
          <a:xfrm>
            <a:off x="1828800" y="3776472"/>
            <a:ext cx="1645920" cy="292608"/>
          </a:xfrm>
          <a:prstGeom prst="rect">
            <a:avLst/>
          </a:prstGeom>
          <a:solidFill>
            <a:srgbClr val="F2F2F2"/>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999999"/>
                </a:solidFill>
              </a:defRPr>
            </a:pPr>
            <a:r>
              <a:t>—</a:t>
            </a:r>
          </a:p>
        </p:txBody>
      </p:sp>
      <p:sp>
        <p:nvSpPr>
          <p:cNvPr id="26" name="Rectangle 25"/>
          <p:cNvSpPr/>
          <p:nvPr/>
        </p:nvSpPr>
        <p:spPr>
          <a:xfrm>
            <a:off x="3474720" y="3776472"/>
            <a:ext cx="1645920" cy="292608"/>
          </a:xfrm>
          <a:prstGeom prst="rect">
            <a:avLst/>
          </a:prstGeom>
          <a:solidFill>
            <a:srgbClr val="F2F2F2"/>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999999"/>
                </a:solidFill>
              </a:defRPr>
            </a:pPr>
            <a:r>
              <a:t>—</a:t>
            </a:r>
          </a:p>
        </p:txBody>
      </p:sp>
      <p:sp>
        <p:nvSpPr>
          <p:cNvPr id="27" name="Rectangle 26"/>
          <p:cNvSpPr/>
          <p:nvPr/>
        </p:nvSpPr>
        <p:spPr>
          <a:xfrm>
            <a:off x="5120640" y="3776472"/>
            <a:ext cx="1645920" cy="292608"/>
          </a:xfrm>
          <a:prstGeom prst="rect">
            <a:avLst/>
          </a:prstGeom>
          <a:solidFill>
            <a:srgbClr val="F2F2F2"/>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999999"/>
                </a:solidFill>
              </a:defRPr>
            </a:pPr>
            <a:r>
              <a:t>—</a:t>
            </a:r>
          </a:p>
        </p:txBody>
      </p:sp>
      <p:sp>
        <p:nvSpPr>
          <p:cNvPr id="28" name="Rectangle 27"/>
          <p:cNvSpPr/>
          <p:nvPr/>
        </p:nvSpPr>
        <p:spPr>
          <a:xfrm>
            <a:off x="731520" y="4069080"/>
            <a:ext cx="1097280" cy="292608"/>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31734"/>
                </a:solidFill>
              </a:defRPr>
            </a:pPr>
            <a:r>
              <a:t>WP5</a:t>
            </a:r>
          </a:p>
        </p:txBody>
      </p:sp>
      <p:sp>
        <p:nvSpPr>
          <p:cNvPr id="29" name="Rectangle 28"/>
          <p:cNvSpPr/>
          <p:nvPr/>
        </p:nvSpPr>
        <p:spPr>
          <a:xfrm>
            <a:off x="1828800" y="4069080"/>
            <a:ext cx="1645920" cy="292608"/>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999999"/>
                </a:solidFill>
              </a:defRPr>
            </a:pPr>
            <a:r>
              <a:t>—</a:t>
            </a:r>
          </a:p>
        </p:txBody>
      </p:sp>
      <p:sp>
        <p:nvSpPr>
          <p:cNvPr id="30" name="Rectangle 29"/>
          <p:cNvSpPr/>
          <p:nvPr/>
        </p:nvSpPr>
        <p:spPr>
          <a:xfrm>
            <a:off x="3474720" y="4069080"/>
            <a:ext cx="1645920" cy="292608"/>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999999"/>
                </a:solidFill>
              </a:defRPr>
            </a:pPr>
            <a:r>
              <a:t>—</a:t>
            </a:r>
          </a:p>
        </p:txBody>
      </p:sp>
      <p:sp>
        <p:nvSpPr>
          <p:cNvPr id="31" name="Rectangle 30"/>
          <p:cNvSpPr/>
          <p:nvPr/>
        </p:nvSpPr>
        <p:spPr>
          <a:xfrm>
            <a:off x="5120640" y="4069080"/>
            <a:ext cx="1645920" cy="292608"/>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999999"/>
                </a:solidFill>
              </a:defRPr>
            </a:pPr>
            <a:r>
              <a:t>—</a:t>
            </a:r>
          </a:p>
        </p:txBody>
      </p:sp>
      <p:sp>
        <p:nvSpPr>
          <p:cNvPr id="32" name="Rectangle 31"/>
          <p:cNvSpPr/>
          <p:nvPr/>
        </p:nvSpPr>
        <p:spPr>
          <a:xfrm>
            <a:off x="731520" y="4361688"/>
            <a:ext cx="1097280" cy="292608"/>
          </a:xfrm>
          <a:prstGeom prst="rect">
            <a:avLst/>
          </a:prstGeom>
          <a:solidFill>
            <a:srgbClr val="F2F2F2"/>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31734"/>
                </a:solidFill>
              </a:defRPr>
            </a:pPr>
            <a:r>
              <a:t>WP6</a:t>
            </a:r>
          </a:p>
        </p:txBody>
      </p:sp>
      <p:sp>
        <p:nvSpPr>
          <p:cNvPr id="33" name="Rectangle 32"/>
          <p:cNvSpPr/>
          <p:nvPr/>
        </p:nvSpPr>
        <p:spPr>
          <a:xfrm>
            <a:off x="1828800" y="4361688"/>
            <a:ext cx="1645920" cy="292608"/>
          </a:xfrm>
          <a:prstGeom prst="rect">
            <a:avLst/>
          </a:prstGeom>
          <a:solidFill>
            <a:srgbClr val="F2F2F2"/>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999999"/>
                </a:solidFill>
              </a:defRPr>
            </a:pPr>
            <a:r>
              <a:t>—</a:t>
            </a:r>
          </a:p>
        </p:txBody>
      </p:sp>
      <p:sp>
        <p:nvSpPr>
          <p:cNvPr id="34" name="Rectangle 33"/>
          <p:cNvSpPr/>
          <p:nvPr/>
        </p:nvSpPr>
        <p:spPr>
          <a:xfrm>
            <a:off x="3474720" y="4361688"/>
            <a:ext cx="1645920" cy="292608"/>
          </a:xfrm>
          <a:prstGeom prst="rect">
            <a:avLst/>
          </a:prstGeom>
          <a:solidFill>
            <a:srgbClr val="F2F2F2"/>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999999"/>
                </a:solidFill>
              </a:defRPr>
            </a:pPr>
            <a:r>
              <a:t>—</a:t>
            </a:r>
          </a:p>
        </p:txBody>
      </p:sp>
      <p:sp>
        <p:nvSpPr>
          <p:cNvPr id="35" name="Rectangle 34"/>
          <p:cNvSpPr/>
          <p:nvPr/>
        </p:nvSpPr>
        <p:spPr>
          <a:xfrm>
            <a:off x="5120640" y="4361688"/>
            <a:ext cx="1645920" cy="292608"/>
          </a:xfrm>
          <a:prstGeom prst="rect">
            <a:avLst/>
          </a:prstGeom>
          <a:solidFill>
            <a:srgbClr val="F2F2F2"/>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999999"/>
                </a:solidFill>
              </a:defRPr>
            </a:pPr>
            <a:r>
              <a:t>—</a:t>
            </a:r>
          </a:p>
        </p:txBody>
      </p:sp>
      <p:sp>
        <p:nvSpPr>
          <p:cNvPr id="36" name="Rectangle 35"/>
          <p:cNvSpPr/>
          <p:nvPr/>
        </p:nvSpPr>
        <p:spPr>
          <a:xfrm>
            <a:off x="731520" y="4654296"/>
            <a:ext cx="1097280" cy="292608"/>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31734"/>
                </a:solidFill>
              </a:defRPr>
            </a:pPr>
            <a:r>
              <a:t>WP7</a:t>
            </a:r>
          </a:p>
        </p:txBody>
      </p:sp>
      <p:sp>
        <p:nvSpPr>
          <p:cNvPr id="37" name="Rectangle 36"/>
          <p:cNvSpPr/>
          <p:nvPr/>
        </p:nvSpPr>
        <p:spPr>
          <a:xfrm>
            <a:off x="1828800" y="4654296"/>
            <a:ext cx="1645920" cy="292608"/>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999999"/>
                </a:solidFill>
              </a:defRPr>
            </a:pPr>
            <a:r>
              <a:t>—</a:t>
            </a:r>
          </a:p>
        </p:txBody>
      </p:sp>
      <p:sp>
        <p:nvSpPr>
          <p:cNvPr id="38" name="Rectangle 37"/>
          <p:cNvSpPr/>
          <p:nvPr/>
        </p:nvSpPr>
        <p:spPr>
          <a:xfrm>
            <a:off x="3474720" y="4654296"/>
            <a:ext cx="1645920" cy="292608"/>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999999"/>
                </a:solidFill>
              </a:defRPr>
            </a:pPr>
            <a:r>
              <a:t>—</a:t>
            </a:r>
          </a:p>
        </p:txBody>
      </p:sp>
      <p:sp>
        <p:nvSpPr>
          <p:cNvPr id="39" name="Rectangle 38"/>
          <p:cNvSpPr/>
          <p:nvPr/>
        </p:nvSpPr>
        <p:spPr>
          <a:xfrm>
            <a:off x="5120640" y="4654296"/>
            <a:ext cx="1645920" cy="292608"/>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999999"/>
                </a:solidFill>
              </a:defRPr>
            </a:pPr>
            <a:r>
              <a:t>—</a:t>
            </a:r>
          </a:p>
        </p:txBody>
      </p:sp>
      <p:sp>
        <p:nvSpPr>
          <p:cNvPr id="40" name="Rounded Rectangle 39"/>
          <p:cNvSpPr/>
          <p:nvPr/>
        </p:nvSpPr>
        <p:spPr>
          <a:xfrm>
            <a:off x="548640" y="4754880"/>
            <a:ext cx="11094415" cy="1463040"/>
          </a:xfrm>
          <a:prstGeom prst="roundRect">
            <a:avLst/>
          </a:prstGeom>
          <a:solidFill>
            <a:srgbClr val="FFF8E1"/>
          </a:solidFill>
          <a:ln w="19050">
            <a:solidFill>
              <a:srgbClr val="FFAB4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r>
              <a:rPr sz="1000" b="1">
                <a:solidFill>
                  <a:srgbClr val="FFAB40"/>
                </a:solidFill>
              </a:rPr>
              <a:t>DRAFT — à valider par RH / Direction</a:t>
            </a:r>
          </a:p>
          <a:p>
            <a:r>
              <a:rPr sz="1000">
                <a:solidFill>
                  <a:srgbClr val="434343"/>
                </a:solidFill>
              </a:rPr>
              <a:t>Proposition ETP (basée sur les périmètres WP et plan de recrutement 2026) :
• WP1 : IT 1.5 / R&amp;D 2.0 / Méd 0.5  •  WP2 : IT 1.5 / R&amp;D 2.0 / Méd 1.0
• WP3 : IT 1.0 / R&amp;D 2.0 / Méd 1.0  •  WP4 : IT 1.5 / R&amp;D 1.5 / Méd 1.0
• WP5 : IT 2.0 / R&amp;D 1.5 / Méd 0.5  •  WP6 : IT 2.0 / R&amp;D 3.0 / Méd 1.0
• WP7 : IT 0.5 / R&amp;D 0.5 / Méd 0.5  —  Total : ~27 ETP (aligné avec plan 47 postes dont 27 R&amp;D)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7772400" cy="594360"/>
          </a:xfrm>
          <a:prstGeom prst="rect">
            <a:avLst/>
          </a:prstGeom>
          <a:noFill/>
        </p:spPr>
        <p:txBody>
          <a:bodyPr wrap="square">
            <a:spAutoFit/>
          </a:bodyPr>
          <a:lstStyle/>
          <a:p>
            <a:r>
              <a:rPr sz="2200" b="1">
                <a:solidFill>
                  <a:srgbClr val="031734"/>
                </a:solidFill>
              </a:rPr>
              <a:t>Q3 — Dissémination scientifique &amp; CIFRE</a:t>
            </a:r>
          </a:p>
        </p:txBody>
      </p:sp>
      <p:sp>
        <p:nvSpPr>
          <p:cNvPr id="3" name="Rounded Rectangle 2"/>
          <p:cNvSpPr/>
          <p:nvPr/>
        </p:nvSpPr>
        <p:spPr>
          <a:xfrm>
            <a:off x="457200" y="777240"/>
            <a:ext cx="11277295" cy="1051560"/>
          </a:xfrm>
          <a:prstGeom prst="roundRect">
            <a:avLst/>
          </a:prstGeom>
          <a:solidFill>
            <a:srgbClr val="E5EB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r>
              <a:rPr sz="1000" i="1">
                <a:solidFill>
                  <a:srgbClr val="031734"/>
                </a:solidFill>
              </a:rPr>
              <a:t>Dissémination scientifique : 4 doctorants CIFRE sont prévus (IA, pharmacologie et réglementaire). Pourront-ils publier ? Quelle articulation avec la stratégie PI (brevets et secret) ?</a:t>
            </a:r>
          </a:p>
          <a:p>
            <a:r>
              <a:rPr sz="900" i="1">
                <a:solidFill>
                  <a:srgbClr val="999999"/>
                </a:solidFill>
              </a:rPr>
              <a:t>Will the 4 CIFRE doctoral students be able to publish? How does this align with the IP strategy (patents and trade secrets)?</a:t>
            </a:r>
          </a:p>
        </p:txBody>
      </p:sp>
      <p:sp>
        <p:nvSpPr>
          <p:cNvPr id="4" name="Rounded Rectangle 3"/>
          <p:cNvSpPr/>
          <p:nvPr/>
        </p:nvSpPr>
        <p:spPr>
          <a:xfrm>
            <a:off x="9448495" y="137160"/>
            <a:ext cx="1097280" cy="3200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Gouvernance</a:t>
            </a:r>
          </a:p>
        </p:txBody>
      </p:sp>
      <p:pic>
        <p:nvPicPr>
          <p:cNvPr id="5" name="Picture 4" descr="logo_header.png"/>
          <p:cNvPicPr>
            <a:picLocks noChangeAspect="1"/>
          </p:cNvPicPr>
          <p:nvPr/>
        </p:nvPicPr>
        <p:blipFill>
          <a:blip r:embed="rId2"/>
          <a:stretch>
            <a:fillRect/>
          </a:stretch>
        </p:blipFill>
        <p:spPr>
          <a:xfrm>
            <a:off x="10637215" y="137160"/>
            <a:ext cx="1371600" cy="384048"/>
          </a:xfrm>
          <a:prstGeom prst="rect">
            <a:avLst/>
          </a:prstGeom>
        </p:spPr>
      </p:pic>
      <p:sp>
        <p:nvSpPr>
          <p:cNvPr id="6" name="Rectangle 5"/>
          <p:cNvSpPr/>
          <p:nvPr/>
        </p:nvSpPr>
        <p:spPr>
          <a:xfrm>
            <a:off x="0" y="6446520"/>
            <a:ext cx="12191695" cy="411480"/>
          </a:xfrm>
          <a:prstGeom prst="rect">
            <a:avLst/>
          </a:prstGeom>
          <a:solidFill>
            <a:srgbClr val="0317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999999"/>
                </a:solidFill>
              </a:defRPr>
            </a:pPr>
            <a:r>
              <a:t>ArcaScience — I-demo Q&amp;A — Confidentiel — Avril 2026          5</a:t>
            </a:r>
          </a:p>
        </p:txBody>
      </p:sp>
      <p:sp>
        <p:nvSpPr>
          <p:cNvPr id="7" name="TextBox 6"/>
          <p:cNvSpPr txBox="1"/>
          <p:nvPr/>
        </p:nvSpPr>
        <p:spPr>
          <a:xfrm>
            <a:off x="548640" y="1965960"/>
            <a:ext cx="11094415" cy="4114800"/>
          </a:xfrm>
          <a:prstGeom prst="rect">
            <a:avLst/>
          </a:prstGeom>
          <a:noFill/>
        </p:spPr>
        <p:txBody>
          <a:bodyPr wrap="square">
            <a:spAutoFit/>
          </a:bodyPr>
          <a:lstStyle/>
          <a:p>
            <a:pPr>
              <a:spcBef>
                <a:spcPts val="400"/>
              </a:spcBef>
              <a:spcAft>
                <a:spcPts val="200"/>
              </a:spcAft>
            </a:pPr>
            <a:r>
              <a:rPr sz="1300" b="1">
                <a:solidFill>
                  <a:srgbClr val="1973C2"/>
                </a:solidFill>
              </a:rPr>
              <a:t>Expérience académique</a:t>
            </a:r>
          </a:p>
          <a:p>
            <a:pPr lvl="1">
              <a:spcBef>
                <a:spcPts val="100"/>
              </a:spcBef>
              <a:spcAft>
                <a:spcPts val="100"/>
              </a:spcAft>
            </a:pPr>
            <a:r>
              <a:rPr sz="1100">
                <a:solidFill>
                  <a:srgbClr val="434343"/>
                </a:solidFill>
              </a:rPr>
              <a:t>Équipe dirigeante expérimentée : VS a dirigé 19 thèses dont 2 CIFRE (Sanofi, Servier)</a:t>
            </a:r>
          </a:p>
          <a:p>
            <a:pPr lvl="1">
              <a:spcBef>
                <a:spcPts val="100"/>
              </a:spcBef>
              <a:spcAft>
                <a:spcPts val="100"/>
              </a:spcAft>
            </a:pPr>
            <a:r>
              <a:rPr sz="1100">
                <a:solidFill>
                  <a:srgbClr val="434343"/>
                </a:solidFill>
              </a:rPr>
              <a:t>Pré-requis thèse CIFRE maîtrisés : équilibre découvertes scientifiques / applications industrielles</a:t>
            </a:r>
          </a:p>
          <a:p>
            <a:pPr>
              <a:spcBef>
                <a:spcPts val="400"/>
              </a:spcBef>
              <a:spcAft>
                <a:spcPts val="0"/>
              </a:spcAft>
            </a:pPr>
          </a:p>
          <a:p>
            <a:pPr>
              <a:spcBef>
                <a:spcPts val="400"/>
              </a:spcBef>
              <a:spcAft>
                <a:spcPts val="200"/>
              </a:spcAft>
            </a:pPr>
            <a:r>
              <a:rPr sz="1300" b="1">
                <a:solidFill>
                  <a:srgbClr val="1973C2"/>
                </a:solidFill>
              </a:rPr>
              <a:t>Stratégie de publication</a:t>
            </a:r>
          </a:p>
          <a:p>
            <a:pPr lvl="1">
              <a:spcBef>
                <a:spcPts val="100"/>
              </a:spcBef>
              <a:spcAft>
                <a:spcPts val="100"/>
              </a:spcAft>
            </a:pPr>
            <a:r>
              <a:rPr sz="1100">
                <a:solidFill>
                  <a:srgbClr val="434343"/>
                </a:solidFill>
              </a:rPr>
              <a:t>Les doctorants pourront publier — essentiel pour la validation de leur thèse</a:t>
            </a:r>
          </a:p>
          <a:p>
            <a:pPr lvl="1">
              <a:spcBef>
                <a:spcPts val="100"/>
              </a:spcBef>
              <a:spcAft>
                <a:spcPts val="100"/>
              </a:spcAft>
            </a:pPr>
            <a:r>
              <a:rPr sz="1100">
                <a:solidFill>
                  <a:srgbClr val="434343"/>
                </a:solidFill>
              </a:rPr>
              <a:t>Objectif : 5 publications annuelles pour s'établir comme acteur de référence international</a:t>
            </a:r>
          </a:p>
          <a:p>
            <a:pPr lvl="1">
              <a:spcBef>
                <a:spcPts val="100"/>
              </a:spcBef>
              <a:spcAft>
                <a:spcPts val="100"/>
              </a:spcAft>
            </a:pPr>
            <a:r>
              <a:rPr sz="1100">
                <a:solidFill>
                  <a:srgbClr val="434343"/>
                </a:solidFill>
              </a:rPr>
              <a:t>Positionnement sur la prédiction du bénéfice-risque de médicaments</a:t>
            </a:r>
          </a:p>
          <a:p>
            <a:pPr>
              <a:spcBef>
                <a:spcPts val="400"/>
              </a:spcBef>
              <a:spcAft>
                <a:spcPts val="0"/>
              </a:spcAft>
            </a:pPr>
          </a:p>
          <a:p>
            <a:pPr>
              <a:spcBef>
                <a:spcPts val="400"/>
              </a:spcBef>
              <a:spcAft>
                <a:spcPts val="200"/>
              </a:spcAft>
            </a:pPr>
            <a:r>
              <a:rPr sz="1300" b="1">
                <a:solidFill>
                  <a:srgbClr val="1973C2"/>
                </a:solidFill>
              </a:rPr>
              <a:t>Protection IP</a:t>
            </a:r>
          </a:p>
          <a:p>
            <a:pPr lvl="1">
              <a:spcBef>
                <a:spcPts val="100"/>
              </a:spcBef>
              <a:spcAft>
                <a:spcPts val="100"/>
              </a:spcAft>
            </a:pPr>
            <a:r>
              <a:rPr sz="1100">
                <a:solidFill>
                  <a:srgbClr val="434343"/>
                </a:solidFill>
              </a:rPr>
              <a:t>Brevets sur pipeline de gestion/indexation de données d'entraînement</a:t>
            </a:r>
          </a:p>
          <a:p>
            <a:pPr lvl="1">
              <a:spcBef>
                <a:spcPts val="100"/>
              </a:spcBef>
              <a:spcAft>
                <a:spcPts val="100"/>
              </a:spcAft>
            </a:pPr>
            <a:r>
              <a:rPr sz="1100">
                <a:solidFill>
                  <a:srgbClr val="434343"/>
                </a:solidFill>
              </a:rPr>
              <a:t>Secret industriel sur les architectures propriétaires et la Profiling Base</a:t>
            </a:r>
          </a:p>
          <a:p>
            <a:pPr lvl="1">
              <a:spcBef>
                <a:spcPts val="100"/>
              </a:spcBef>
              <a:spcAft>
                <a:spcPts val="100"/>
              </a:spcAft>
            </a:pPr>
            <a:r>
              <a:rPr sz="1100">
                <a:solidFill>
                  <a:srgbClr val="434343"/>
                </a:solidFill>
              </a:rPr>
              <a:t>Stratégie définie dès le sujet de thèse, réévaluée régulièrement</a:t>
            </a:r>
          </a:p>
          <a:p>
            <a:pPr lvl="1">
              <a:spcBef>
                <a:spcPts val="100"/>
              </a:spcBef>
              <a:spcAft>
                <a:spcPts val="100"/>
              </a:spcAft>
            </a:pPr>
            <a:r>
              <a:rPr sz="1100">
                <a:solidFill>
                  <a:srgbClr val="434343"/>
                </a:solidFill>
              </a:rPr>
              <a:t>Si obstacle à la publication anticipé (peu probable) → stratégie modifiée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7772400" cy="594360"/>
          </a:xfrm>
          <a:prstGeom prst="rect">
            <a:avLst/>
          </a:prstGeom>
          <a:noFill/>
        </p:spPr>
        <p:txBody>
          <a:bodyPr wrap="square">
            <a:spAutoFit/>
          </a:bodyPr>
          <a:lstStyle/>
          <a:p>
            <a:r>
              <a:rPr sz="2200" b="1">
                <a:solidFill>
                  <a:srgbClr val="031734"/>
                </a:solidFill>
              </a:rPr>
              <a:t>Q4 — LLM pour résumés et rapports</a:t>
            </a:r>
          </a:p>
        </p:txBody>
      </p:sp>
      <p:sp>
        <p:nvSpPr>
          <p:cNvPr id="3" name="Rounded Rectangle 2"/>
          <p:cNvSpPr/>
          <p:nvPr/>
        </p:nvSpPr>
        <p:spPr>
          <a:xfrm>
            <a:off x="457200" y="777240"/>
            <a:ext cx="11277295" cy="1051560"/>
          </a:xfrm>
          <a:prstGeom prst="roundRect">
            <a:avLst/>
          </a:prstGeom>
          <a:solidFill>
            <a:srgbClr val="E5EB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r>
              <a:rPr sz="1000" i="1">
                <a:solidFill>
                  <a:srgbClr val="031734"/>
                </a:solidFill>
              </a:rPr>
              <a:t>Il est fait mention de LLM pour générer les résumés et rapports. S'agit-il d'un modèle propriétaire ? Quelle est la solution utilisée ?</a:t>
            </a:r>
          </a:p>
          <a:p>
            <a:r>
              <a:rPr sz="900" i="1">
                <a:solidFill>
                  <a:srgbClr val="999999"/>
                </a:solidFill>
              </a:rPr>
              <a:t>LLMs are mentioned for generating summaries and reports. Is it a proprietary model? What solution is used?</a:t>
            </a:r>
          </a:p>
        </p:txBody>
      </p:sp>
      <p:sp>
        <p:nvSpPr>
          <p:cNvPr id="4" name="Rounded Rectangle 3"/>
          <p:cNvSpPr/>
          <p:nvPr/>
        </p:nvSpPr>
        <p:spPr>
          <a:xfrm>
            <a:off x="9448495" y="137160"/>
            <a:ext cx="1097280" cy="3200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Cross</a:t>
            </a:r>
          </a:p>
        </p:txBody>
      </p:sp>
      <p:pic>
        <p:nvPicPr>
          <p:cNvPr id="5" name="Picture 4" descr="logo_header.png"/>
          <p:cNvPicPr>
            <a:picLocks noChangeAspect="1"/>
          </p:cNvPicPr>
          <p:nvPr/>
        </p:nvPicPr>
        <p:blipFill>
          <a:blip r:embed="rId2"/>
          <a:stretch>
            <a:fillRect/>
          </a:stretch>
        </p:blipFill>
        <p:spPr>
          <a:xfrm>
            <a:off x="10637215" y="137160"/>
            <a:ext cx="1371600" cy="384048"/>
          </a:xfrm>
          <a:prstGeom prst="rect">
            <a:avLst/>
          </a:prstGeom>
        </p:spPr>
      </p:pic>
      <p:sp>
        <p:nvSpPr>
          <p:cNvPr id="6" name="Rectangle 5"/>
          <p:cNvSpPr/>
          <p:nvPr/>
        </p:nvSpPr>
        <p:spPr>
          <a:xfrm>
            <a:off x="0" y="6446520"/>
            <a:ext cx="12191695" cy="411480"/>
          </a:xfrm>
          <a:prstGeom prst="rect">
            <a:avLst/>
          </a:prstGeom>
          <a:solidFill>
            <a:srgbClr val="0317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999999"/>
                </a:solidFill>
              </a:defRPr>
            </a:pPr>
            <a:r>
              <a:t>ArcaScience — I-demo Q&amp;A — Confidentiel — Avril 2026          6</a:t>
            </a:r>
          </a:p>
        </p:txBody>
      </p:sp>
      <p:sp>
        <p:nvSpPr>
          <p:cNvPr id="7" name="TextBox 6"/>
          <p:cNvSpPr txBox="1"/>
          <p:nvPr/>
        </p:nvSpPr>
        <p:spPr>
          <a:xfrm>
            <a:off x="548640" y="1965960"/>
            <a:ext cx="11094415" cy="4114800"/>
          </a:xfrm>
          <a:prstGeom prst="rect">
            <a:avLst/>
          </a:prstGeom>
          <a:noFill/>
        </p:spPr>
        <p:txBody>
          <a:bodyPr wrap="square">
            <a:spAutoFit/>
          </a:bodyPr>
          <a:lstStyle/>
          <a:p>
            <a:pPr>
              <a:spcBef>
                <a:spcPts val="400"/>
              </a:spcBef>
              <a:spcAft>
                <a:spcPts val="200"/>
              </a:spcAft>
            </a:pPr>
            <a:r>
              <a:rPr sz="1300" b="1">
                <a:solidFill>
                  <a:srgbClr val="1973C2"/>
                </a:solidFill>
              </a:rPr>
              <a:t>Solution actuelle</a:t>
            </a:r>
          </a:p>
          <a:p>
            <a:pPr lvl="1">
              <a:spcBef>
                <a:spcPts val="100"/>
              </a:spcBef>
              <a:spcAft>
                <a:spcPts val="100"/>
              </a:spcAft>
            </a:pPr>
            <a:r>
              <a:rPr sz="1100">
                <a:solidFill>
                  <a:srgbClr val="434343"/>
                </a:solidFill>
              </a:rPr>
              <a:t>Utilisation de Mistral, déployé sur serveurs GPU hébergés chez Scaleway</a:t>
            </a:r>
          </a:p>
          <a:p>
            <a:pPr>
              <a:spcBef>
                <a:spcPts val="400"/>
              </a:spcBef>
              <a:spcAft>
                <a:spcPts val="0"/>
              </a:spcAft>
            </a:pPr>
          </a:p>
          <a:p>
            <a:pPr>
              <a:spcBef>
                <a:spcPts val="400"/>
              </a:spcBef>
              <a:spcAft>
                <a:spcPts val="200"/>
              </a:spcAft>
            </a:pPr>
            <a:r>
              <a:rPr sz="1300" b="1">
                <a:solidFill>
                  <a:srgbClr val="1973C2"/>
                </a:solidFill>
              </a:rPr>
              <a:t>Trois impératifs</a:t>
            </a:r>
          </a:p>
          <a:p>
            <a:pPr lvl="1">
              <a:spcBef>
                <a:spcPts val="100"/>
              </a:spcBef>
              <a:spcAft>
                <a:spcPts val="100"/>
              </a:spcAft>
            </a:pPr>
            <a:r>
              <a:rPr sz="1100">
                <a:solidFill>
                  <a:srgbClr val="434343"/>
                </a:solidFill>
              </a:rPr>
              <a:t>Souveraineté des données : aucune donnée ne transite par des APIs tierces</a:t>
            </a:r>
          </a:p>
          <a:p>
            <a:pPr lvl="1">
              <a:spcBef>
                <a:spcPts val="100"/>
              </a:spcBef>
              <a:spcAft>
                <a:spcPts val="100"/>
              </a:spcAft>
            </a:pPr>
            <a:r>
              <a:rPr sz="1100">
                <a:solidFill>
                  <a:srgbClr val="434343"/>
                </a:solidFill>
              </a:rPr>
              <a:t>Souveraineté technologique : modèle open-source, pas de dépendance contractuelle</a:t>
            </a:r>
          </a:p>
          <a:p>
            <a:pPr lvl="1">
              <a:spcBef>
                <a:spcPts val="100"/>
              </a:spcBef>
              <a:spcAft>
                <a:spcPts val="100"/>
              </a:spcAft>
            </a:pPr>
            <a:r>
              <a:rPr sz="1100">
                <a:solidFill>
                  <a:srgbClr val="434343"/>
                </a:solidFill>
              </a:rPr>
              <a:t>Flexibilité : évaluation continue des nouveaux modèles (Llama, Gemma, Qwen)</a:t>
            </a:r>
          </a:p>
          <a:p>
            <a:pPr>
              <a:spcBef>
                <a:spcPts val="400"/>
              </a:spcBef>
              <a:spcAft>
                <a:spcPts val="0"/>
              </a:spcAft>
            </a:pPr>
          </a:p>
          <a:p>
            <a:pPr>
              <a:spcBef>
                <a:spcPts val="400"/>
              </a:spcBef>
              <a:spcAft>
                <a:spcPts val="200"/>
              </a:spcAft>
            </a:pPr>
            <a:r>
              <a:rPr sz="1300" b="1">
                <a:solidFill>
                  <a:srgbClr val="1973C2"/>
                </a:solidFill>
              </a:rPr>
              <a:t>Architecture</a:t>
            </a:r>
          </a:p>
          <a:p>
            <a:pPr lvl="1">
              <a:spcBef>
                <a:spcPts val="100"/>
              </a:spcBef>
              <a:spcAft>
                <a:spcPts val="100"/>
              </a:spcAft>
            </a:pPr>
            <a:r>
              <a:rPr sz="1100">
                <a:solidFill>
                  <a:srgbClr val="434343"/>
                </a:solidFill>
              </a:rPr>
              <a:t>Déploiement on-premise sur infrastructure Scaleway</a:t>
            </a:r>
          </a:p>
          <a:p>
            <a:pPr lvl="1">
              <a:spcBef>
                <a:spcPts val="100"/>
              </a:spcBef>
              <a:spcAft>
                <a:spcPts val="100"/>
              </a:spcAft>
            </a:pPr>
            <a:r>
              <a:rPr sz="1100">
                <a:solidFill>
                  <a:srgbClr val="434343"/>
                </a:solidFill>
              </a:rPr>
              <a:t>Capacité d'intégration rapide des modèles les plus performants sans contrainte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7772400" cy="594360"/>
          </a:xfrm>
          <a:prstGeom prst="rect">
            <a:avLst/>
          </a:prstGeom>
          <a:noFill/>
        </p:spPr>
        <p:txBody>
          <a:bodyPr wrap="square">
            <a:spAutoFit/>
          </a:bodyPr>
          <a:lstStyle/>
          <a:p>
            <a:r>
              <a:rPr sz="2200" b="1">
                <a:solidFill>
                  <a:srgbClr val="031734"/>
                </a:solidFill>
              </a:rPr>
              <a:t>Q5 — Transparence des BDD et explicabilité</a:t>
            </a:r>
          </a:p>
        </p:txBody>
      </p:sp>
      <p:sp>
        <p:nvSpPr>
          <p:cNvPr id="3" name="Rounded Rectangle 2"/>
          <p:cNvSpPr/>
          <p:nvPr/>
        </p:nvSpPr>
        <p:spPr>
          <a:xfrm>
            <a:off x="457200" y="777240"/>
            <a:ext cx="11277295" cy="1051560"/>
          </a:xfrm>
          <a:prstGeom prst="roundRect">
            <a:avLst/>
          </a:prstGeom>
          <a:solidFill>
            <a:srgbClr val="E5EB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r>
              <a:rPr sz="1000" i="1">
                <a:solidFill>
                  <a:srgbClr val="031734"/>
                </a:solidFill>
              </a:rPr>
              <a:t>Quelle transparence des BDD (publiques et privées) utilisées par la plateforme auprès des clients/utilisateurs finaux ? La traçabilité des analyses et des prédictions est un argument mis en avant, comment l'explicabilité se traduit-elle pour l'utilisateur ?</a:t>
            </a:r>
          </a:p>
          <a:p>
            <a:r>
              <a:rPr sz="900" i="1">
                <a:solidFill>
                  <a:srgbClr val="999999"/>
                </a:solidFill>
              </a:rPr>
              <a:t>What transparency is provided regarding the databases used? How does explainability translate for the user?</a:t>
            </a:r>
          </a:p>
        </p:txBody>
      </p:sp>
      <p:sp>
        <p:nvSpPr>
          <p:cNvPr id="4" name="Rounded Rectangle 3"/>
          <p:cNvSpPr/>
          <p:nvPr/>
        </p:nvSpPr>
        <p:spPr>
          <a:xfrm>
            <a:off x="9448495" y="137160"/>
            <a:ext cx="1097280" cy="3200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Cross</a:t>
            </a:r>
          </a:p>
        </p:txBody>
      </p:sp>
      <p:pic>
        <p:nvPicPr>
          <p:cNvPr id="5" name="Picture 4" descr="logo_header.png"/>
          <p:cNvPicPr>
            <a:picLocks noChangeAspect="1"/>
          </p:cNvPicPr>
          <p:nvPr/>
        </p:nvPicPr>
        <p:blipFill>
          <a:blip r:embed="rId2"/>
          <a:stretch>
            <a:fillRect/>
          </a:stretch>
        </p:blipFill>
        <p:spPr>
          <a:xfrm>
            <a:off x="10637215" y="137160"/>
            <a:ext cx="1371600" cy="384048"/>
          </a:xfrm>
          <a:prstGeom prst="rect">
            <a:avLst/>
          </a:prstGeom>
        </p:spPr>
      </p:pic>
      <p:sp>
        <p:nvSpPr>
          <p:cNvPr id="6" name="Rectangle 5"/>
          <p:cNvSpPr/>
          <p:nvPr/>
        </p:nvSpPr>
        <p:spPr>
          <a:xfrm>
            <a:off x="0" y="6446520"/>
            <a:ext cx="12191695" cy="411480"/>
          </a:xfrm>
          <a:prstGeom prst="rect">
            <a:avLst/>
          </a:prstGeom>
          <a:solidFill>
            <a:srgbClr val="0317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999999"/>
                </a:solidFill>
              </a:defRPr>
            </a:pPr>
            <a:r>
              <a:t>ArcaScience — I-demo Q&amp;A — Confidentiel — Avril 2026          7</a:t>
            </a:r>
          </a:p>
        </p:txBody>
      </p:sp>
      <p:sp>
        <p:nvSpPr>
          <p:cNvPr id="7" name="TextBox 6"/>
          <p:cNvSpPr txBox="1"/>
          <p:nvPr/>
        </p:nvSpPr>
        <p:spPr>
          <a:xfrm>
            <a:off x="548640" y="1965960"/>
            <a:ext cx="11094415" cy="2286000"/>
          </a:xfrm>
          <a:prstGeom prst="rect">
            <a:avLst/>
          </a:prstGeom>
          <a:noFill/>
        </p:spPr>
        <p:txBody>
          <a:bodyPr wrap="square">
            <a:spAutoFit/>
          </a:bodyPr>
          <a:lstStyle/>
          <a:p>
            <a:pPr>
              <a:spcBef>
                <a:spcPts val="400"/>
              </a:spcBef>
              <a:spcAft>
                <a:spcPts val="200"/>
              </a:spcAft>
            </a:pPr>
            <a:r>
              <a:rPr sz="1300" b="1">
                <a:solidFill>
                  <a:srgbClr val="1973C2"/>
                </a:solidFill>
              </a:rPr>
              <a:t>Explicabilité des modèles (VS)</a:t>
            </a:r>
          </a:p>
          <a:p>
            <a:pPr lvl="1">
              <a:spcBef>
                <a:spcPts val="100"/>
              </a:spcBef>
              <a:spcAft>
                <a:spcPts val="100"/>
              </a:spcAft>
            </a:pPr>
            <a:r>
              <a:rPr sz="1100">
                <a:solidFill>
                  <a:srgbClr val="434343"/>
                </a:solidFill>
              </a:rPr>
              <a:t>Essentielle dans la construction des modèles : vérification de cohérence</a:t>
            </a:r>
          </a:p>
          <a:p>
            <a:pPr lvl="1">
              <a:spcBef>
                <a:spcPts val="100"/>
              </a:spcBef>
              <a:spcAft>
                <a:spcPts val="100"/>
              </a:spcAft>
            </a:pPr>
            <a:r>
              <a:rPr sz="1100">
                <a:solidFill>
                  <a:srgbClr val="434343"/>
                </a:solidFill>
              </a:rPr>
              <a:t>Validation des relations entre mécanismes et outputs (efficacité / toxicité)</a:t>
            </a:r>
          </a:p>
          <a:p>
            <a:pPr lvl="1">
              <a:spcBef>
                <a:spcPts val="100"/>
              </a:spcBef>
              <a:spcAft>
                <a:spcPts val="100"/>
              </a:spcAft>
            </a:pPr>
            <a:r>
              <a:rPr sz="1100">
                <a:solidFill>
                  <a:srgbClr val="434343"/>
                </a:solidFill>
              </a:rPr>
              <a:t>Modèle explicable et validé = plus robuste qu'un modèle « black-box »</a:t>
            </a:r>
          </a:p>
          <a:p>
            <a:pPr>
              <a:spcBef>
                <a:spcPts val="400"/>
              </a:spcBef>
              <a:spcAft>
                <a:spcPts val="0"/>
              </a:spcAft>
            </a:pPr>
          </a:p>
          <a:p>
            <a:pPr>
              <a:spcBef>
                <a:spcPts val="400"/>
              </a:spcBef>
              <a:spcAft>
                <a:spcPts val="200"/>
              </a:spcAft>
            </a:pPr>
            <a:r>
              <a:rPr sz="1300" b="1">
                <a:solidFill>
                  <a:srgbClr val="1973C2"/>
                </a:solidFill>
              </a:rPr>
              <a:t>Côté utilisateur final</a:t>
            </a:r>
          </a:p>
          <a:p>
            <a:pPr lvl="1">
              <a:spcBef>
                <a:spcPts val="100"/>
              </a:spcBef>
              <a:spcAft>
                <a:spcPts val="100"/>
              </a:spcAft>
            </a:pPr>
            <a:r>
              <a:rPr sz="1100">
                <a:solidFill>
                  <a:srgbClr val="434343"/>
                </a:solidFill>
              </a:rPr>
              <a:t>Éléments mécanistiques explicables consultables à tout moment</a:t>
            </a:r>
          </a:p>
          <a:p>
            <a:pPr lvl="1">
              <a:spcBef>
                <a:spcPts val="100"/>
              </a:spcBef>
              <a:spcAft>
                <a:spcPts val="100"/>
              </a:spcAft>
            </a:pPr>
            <a:r>
              <a:rPr sz="1100">
                <a:solidFill>
                  <a:srgbClr val="434343"/>
                </a:solidFill>
              </a:rPr>
              <a:t>Essentiel = performance prédictive : VPP et VPN pour les applications d'intérêt</a:t>
            </a:r>
          </a:p>
        </p:txBody>
      </p:sp>
      <p:sp>
        <p:nvSpPr>
          <p:cNvPr id="8" name="Rounded Rectangle 7"/>
          <p:cNvSpPr/>
          <p:nvPr/>
        </p:nvSpPr>
        <p:spPr>
          <a:xfrm>
            <a:off x="548640" y="4206240"/>
            <a:ext cx="11094415" cy="2011680"/>
          </a:xfrm>
          <a:prstGeom prst="roundRect">
            <a:avLst/>
          </a:prstGeom>
          <a:solidFill>
            <a:srgbClr val="FFF8E1"/>
          </a:solidFill>
          <a:ln w="19050">
            <a:solidFill>
              <a:srgbClr val="FFAB4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r>
              <a:rPr sz="1000" b="1">
                <a:solidFill>
                  <a:srgbClr val="FFAB40"/>
                </a:solidFill>
              </a:rPr>
              <a:t>DRAFT — à valider par VS / Théo</a:t>
            </a:r>
          </a:p>
          <a:p>
            <a:r>
              <a:rPr sz="1000">
                <a:solidFill>
                  <a:srgbClr val="434343"/>
                </a:solidFill>
              </a:rPr>
              <a:t>Bases de données utilisées :
• Publiques : ChEMBL, PubMed, MEDLINE, ClinicalTrials.gov, FAERS, DisGeNET, PharmGKB, ClinVar, ToxCast, WITHDRAWN
• Privées/partenaires : Sanofi (données internes), Cedars-Sinai (EDS), Mayo Clinic (EDS), ICM (cohortes)
Explicabilité par couche :
• SLM : provenance documentaire de chaque extraction
• KG (WP5) : provenance au niveau de chaque arête, score de confiance, niveau de preuve
• WP6 : SHAP values, attention weights, explications en langage naturel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7772400" cy="594360"/>
          </a:xfrm>
          <a:prstGeom prst="rect">
            <a:avLst/>
          </a:prstGeom>
          <a:noFill/>
        </p:spPr>
        <p:txBody>
          <a:bodyPr wrap="square">
            <a:spAutoFit/>
          </a:bodyPr>
          <a:lstStyle/>
          <a:p>
            <a:r>
              <a:rPr sz="2200" b="1">
                <a:solidFill>
                  <a:srgbClr val="031734"/>
                </a:solidFill>
              </a:rPr>
              <a:t>Q6 — Problématiques de Trustworthy AI</a:t>
            </a:r>
          </a:p>
        </p:txBody>
      </p:sp>
      <p:sp>
        <p:nvSpPr>
          <p:cNvPr id="3" name="Rounded Rectangle 2"/>
          <p:cNvSpPr/>
          <p:nvPr/>
        </p:nvSpPr>
        <p:spPr>
          <a:xfrm>
            <a:off x="457200" y="777240"/>
            <a:ext cx="11277295" cy="1051560"/>
          </a:xfrm>
          <a:prstGeom prst="roundRect">
            <a:avLst/>
          </a:prstGeom>
          <a:solidFill>
            <a:srgbClr val="E5EB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r>
              <a:rPr sz="1000" i="1">
                <a:solidFill>
                  <a:srgbClr val="031734"/>
                </a:solidFill>
              </a:rPr>
              <a:t>Comment sont adressées les problématiques de trustworthy AI ?</a:t>
            </a:r>
          </a:p>
          <a:p>
            <a:r>
              <a:rPr sz="900" i="1">
                <a:solidFill>
                  <a:srgbClr val="999999"/>
                </a:solidFill>
              </a:rPr>
              <a:t>How are trustworthy AI issues addressed?</a:t>
            </a:r>
          </a:p>
        </p:txBody>
      </p:sp>
      <p:sp>
        <p:nvSpPr>
          <p:cNvPr id="4" name="Rounded Rectangle 3"/>
          <p:cNvSpPr/>
          <p:nvPr/>
        </p:nvSpPr>
        <p:spPr>
          <a:xfrm>
            <a:off x="9448495" y="137160"/>
            <a:ext cx="1097280" cy="320040"/>
          </a:xfrm>
          <a:prstGeom prst="roundRect">
            <a:avLst/>
          </a:prstGeom>
          <a:solidFill>
            <a:srgbClr val="E5393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WP6</a:t>
            </a:r>
          </a:p>
        </p:txBody>
      </p:sp>
      <p:pic>
        <p:nvPicPr>
          <p:cNvPr id="5" name="Picture 4" descr="logo_header.png"/>
          <p:cNvPicPr>
            <a:picLocks noChangeAspect="1"/>
          </p:cNvPicPr>
          <p:nvPr/>
        </p:nvPicPr>
        <p:blipFill>
          <a:blip r:embed="rId2"/>
          <a:stretch>
            <a:fillRect/>
          </a:stretch>
        </p:blipFill>
        <p:spPr>
          <a:xfrm>
            <a:off x="10637215" y="137160"/>
            <a:ext cx="1371600" cy="384048"/>
          </a:xfrm>
          <a:prstGeom prst="rect">
            <a:avLst/>
          </a:prstGeom>
        </p:spPr>
      </p:pic>
      <p:sp>
        <p:nvSpPr>
          <p:cNvPr id="6" name="Rectangle 5"/>
          <p:cNvSpPr/>
          <p:nvPr/>
        </p:nvSpPr>
        <p:spPr>
          <a:xfrm>
            <a:off x="0" y="6446520"/>
            <a:ext cx="12191695" cy="411480"/>
          </a:xfrm>
          <a:prstGeom prst="rect">
            <a:avLst/>
          </a:prstGeom>
          <a:solidFill>
            <a:srgbClr val="0317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999999"/>
                </a:solidFill>
              </a:defRPr>
            </a:pPr>
            <a:r>
              <a:t>ArcaScience — I-demo Q&amp;A — Confidentiel — Avril 2026          8</a:t>
            </a:r>
          </a:p>
        </p:txBody>
      </p:sp>
      <p:sp>
        <p:nvSpPr>
          <p:cNvPr id="7" name="TextBox 6"/>
          <p:cNvSpPr txBox="1"/>
          <p:nvPr/>
        </p:nvSpPr>
        <p:spPr>
          <a:xfrm>
            <a:off x="548640" y="1965960"/>
            <a:ext cx="11094415" cy="2286000"/>
          </a:xfrm>
          <a:prstGeom prst="rect">
            <a:avLst/>
          </a:prstGeom>
          <a:noFill/>
        </p:spPr>
        <p:txBody>
          <a:bodyPr wrap="square">
            <a:spAutoFit/>
          </a:bodyPr>
          <a:lstStyle/>
          <a:p>
            <a:pPr>
              <a:spcBef>
                <a:spcPts val="400"/>
              </a:spcBef>
              <a:spcAft>
                <a:spcPts val="200"/>
              </a:spcAft>
            </a:pPr>
            <a:r>
              <a:rPr sz="1300" b="1">
                <a:solidFill>
                  <a:srgbClr val="1973C2"/>
                </a:solidFill>
              </a:rPr>
              <a:t>Explicabilité</a:t>
            </a:r>
          </a:p>
          <a:p>
            <a:pPr lvl="1">
              <a:spcBef>
                <a:spcPts val="100"/>
              </a:spcBef>
              <a:spcAft>
                <a:spcPts val="100"/>
              </a:spcAft>
            </a:pPr>
            <a:r>
              <a:rPr sz="1100">
                <a:solidFill>
                  <a:srgbClr val="434343"/>
                </a:solidFill>
              </a:rPr>
              <a:t>SHAP, attention weights, explications en langage naturel (WP6)</a:t>
            </a:r>
          </a:p>
          <a:p>
            <a:pPr>
              <a:spcBef>
                <a:spcPts val="400"/>
              </a:spcBef>
              <a:spcAft>
                <a:spcPts val="0"/>
              </a:spcAft>
            </a:pPr>
          </a:p>
          <a:p>
            <a:pPr>
              <a:spcBef>
                <a:spcPts val="400"/>
              </a:spcBef>
              <a:spcAft>
                <a:spcPts val="200"/>
              </a:spcAft>
            </a:pPr>
            <a:r>
              <a:rPr sz="1300" b="1">
                <a:solidFill>
                  <a:srgbClr val="1973C2"/>
                </a:solidFill>
              </a:rPr>
              <a:t>Traçabilité</a:t>
            </a:r>
          </a:p>
          <a:p>
            <a:pPr lvl="1">
              <a:spcBef>
                <a:spcPts val="100"/>
              </a:spcBef>
              <a:spcAft>
                <a:spcPts val="100"/>
              </a:spcAft>
            </a:pPr>
            <a:r>
              <a:rPr sz="1100">
                <a:solidFill>
                  <a:srgbClr val="434343"/>
                </a:solidFill>
              </a:rPr>
              <a:t>MLflow pour versioning ; provenance au niveau des arêtes KG ; audit trail via API</a:t>
            </a:r>
          </a:p>
          <a:p>
            <a:pPr>
              <a:spcBef>
                <a:spcPts val="400"/>
              </a:spcBef>
              <a:spcAft>
                <a:spcPts val="0"/>
              </a:spcAft>
            </a:pPr>
          </a:p>
          <a:p>
            <a:pPr>
              <a:spcBef>
                <a:spcPts val="400"/>
              </a:spcBef>
              <a:spcAft>
                <a:spcPts val="200"/>
              </a:spcAft>
            </a:pPr>
            <a:r>
              <a:rPr sz="1300" b="1">
                <a:solidFill>
                  <a:srgbClr val="1973C2"/>
                </a:solidFill>
              </a:rPr>
              <a:t>Quantification de l'incertitude</a:t>
            </a:r>
          </a:p>
          <a:p>
            <a:pPr lvl="1">
              <a:spcBef>
                <a:spcPts val="100"/>
              </a:spcBef>
              <a:spcAft>
                <a:spcPts val="100"/>
              </a:spcAft>
            </a:pPr>
            <a:r>
              <a:rPr sz="1100">
                <a:solidFill>
                  <a:srgbClr val="434343"/>
                </a:solidFill>
              </a:rPr>
              <a:t>Variance inter-modèles (ensemble), OOD detection, intervalles de confiance explicites (T6.4)</a:t>
            </a:r>
          </a:p>
          <a:p>
            <a:pPr>
              <a:spcBef>
                <a:spcPts val="400"/>
              </a:spcBef>
              <a:spcAft>
                <a:spcPts val="0"/>
              </a:spcAft>
            </a:pPr>
          </a:p>
          <a:p>
            <a:pPr>
              <a:spcBef>
                <a:spcPts val="400"/>
              </a:spcBef>
              <a:spcAft>
                <a:spcPts val="200"/>
              </a:spcAft>
            </a:pPr>
            <a:r>
              <a:rPr sz="1300" b="1">
                <a:solidFill>
                  <a:srgbClr val="1973C2"/>
                </a:solidFill>
              </a:rPr>
              <a:t>Conformité réglementaire</a:t>
            </a:r>
          </a:p>
          <a:p>
            <a:pPr lvl="1">
              <a:spcBef>
                <a:spcPts val="100"/>
              </a:spcBef>
              <a:spcAft>
                <a:spcPts val="100"/>
              </a:spcAft>
            </a:pPr>
            <a:r>
              <a:rPr sz="1100">
                <a:solidFill>
                  <a:srgbClr val="434343"/>
                </a:solidFill>
              </a:rPr>
              <a:t>Architecture compatible ICH E2C(R2) et CIOMS XII ; alignement FDA, EMA, PMDA</a:t>
            </a:r>
          </a:p>
          <a:p>
            <a:pPr>
              <a:spcBef>
                <a:spcPts val="400"/>
              </a:spcBef>
              <a:spcAft>
                <a:spcPts val="0"/>
              </a:spcAft>
            </a:pPr>
          </a:p>
          <a:p>
            <a:pPr>
              <a:spcBef>
                <a:spcPts val="400"/>
              </a:spcBef>
              <a:spcAft>
                <a:spcPts val="200"/>
              </a:spcAft>
            </a:pPr>
            <a:r>
              <a:rPr sz="1300" b="1">
                <a:solidFill>
                  <a:srgbClr val="1973C2"/>
                </a:solidFill>
              </a:rPr>
              <a:t>Positionnement éthique</a:t>
            </a:r>
          </a:p>
          <a:p>
            <a:pPr lvl="1">
              <a:spcBef>
                <a:spcPts val="100"/>
              </a:spcBef>
              <a:spcAft>
                <a:spcPts val="100"/>
              </a:spcAft>
            </a:pPr>
            <a:r>
              <a:rPr sz="1100">
                <a:solidFill>
                  <a:srgbClr val="434343"/>
                </a:solidFill>
              </a:rPr>
              <a:t>Outil d'aide à la décision (usage pharma R&amp;D), non dispositif médical</a:t>
            </a:r>
          </a:p>
          <a:p>
            <a:pPr>
              <a:spcBef>
                <a:spcPts val="400"/>
              </a:spcBef>
              <a:spcAft>
                <a:spcPts val="0"/>
              </a:spcAft>
            </a:pPr>
          </a:p>
          <a:p>
            <a:pPr>
              <a:spcBef>
                <a:spcPts val="400"/>
              </a:spcBef>
              <a:spcAft>
                <a:spcPts val="200"/>
              </a:spcAft>
            </a:pPr>
            <a:r>
              <a:rPr sz="1300" b="1">
                <a:solidFill>
                  <a:srgbClr val="1973C2"/>
                </a:solidFill>
              </a:rPr>
              <a:t>Gouvernance des données</a:t>
            </a:r>
          </a:p>
          <a:p>
            <a:pPr lvl="1">
              <a:spcBef>
                <a:spcPts val="100"/>
              </a:spcBef>
              <a:spcAft>
                <a:spcPts val="100"/>
              </a:spcAft>
            </a:pPr>
            <a:r>
              <a:rPr sz="1100">
                <a:solidFill>
                  <a:srgbClr val="434343"/>
                </a:solidFill>
              </a:rPr>
              <a:t>Accords institutionnels, dé-identification des données, approbations comités d'éthique (WP4)</a:t>
            </a:r>
          </a:p>
        </p:txBody>
      </p:sp>
      <p:sp>
        <p:nvSpPr>
          <p:cNvPr id="8" name="Rounded Rectangle 7"/>
          <p:cNvSpPr/>
          <p:nvPr/>
        </p:nvSpPr>
        <p:spPr>
          <a:xfrm>
            <a:off x="548640" y="4206240"/>
            <a:ext cx="11094415" cy="2011680"/>
          </a:xfrm>
          <a:prstGeom prst="roundRect">
            <a:avLst/>
          </a:prstGeom>
          <a:solidFill>
            <a:srgbClr val="FFF8E1"/>
          </a:solidFill>
          <a:ln w="19050">
            <a:solidFill>
              <a:srgbClr val="FFAB4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r>
              <a:rPr sz="1000" b="1">
                <a:solidFill>
                  <a:srgbClr val="FFAB40"/>
                </a:solidFill>
              </a:rPr>
              <a:t>DRAFT — à valider par VS / Théo</a:t>
            </a:r>
          </a:p>
          <a:p>
            <a:r>
              <a:rPr sz="1000">
                <a:solidFill>
                  <a:srgbClr val="434343"/>
                </a:solidFill>
              </a:rPr>
              <a:t>Framework RAISE — mapping des piliers :
• Accountable : MLflow audit trail, provenance KG, comité scientifique
• Fair &amp; Ethical : dé-identification, détection biais ethniques (WP3), biais de publication (WP2)
• Robust &amp; Safe : ensemble models, OOD detection, validation multi-niveaux, plan de mitigation par WP
• Transparent &amp; Explainable : SHAP, Mental Map (T6.5), explications en langage naturel
• Eco-Responsible : optimisation architectures attention-free (T6.1), overhead &lt;30%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7772400" cy="594360"/>
          </a:xfrm>
          <a:prstGeom prst="rect">
            <a:avLst/>
          </a:prstGeom>
          <a:noFill/>
        </p:spPr>
        <p:txBody>
          <a:bodyPr wrap="square">
            <a:spAutoFit/>
          </a:bodyPr>
          <a:lstStyle/>
          <a:p>
            <a:r>
              <a:rPr sz="2200" b="1">
                <a:solidFill>
                  <a:srgbClr val="031734"/>
                </a:solidFill>
              </a:rPr>
              <a:t>Q7 — Détection et correction des biais</a:t>
            </a:r>
          </a:p>
        </p:txBody>
      </p:sp>
      <p:sp>
        <p:nvSpPr>
          <p:cNvPr id="3" name="Rounded Rectangle 2"/>
          <p:cNvSpPr/>
          <p:nvPr/>
        </p:nvSpPr>
        <p:spPr>
          <a:xfrm>
            <a:off x="457200" y="777240"/>
            <a:ext cx="11277295" cy="1051560"/>
          </a:xfrm>
          <a:prstGeom prst="roundRect">
            <a:avLst/>
          </a:prstGeom>
          <a:solidFill>
            <a:srgbClr val="E5EB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r>
              <a:rPr sz="1000" i="1">
                <a:solidFill>
                  <a:srgbClr val="031734"/>
                </a:solidFill>
              </a:rPr>
              <a:t>Quelle est la stratégie pour détecter et corriger les biais dans le World Model ? Comment est-ce qu'elle s'intègre dans le planning du projet ?</a:t>
            </a:r>
          </a:p>
          <a:p>
            <a:r>
              <a:rPr sz="900" i="1">
                <a:solidFill>
                  <a:srgbClr val="999999"/>
                </a:solidFill>
              </a:rPr>
              <a:t>What is the strategy for detecting and correcting biases in the World Model? How does it fit into the project timeline?</a:t>
            </a:r>
          </a:p>
        </p:txBody>
      </p:sp>
      <p:sp>
        <p:nvSpPr>
          <p:cNvPr id="4" name="Rounded Rectangle 3"/>
          <p:cNvSpPr/>
          <p:nvPr/>
        </p:nvSpPr>
        <p:spPr>
          <a:xfrm>
            <a:off x="9448495" y="137160"/>
            <a:ext cx="1097280" cy="320040"/>
          </a:xfrm>
          <a:prstGeom prst="roundRect">
            <a:avLst/>
          </a:prstGeom>
          <a:solidFill>
            <a:srgbClr val="E5393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WP6</a:t>
            </a:r>
          </a:p>
        </p:txBody>
      </p:sp>
      <p:pic>
        <p:nvPicPr>
          <p:cNvPr id="5" name="Picture 4" descr="logo_header.png"/>
          <p:cNvPicPr>
            <a:picLocks noChangeAspect="1"/>
          </p:cNvPicPr>
          <p:nvPr/>
        </p:nvPicPr>
        <p:blipFill>
          <a:blip r:embed="rId2"/>
          <a:stretch>
            <a:fillRect/>
          </a:stretch>
        </p:blipFill>
        <p:spPr>
          <a:xfrm>
            <a:off x="10637215" y="137160"/>
            <a:ext cx="1371600" cy="384048"/>
          </a:xfrm>
          <a:prstGeom prst="rect">
            <a:avLst/>
          </a:prstGeom>
        </p:spPr>
      </p:pic>
      <p:sp>
        <p:nvSpPr>
          <p:cNvPr id="6" name="Rectangle 5"/>
          <p:cNvSpPr/>
          <p:nvPr/>
        </p:nvSpPr>
        <p:spPr>
          <a:xfrm>
            <a:off x="0" y="6446520"/>
            <a:ext cx="12191695" cy="411480"/>
          </a:xfrm>
          <a:prstGeom prst="rect">
            <a:avLst/>
          </a:prstGeom>
          <a:solidFill>
            <a:srgbClr val="0317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999999"/>
                </a:solidFill>
              </a:defRPr>
            </a:pPr>
            <a:r>
              <a:t>ArcaScience — I-demo Q&amp;A — Confidentiel — Avril 2026          9</a:t>
            </a:r>
          </a:p>
        </p:txBody>
      </p:sp>
      <p:sp>
        <p:nvSpPr>
          <p:cNvPr id="7" name="TextBox 6"/>
          <p:cNvSpPr txBox="1"/>
          <p:nvPr/>
        </p:nvSpPr>
        <p:spPr>
          <a:xfrm>
            <a:off x="548640" y="1965960"/>
            <a:ext cx="11094415" cy="4114800"/>
          </a:xfrm>
          <a:prstGeom prst="rect">
            <a:avLst/>
          </a:prstGeom>
          <a:noFill/>
        </p:spPr>
        <p:txBody>
          <a:bodyPr wrap="square">
            <a:spAutoFit/>
          </a:bodyPr>
          <a:lstStyle/>
          <a:p>
            <a:pPr>
              <a:spcBef>
                <a:spcPts val="400"/>
              </a:spcBef>
              <a:spcAft>
                <a:spcPts val="200"/>
              </a:spcAft>
            </a:pPr>
            <a:r>
              <a:rPr sz="1300" b="1">
                <a:solidFill>
                  <a:srgbClr val="1973C2"/>
                </a:solidFill>
              </a:rPr>
              <a:t>Biais identifiés</a:t>
            </a:r>
          </a:p>
          <a:p>
            <a:pPr lvl="1">
              <a:spcBef>
                <a:spcPts val="100"/>
              </a:spcBef>
              <a:spcAft>
                <a:spcPts val="100"/>
              </a:spcAft>
            </a:pPr>
            <a:r>
              <a:rPr sz="1100">
                <a:solidFill>
                  <a:srgbClr val="434343"/>
                </a:solidFill>
              </a:rPr>
              <a:t>Biais de publication (WP2) — sous-représentation des résultats négatifs</a:t>
            </a:r>
          </a:p>
          <a:p>
            <a:pPr lvl="1">
              <a:spcBef>
                <a:spcPts val="100"/>
              </a:spcBef>
              <a:spcAft>
                <a:spcPts val="100"/>
              </a:spcAft>
            </a:pPr>
            <a:r>
              <a:rPr sz="1100">
                <a:solidFill>
                  <a:srgbClr val="434343"/>
                </a:solidFill>
              </a:rPr>
              <a:t>Biais de sélection d'efficacité (WP2)</a:t>
            </a:r>
          </a:p>
          <a:p>
            <a:pPr lvl="1">
              <a:spcBef>
                <a:spcPts val="100"/>
              </a:spcBef>
              <a:spcAft>
                <a:spcPts val="100"/>
              </a:spcAft>
            </a:pPr>
            <a:r>
              <a:rPr sz="1100">
                <a:solidFill>
                  <a:srgbClr val="434343"/>
                </a:solidFill>
              </a:rPr>
              <a:t>Biais de représentation ethnique dans les cohortes génomiques (WP3)</a:t>
            </a:r>
          </a:p>
          <a:p>
            <a:pPr lvl="1">
              <a:spcBef>
                <a:spcPts val="100"/>
              </a:spcBef>
              <a:spcAft>
                <a:spcPts val="100"/>
              </a:spcAft>
            </a:pPr>
            <a:r>
              <a:rPr sz="1100">
                <a:solidFill>
                  <a:srgbClr val="434343"/>
                </a:solidFill>
              </a:rPr>
              <a:t>Sous-déclaration dans les données RWE / FAERS (WP4)</a:t>
            </a:r>
          </a:p>
          <a:p>
            <a:pPr lvl="1">
              <a:spcBef>
                <a:spcPts val="100"/>
              </a:spcBef>
              <a:spcAft>
                <a:spcPts val="100"/>
              </a:spcAft>
            </a:pPr>
            <a:r>
              <a:rPr sz="1100">
                <a:solidFill>
                  <a:srgbClr val="434343"/>
                </a:solidFill>
              </a:rPr>
              <a:t>Biais des études publiées affectant la qualité des modèles (cross-WP)</a:t>
            </a:r>
          </a:p>
          <a:p>
            <a:pPr>
              <a:spcBef>
                <a:spcPts val="400"/>
              </a:spcBef>
              <a:spcAft>
                <a:spcPts val="0"/>
              </a:spcAft>
            </a:pPr>
          </a:p>
          <a:p>
            <a:pPr>
              <a:spcBef>
                <a:spcPts val="400"/>
              </a:spcBef>
              <a:spcAft>
                <a:spcPts val="200"/>
              </a:spcAft>
            </a:pPr>
            <a:r>
              <a:rPr sz="1300" b="1">
                <a:solidFill>
                  <a:srgbClr val="1973C2"/>
                </a:solidFill>
              </a:rPr>
              <a:t>Stratégie de correction</a:t>
            </a:r>
          </a:p>
          <a:p>
            <a:pPr lvl="1">
              <a:spcBef>
                <a:spcPts val="100"/>
              </a:spcBef>
              <a:spcAft>
                <a:spcPts val="100"/>
              </a:spcAft>
            </a:pPr>
            <a:r>
              <a:rPr sz="1100">
                <a:solidFill>
                  <a:srgbClr val="434343"/>
                </a:solidFill>
              </a:rPr>
              <a:t>Audit Knowledge Graph (WP5) : détection de contradictions entre relations</a:t>
            </a:r>
          </a:p>
          <a:p>
            <a:pPr lvl="1">
              <a:spcBef>
                <a:spcPts val="100"/>
              </a:spcBef>
              <a:spcAft>
                <a:spcPts val="100"/>
              </a:spcAft>
            </a:pPr>
            <a:r>
              <a:rPr sz="1100">
                <a:solidFill>
                  <a:srgbClr val="434343"/>
                </a:solidFill>
              </a:rPr>
              <a:t>Détection hors-distribution (OOD) : avertissements explicites en zone d'extrapolation</a:t>
            </a:r>
          </a:p>
          <a:p>
            <a:pPr lvl="1">
              <a:spcBef>
                <a:spcPts val="100"/>
              </a:spcBef>
              <a:spcAft>
                <a:spcPts val="100"/>
              </a:spcAft>
            </a:pPr>
            <a:r>
              <a:rPr sz="1100">
                <a:solidFill>
                  <a:srgbClr val="434343"/>
                </a:solidFill>
              </a:rPr>
              <a:t>Monitoring prospectif continu avec partenaires (T6.6)</a:t>
            </a:r>
          </a:p>
          <a:p>
            <a:pPr lvl="1">
              <a:spcBef>
                <a:spcPts val="100"/>
              </a:spcBef>
              <a:spcAft>
                <a:spcPts val="100"/>
              </a:spcAft>
            </a:pPr>
            <a:r>
              <a:rPr sz="1100">
                <a:solidFill>
                  <a:srgbClr val="434343"/>
                </a:solidFill>
              </a:rPr>
              <a:t>Détection de contradictions via KG comme contrôle qualité</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7772400" cy="594360"/>
          </a:xfrm>
          <a:prstGeom prst="rect">
            <a:avLst/>
          </a:prstGeom>
          <a:noFill/>
        </p:spPr>
        <p:txBody>
          <a:bodyPr wrap="square">
            <a:spAutoFit/>
          </a:bodyPr>
          <a:lstStyle/>
          <a:p>
            <a:r>
              <a:rPr sz="2200" b="1">
                <a:solidFill>
                  <a:srgbClr val="031734"/>
                </a:solidFill>
              </a:rPr>
              <a:t>Q8 — Validation Golden Standard</a:t>
            </a:r>
          </a:p>
        </p:txBody>
      </p:sp>
      <p:sp>
        <p:nvSpPr>
          <p:cNvPr id="3" name="Rounded Rectangle 2"/>
          <p:cNvSpPr/>
          <p:nvPr/>
        </p:nvSpPr>
        <p:spPr>
          <a:xfrm>
            <a:off x="457200" y="777240"/>
            <a:ext cx="11277295" cy="1051560"/>
          </a:xfrm>
          <a:prstGeom prst="roundRect">
            <a:avLst/>
          </a:prstGeom>
          <a:solidFill>
            <a:srgbClr val="E5EB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r>
              <a:rPr sz="1000" i="1">
                <a:solidFill>
                  <a:srgbClr val="031734"/>
                </a:solidFill>
              </a:rPr>
              <a:t>Concernant la validation des modèles avec un golden standard, de quel dataset s'agit-il ? (ex. p32)</a:t>
            </a:r>
          </a:p>
          <a:p>
            <a:r>
              <a:rPr sz="900" i="1">
                <a:solidFill>
                  <a:srgbClr val="999999"/>
                </a:solidFill>
              </a:rPr>
              <a:t>Regarding model validation with a golden standard, which dataset is this?</a:t>
            </a:r>
          </a:p>
        </p:txBody>
      </p:sp>
      <p:sp>
        <p:nvSpPr>
          <p:cNvPr id="4" name="Rounded Rectangle 3"/>
          <p:cNvSpPr/>
          <p:nvPr/>
        </p:nvSpPr>
        <p:spPr>
          <a:xfrm>
            <a:off x="9448495" y="137160"/>
            <a:ext cx="1097280" cy="3200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Cross</a:t>
            </a:r>
          </a:p>
        </p:txBody>
      </p:sp>
      <p:pic>
        <p:nvPicPr>
          <p:cNvPr id="5" name="Picture 4" descr="logo_header.png"/>
          <p:cNvPicPr>
            <a:picLocks noChangeAspect="1"/>
          </p:cNvPicPr>
          <p:nvPr/>
        </p:nvPicPr>
        <p:blipFill>
          <a:blip r:embed="rId2"/>
          <a:stretch>
            <a:fillRect/>
          </a:stretch>
        </p:blipFill>
        <p:spPr>
          <a:xfrm>
            <a:off x="10637215" y="137160"/>
            <a:ext cx="1371600" cy="384048"/>
          </a:xfrm>
          <a:prstGeom prst="rect">
            <a:avLst/>
          </a:prstGeom>
        </p:spPr>
      </p:pic>
      <p:sp>
        <p:nvSpPr>
          <p:cNvPr id="6" name="Rectangle 5"/>
          <p:cNvSpPr/>
          <p:nvPr/>
        </p:nvSpPr>
        <p:spPr>
          <a:xfrm>
            <a:off x="0" y="6446520"/>
            <a:ext cx="12191695" cy="411480"/>
          </a:xfrm>
          <a:prstGeom prst="rect">
            <a:avLst/>
          </a:prstGeom>
          <a:solidFill>
            <a:srgbClr val="0317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999999"/>
                </a:solidFill>
              </a:defRPr>
            </a:pPr>
            <a:r>
              <a:t>ArcaScience — I-demo Q&amp;A — Confidentiel — Avril 2026          10</a:t>
            </a:r>
          </a:p>
        </p:txBody>
      </p:sp>
      <p:sp>
        <p:nvSpPr>
          <p:cNvPr id="7" name="TextBox 6"/>
          <p:cNvSpPr txBox="1"/>
          <p:nvPr/>
        </p:nvSpPr>
        <p:spPr>
          <a:xfrm>
            <a:off x="457200" y="1965960"/>
            <a:ext cx="5303520" cy="3657600"/>
          </a:xfrm>
          <a:prstGeom prst="rect">
            <a:avLst/>
          </a:prstGeom>
          <a:noFill/>
        </p:spPr>
        <p:txBody>
          <a:bodyPr wrap="square">
            <a:spAutoFit/>
          </a:bodyPr>
          <a:lstStyle/>
          <a:p>
            <a:pPr>
              <a:spcBef>
                <a:spcPts val="400"/>
              </a:spcBef>
              <a:spcAft>
                <a:spcPts val="200"/>
              </a:spcAft>
            </a:pPr>
            <a:r>
              <a:rPr sz="1300" b="1">
                <a:solidFill>
                  <a:srgbClr val="1973C2"/>
                </a:solidFill>
              </a:rPr>
              <a:t>Qualité Gold Standard</a:t>
            </a:r>
          </a:p>
          <a:p>
            <a:pPr lvl="1">
              <a:spcBef>
                <a:spcPts val="100"/>
              </a:spcBef>
              <a:spcAft>
                <a:spcPts val="100"/>
              </a:spcAft>
            </a:pPr>
            <a:r>
              <a:rPr sz="1100">
                <a:solidFill>
                  <a:srgbClr val="434343"/>
                </a:solidFill>
              </a:rPr>
              <a:t>Données cliniques vérifiées par ARC qualifiés, critères diagnostiques selon référentiels récents</a:t>
            </a:r>
          </a:p>
          <a:p>
            <a:pPr lvl="1">
              <a:spcBef>
                <a:spcPts val="100"/>
              </a:spcBef>
              <a:spcAft>
                <a:spcPts val="100"/>
              </a:spcAft>
            </a:pPr>
            <a:r>
              <a:rPr sz="1100">
                <a:solidFill>
                  <a:srgbClr val="434343"/>
                </a:solidFill>
              </a:rPr>
              <a:t>Données manquantes &lt;10%, stratégie claire d'imputation</a:t>
            </a:r>
          </a:p>
          <a:p>
            <a:pPr lvl="1">
              <a:spcBef>
                <a:spcPts val="100"/>
              </a:spcBef>
              <a:spcAft>
                <a:spcPts val="100"/>
              </a:spcAft>
            </a:pPr>
            <a:r>
              <a:rPr sz="1100">
                <a:solidFill>
                  <a:srgbClr val="434343"/>
                </a:solidFill>
              </a:rPr>
              <a:t>Contrôles qualité rigoureux sur données biologiques/imagerie</a:t>
            </a:r>
          </a:p>
          <a:p>
            <a:pPr>
              <a:spcBef>
                <a:spcPts val="400"/>
              </a:spcBef>
              <a:spcAft>
                <a:spcPts val="0"/>
              </a:spcAft>
            </a:pPr>
          </a:p>
          <a:p>
            <a:pPr>
              <a:spcBef>
                <a:spcPts val="400"/>
              </a:spcBef>
              <a:spcAft>
                <a:spcPts val="200"/>
              </a:spcAft>
            </a:pPr>
            <a:r>
              <a:rPr sz="1300" b="1">
                <a:solidFill>
                  <a:srgbClr val="1973C2"/>
                </a:solidFill>
              </a:rPr>
              <a:t>NLP (WP2–WP4)</a:t>
            </a:r>
          </a:p>
          <a:p>
            <a:pPr lvl="1">
              <a:spcBef>
                <a:spcPts val="100"/>
              </a:spcBef>
              <a:spcAft>
                <a:spcPts val="100"/>
              </a:spcAft>
            </a:pPr>
            <a:r>
              <a:rPr sz="1100">
                <a:solidFill>
                  <a:srgbClr val="434343"/>
                </a:solidFill>
              </a:rPr>
              <a:t>Datasets annotés manuellement avec cliniciens (F1 cible &gt;0.85, complétude &gt;0.70)</a:t>
            </a:r>
          </a:p>
          <a:p>
            <a:pPr lvl="1">
              <a:spcBef>
                <a:spcPts val="100"/>
              </a:spcBef>
              <a:spcAft>
                <a:spcPts val="100"/>
              </a:spcAft>
            </a:pPr>
            <a:r>
              <a:rPr sz="1100">
                <a:solidFill>
                  <a:srgbClr val="434343"/>
                </a:solidFill>
              </a:rPr>
              <a:t>Validation externe : Sanofi (96% couverture risque, 97% bénéfice), DisGeNET (92% top 30 biomarqueurs)</a:t>
            </a:r>
          </a:p>
        </p:txBody>
      </p:sp>
      <p:sp>
        <p:nvSpPr>
          <p:cNvPr id="8" name="TextBox 7"/>
          <p:cNvSpPr txBox="1"/>
          <p:nvPr/>
        </p:nvSpPr>
        <p:spPr>
          <a:xfrm>
            <a:off x="6035040" y="1965960"/>
            <a:ext cx="5303520" cy="3657600"/>
          </a:xfrm>
          <a:prstGeom prst="rect">
            <a:avLst/>
          </a:prstGeom>
          <a:noFill/>
        </p:spPr>
        <p:txBody>
          <a:bodyPr wrap="square">
            <a:spAutoFit/>
          </a:bodyPr>
          <a:lstStyle/>
          <a:p>
            <a:pPr>
              <a:spcBef>
                <a:spcPts val="400"/>
              </a:spcBef>
              <a:spcAft>
                <a:spcPts val="200"/>
              </a:spcAft>
            </a:pPr>
            <a:r>
              <a:rPr sz="1300" b="1">
                <a:solidFill>
                  <a:srgbClr val="1973C2"/>
                </a:solidFill>
              </a:rPr>
              <a:t>Modèles prédictifs (WP1–WP4, WP6)</a:t>
            </a:r>
          </a:p>
          <a:p>
            <a:pPr lvl="1">
              <a:spcBef>
                <a:spcPts val="100"/>
              </a:spcBef>
              <a:spcAft>
                <a:spcPts val="100"/>
              </a:spcAft>
            </a:pPr>
            <a:r>
              <a:rPr sz="1100">
                <a:solidFill>
                  <a:srgbClr val="434343"/>
                </a:solidFill>
              </a:rPr>
              <a:t>Panel de référence oncologie pulmonaire : succès (osimertinib, alectinib, lorlatinib) et échecs (buparlisib, idelalisib, selumetinib, vandetanib)</a:t>
            </a:r>
          </a:p>
          <a:p>
            <a:pPr lvl="1">
              <a:spcBef>
                <a:spcPts val="100"/>
              </a:spcBef>
              <a:spcAft>
                <a:spcPts val="100"/>
              </a:spcAft>
            </a:pPr>
            <a:r>
              <a:rPr sz="1100">
                <a:solidFill>
                  <a:srgbClr val="434343"/>
                </a:solidFill>
              </a:rPr>
              <a:t>Base WITHDRAWN : 578 médicaments retirés + molécules FDA boxed warning</a:t>
            </a:r>
          </a:p>
          <a:p>
            <a:pPr lvl="1">
              <a:spcBef>
                <a:spcPts val="100"/>
              </a:spcBef>
              <a:spcAft>
                <a:spcPts val="100"/>
              </a:spcAft>
            </a:pPr>
            <a:r>
              <a:rPr sz="1100">
                <a:solidFill>
                  <a:srgbClr val="434343"/>
                </a:solidFill>
              </a:rPr>
              <a:t>~4 500 molécules commercialisées (ChEMBL v35)</a:t>
            </a:r>
          </a:p>
          <a:p>
            <a:pPr>
              <a:spcBef>
                <a:spcPts val="400"/>
              </a:spcBef>
              <a:spcAft>
                <a:spcPts val="0"/>
              </a:spcAft>
            </a:pPr>
          </a:p>
          <a:p>
            <a:pPr>
              <a:spcBef>
                <a:spcPts val="400"/>
              </a:spcBef>
              <a:spcAft>
                <a:spcPts val="200"/>
              </a:spcAft>
            </a:pPr>
            <a:r>
              <a:rPr sz="1300" b="1">
                <a:solidFill>
                  <a:srgbClr val="1973C2"/>
                </a:solidFill>
              </a:rPr>
              <a:t>World Model (WP6)</a:t>
            </a:r>
          </a:p>
          <a:p>
            <a:pPr lvl="1">
              <a:spcBef>
                <a:spcPts val="100"/>
              </a:spcBef>
              <a:spcAft>
                <a:spcPts val="100"/>
              </a:spcAft>
            </a:pPr>
            <a:r>
              <a:rPr sz="1100">
                <a:solidFill>
                  <a:srgbClr val="434343"/>
                </a:solidFill>
              </a:rPr>
              <a:t>Validation rétrospective : ≥200 molécules profils B-R connus</a:t>
            </a:r>
          </a:p>
          <a:p>
            <a:pPr lvl="1">
              <a:spcBef>
                <a:spcPts val="100"/>
              </a:spcBef>
              <a:spcAft>
                <a:spcPts val="100"/>
              </a:spcAft>
            </a:pPr>
            <a:r>
              <a:rPr sz="1100">
                <a:solidFill>
                  <a:srgbClr val="434343"/>
                </a:solidFill>
              </a:rPr>
              <a:t>Validation prospective : monitoring chez partenaires (Sanofi, Cedars-Sinai, Mayo, ICM)</a:t>
            </a:r>
          </a:p>
          <a:p>
            <a:pPr lvl="1">
              <a:spcBef>
                <a:spcPts val="100"/>
              </a:spcBef>
              <a:spcAft>
                <a:spcPts val="100"/>
              </a:spcAft>
            </a:pPr>
            <a:r>
              <a:rPr sz="1100">
                <a:solidFill>
                  <a:srgbClr val="434343"/>
                </a:solidFill>
              </a:rPr>
              <a:t>Panel d'experts : ≥5 partenaires, cible ≥70% « cliniquement plausible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7772400" cy="594360"/>
          </a:xfrm>
          <a:prstGeom prst="rect">
            <a:avLst/>
          </a:prstGeom>
          <a:noFill/>
        </p:spPr>
        <p:txBody>
          <a:bodyPr wrap="square">
            <a:spAutoFit/>
          </a:bodyPr>
          <a:lstStyle/>
          <a:p>
            <a:r>
              <a:rPr sz="2200" b="1">
                <a:solidFill>
                  <a:srgbClr val="031734"/>
                </a:solidFill>
              </a:rPr>
              <a:t>Q9 — Absence de biais — études rétrospectives</a:t>
            </a:r>
          </a:p>
        </p:txBody>
      </p:sp>
      <p:sp>
        <p:nvSpPr>
          <p:cNvPr id="3" name="Rounded Rectangle 2"/>
          <p:cNvSpPr/>
          <p:nvPr/>
        </p:nvSpPr>
        <p:spPr>
          <a:xfrm>
            <a:off x="457200" y="777240"/>
            <a:ext cx="11277295" cy="1051560"/>
          </a:xfrm>
          <a:prstGeom prst="roundRect">
            <a:avLst/>
          </a:prstGeom>
          <a:solidFill>
            <a:srgbClr val="E5EB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r>
              <a:rPr sz="1000" i="1">
                <a:solidFill>
                  <a:srgbClr val="031734"/>
                </a:solidFill>
              </a:rPr>
              <a:t>Sur les études rétrospectives prévues, comment pensez-vous garantir l'absence de biais (ex. données relatives à la molécule commercialisée dans le(s) modèle(s) utilisé(s)) ?</a:t>
            </a:r>
          </a:p>
          <a:p>
            <a:r>
              <a:rPr sz="900" i="1">
                <a:solidFill>
                  <a:srgbClr val="999999"/>
                </a:solidFill>
              </a:rPr>
              <a:t>For the planned retrospective studies, how do you intend to ensure the absence of bias?</a:t>
            </a:r>
          </a:p>
        </p:txBody>
      </p:sp>
      <p:sp>
        <p:nvSpPr>
          <p:cNvPr id="4" name="Rounded Rectangle 3"/>
          <p:cNvSpPr/>
          <p:nvPr/>
        </p:nvSpPr>
        <p:spPr>
          <a:xfrm>
            <a:off x="9448495" y="137160"/>
            <a:ext cx="1097280" cy="3200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Cross</a:t>
            </a:r>
          </a:p>
        </p:txBody>
      </p:sp>
      <p:pic>
        <p:nvPicPr>
          <p:cNvPr id="5" name="Picture 4" descr="logo_header.png"/>
          <p:cNvPicPr>
            <a:picLocks noChangeAspect="1"/>
          </p:cNvPicPr>
          <p:nvPr/>
        </p:nvPicPr>
        <p:blipFill>
          <a:blip r:embed="rId2"/>
          <a:stretch>
            <a:fillRect/>
          </a:stretch>
        </p:blipFill>
        <p:spPr>
          <a:xfrm>
            <a:off x="10637215" y="137160"/>
            <a:ext cx="1371600" cy="384048"/>
          </a:xfrm>
          <a:prstGeom prst="rect">
            <a:avLst/>
          </a:prstGeom>
        </p:spPr>
      </p:pic>
      <p:sp>
        <p:nvSpPr>
          <p:cNvPr id="6" name="Rectangle 5"/>
          <p:cNvSpPr/>
          <p:nvPr/>
        </p:nvSpPr>
        <p:spPr>
          <a:xfrm>
            <a:off x="0" y="6446520"/>
            <a:ext cx="12191695" cy="411480"/>
          </a:xfrm>
          <a:prstGeom prst="rect">
            <a:avLst/>
          </a:prstGeom>
          <a:solidFill>
            <a:srgbClr val="0317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999999"/>
                </a:solidFill>
              </a:defRPr>
            </a:pPr>
            <a:r>
              <a:t>ArcaScience — I-demo Q&amp;A — Confidentiel — Avril 2026          11</a:t>
            </a:r>
          </a:p>
        </p:txBody>
      </p:sp>
      <p:sp>
        <p:nvSpPr>
          <p:cNvPr id="7" name="TextBox 6"/>
          <p:cNvSpPr txBox="1"/>
          <p:nvPr/>
        </p:nvSpPr>
        <p:spPr>
          <a:xfrm>
            <a:off x="457200" y="1965960"/>
            <a:ext cx="5303520" cy="3657600"/>
          </a:xfrm>
          <a:prstGeom prst="rect">
            <a:avLst/>
          </a:prstGeom>
          <a:noFill/>
        </p:spPr>
        <p:txBody>
          <a:bodyPr wrap="square">
            <a:spAutoFit/>
          </a:bodyPr>
          <a:lstStyle/>
          <a:p>
            <a:pPr>
              <a:spcBef>
                <a:spcPts val="400"/>
              </a:spcBef>
              <a:spcAft>
                <a:spcPts val="200"/>
              </a:spcAft>
            </a:pPr>
            <a:r>
              <a:rPr sz="1300" b="1">
                <a:solidFill>
                  <a:srgbClr val="1973C2"/>
                </a:solidFill>
              </a:rPr>
              <a:t>Prévention fuite de données</a:t>
            </a:r>
          </a:p>
          <a:p>
            <a:pPr lvl="1">
              <a:spcBef>
                <a:spcPts val="100"/>
              </a:spcBef>
              <a:spcAft>
                <a:spcPts val="100"/>
              </a:spcAft>
            </a:pPr>
            <a:r>
              <a:rPr sz="1100">
                <a:solidFill>
                  <a:srgbClr val="434343"/>
                </a:solidFill>
              </a:rPr>
              <a:t>Temporal split (hold-out 2022–2025), leave-drug-out cross-validation</a:t>
            </a:r>
          </a:p>
          <a:p>
            <a:pPr lvl="1">
              <a:spcBef>
                <a:spcPts val="100"/>
              </a:spcBef>
              <a:spcAft>
                <a:spcPts val="100"/>
              </a:spcAft>
            </a:pPr>
            <a:r>
              <a:rPr sz="1100">
                <a:solidFill>
                  <a:srgbClr val="434343"/>
                </a:solidFill>
              </a:rPr>
              <a:t>Nested cross-validation pour hyperparamètres ; audit conformité à chaque jalon</a:t>
            </a:r>
          </a:p>
          <a:p>
            <a:pPr lvl="1">
              <a:spcBef>
                <a:spcPts val="100"/>
              </a:spcBef>
              <a:spcAft>
                <a:spcPts val="100"/>
              </a:spcAft>
            </a:pPr>
            <a:r>
              <a:rPr sz="1100">
                <a:solidFill>
                  <a:srgbClr val="434343"/>
                </a:solidFill>
              </a:rPr>
              <a:t>WP1 : leave-one-scaffold-out pour généralisation chimique</a:t>
            </a:r>
          </a:p>
          <a:p>
            <a:pPr>
              <a:spcBef>
                <a:spcPts val="400"/>
              </a:spcBef>
              <a:spcAft>
                <a:spcPts val="0"/>
              </a:spcAft>
            </a:pPr>
          </a:p>
          <a:p>
            <a:pPr>
              <a:spcBef>
                <a:spcPts val="400"/>
              </a:spcBef>
              <a:spcAft>
                <a:spcPts val="200"/>
              </a:spcAft>
            </a:pPr>
            <a:r>
              <a:rPr sz="1300" b="1">
                <a:solidFill>
                  <a:srgbClr val="1973C2"/>
                </a:solidFill>
              </a:rPr>
              <a:t>Biais de survie</a:t>
            </a:r>
          </a:p>
          <a:p>
            <a:pPr lvl="1">
              <a:spcBef>
                <a:spcPts val="100"/>
              </a:spcBef>
              <a:spcAft>
                <a:spcPts val="100"/>
              </a:spcAft>
            </a:pPr>
            <a:r>
              <a:rPr sz="1100">
                <a:solidFill>
                  <a:srgbClr val="434343"/>
                </a:solidFill>
              </a:rPr>
              <a:t>Validation inclut explicitement WITHDRAWN (578 médicaments retirés) + FDA boxed warnings</a:t>
            </a:r>
          </a:p>
          <a:p>
            <a:pPr lvl="1">
              <a:spcBef>
                <a:spcPts val="100"/>
              </a:spcBef>
              <a:spcAft>
                <a:spcPts val="100"/>
              </a:spcAft>
            </a:pPr>
            <a:r>
              <a:rPr sz="1100">
                <a:solidFill>
                  <a:srgbClr val="434343"/>
                </a:solidFill>
              </a:rPr>
              <a:t>WP2 : inclut molécules ayant échoué en développement clinique</a:t>
            </a:r>
          </a:p>
        </p:txBody>
      </p:sp>
      <p:sp>
        <p:nvSpPr>
          <p:cNvPr id="8" name="TextBox 7"/>
          <p:cNvSpPr txBox="1"/>
          <p:nvPr/>
        </p:nvSpPr>
        <p:spPr>
          <a:xfrm>
            <a:off x="6035040" y="1965960"/>
            <a:ext cx="5303520" cy="3657600"/>
          </a:xfrm>
          <a:prstGeom prst="rect">
            <a:avLst/>
          </a:prstGeom>
          <a:noFill/>
        </p:spPr>
        <p:txBody>
          <a:bodyPr wrap="square">
            <a:spAutoFit/>
          </a:bodyPr>
          <a:lstStyle/>
          <a:p>
            <a:pPr>
              <a:spcBef>
                <a:spcPts val="400"/>
              </a:spcBef>
              <a:spcAft>
                <a:spcPts val="200"/>
              </a:spcAft>
            </a:pPr>
            <a:r>
              <a:rPr sz="1300" b="1">
                <a:solidFill>
                  <a:srgbClr val="1973C2"/>
                </a:solidFill>
              </a:rPr>
              <a:t>Contrôle des facteurs confondants (WP4 RWE)</a:t>
            </a:r>
          </a:p>
          <a:p>
            <a:pPr lvl="1">
              <a:spcBef>
                <a:spcPts val="100"/>
              </a:spcBef>
              <a:spcAft>
                <a:spcPts val="100"/>
              </a:spcAft>
            </a:pPr>
            <a:r>
              <a:rPr sz="1100">
                <a:solidFill>
                  <a:srgbClr val="434343"/>
                </a:solidFill>
              </a:rPr>
              <a:t>Analyse de sous-groupes : âge, comorbidités, ethnie déclarée</a:t>
            </a:r>
          </a:p>
          <a:p>
            <a:pPr lvl="1">
              <a:spcBef>
                <a:spcPts val="100"/>
              </a:spcBef>
              <a:spcAft>
                <a:spcPts val="100"/>
              </a:spcAft>
            </a:pPr>
            <a:r>
              <a:rPr sz="1100">
                <a:solidFill>
                  <a:srgbClr val="434343"/>
                </a:solidFill>
              </a:rPr>
              <a:t>Cross-validation stratifiée par source</a:t>
            </a:r>
          </a:p>
          <a:p>
            <a:pPr lvl="1">
              <a:spcBef>
                <a:spcPts val="100"/>
              </a:spcBef>
              <a:spcAft>
                <a:spcPts val="100"/>
              </a:spcAft>
            </a:pPr>
            <a:r>
              <a:rPr sz="1100">
                <a:solidFill>
                  <a:srgbClr val="434343"/>
                </a:solidFill>
              </a:rPr>
              <a:t>Ajustements statistiques pour biais de sélection par source RWE</a:t>
            </a:r>
          </a:p>
          <a:p>
            <a:pPr>
              <a:spcBef>
                <a:spcPts val="400"/>
              </a:spcBef>
              <a:spcAft>
                <a:spcPts val="0"/>
              </a:spcAft>
            </a:pPr>
          </a:p>
          <a:p>
            <a:pPr>
              <a:spcBef>
                <a:spcPts val="400"/>
              </a:spcBef>
              <a:spcAft>
                <a:spcPts val="200"/>
              </a:spcAft>
            </a:pPr>
            <a:r>
              <a:rPr sz="1300" b="1">
                <a:solidFill>
                  <a:srgbClr val="1973C2"/>
                </a:solidFill>
              </a:rPr>
              <a:t>Barrière informationnelle</a:t>
            </a:r>
          </a:p>
          <a:p>
            <a:pPr lvl="1">
              <a:spcBef>
                <a:spcPts val="100"/>
              </a:spcBef>
              <a:spcAft>
                <a:spcPts val="100"/>
              </a:spcAft>
            </a:pPr>
            <a:r>
              <a:rPr sz="1100">
                <a:solidFill>
                  <a:srgbClr val="434343"/>
                </a:solidFill>
              </a:rPr>
              <a:t>Panel de référence défini prospectivement, verrouillé avant développement WP1</a:t>
            </a:r>
          </a:p>
          <a:p>
            <a:pPr lvl="1">
              <a:spcBef>
                <a:spcPts val="100"/>
              </a:spcBef>
              <a:spcAft>
                <a:spcPts val="100"/>
              </a:spcAft>
            </a:pPr>
            <a:r>
              <a:rPr sz="1100">
                <a:solidFill>
                  <a:srgbClr val="434343"/>
                </a:solidFill>
              </a:rPr>
              <a:t>Jeu de validation WP6 (≥200 molécules) défini indépendamment</a:t>
            </a:r>
          </a:p>
          <a:p>
            <a:pPr lvl="1">
              <a:spcBef>
                <a:spcPts val="100"/>
              </a:spcBef>
              <a:spcAft>
                <a:spcPts val="100"/>
              </a:spcAft>
            </a:pPr>
            <a:r>
              <a:rPr sz="1100">
                <a:solidFill>
                  <a:srgbClr val="434343"/>
                </a:solidFill>
              </a:rPr>
              <a:t>Évaluation en aveugle pendant la phase de prédiction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7772400" cy="594360"/>
          </a:xfrm>
          <a:prstGeom prst="rect">
            <a:avLst/>
          </a:prstGeom>
          <a:noFill/>
        </p:spPr>
        <p:txBody>
          <a:bodyPr wrap="square">
            <a:spAutoFit/>
          </a:bodyPr>
          <a:lstStyle/>
          <a:p>
            <a:r>
              <a:rPr sz="2200" b="1">
                <a:solidFill>
                  <a:srgbClr val="031734"/>
                </a:solidFill>
              </a:rPr>
              <a:t>Q10 — Méthodologie validation par experts</a:t>
            </a:r>
          </a:p>
        </p:txBody>
      </p:sp>
      <p:sp>
        <p:nvSpPr>
          <p:cNvPr id="3" name="Rounded Rectangle 2"/>
          <p:cNvSpPr/>
          <p:nvPr/>
        </p:nvSpPr>
        <p:spPr>
          <a:xfrm>
            <a:off x="457200" y="777240"/>
            <a:ext cx="11277295" cy="1051560"/>
          </a:xfrm>
          <a:prstGeom prst="roundRect">
            <a:avLst/>
          </a:prstGeom>
          <a:solidFill>
            <a:srgbClr val="E5EB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r>
              <a:rPr sz="1000" i="1">
                <a:solidFill>
                  <a:srgbClr val="031734"/>
                </a:solidFill>
              </a:rPr>
              <a:t>Il est fait mention de la validation utilisateurs par des experts évaluateurs (de partenaires externes) jugeant les prédictions comme « cliniquement plausibles ». Pouvez-vous expliciter la méthodologie envisagée pour cette évaluation ?</a:t>
            </a:r>
          </a:p>
          <a:p>
            <a:r>
              <a:rPr sz="900" i="1">
                <a:solidFill>
                  <a:srgbClr val="999999"/>
                </a:solidFill>
              </a:rPr>
              <a:t>Can you elaborate on the methodology for expert evaluator validation of predictions as 'clinically plausible'?</a:t>
            </a:r>
          </a:p>
        </p:txBody>
      </p:sp>
      <p:sp>
        <p:nvSpPr>
          <p:cNvPr id="4" name="Rounded Rectangle 3"/>
          <p:cNvSpPr/>
          <p:nvPr/>
        </p:nvSpPr>
        <p:spPr>
          <a:xfrm>
            <a:off x="9448495" y="137160"/>
            <a:ext cx="1097280" cy="320040"/>
          </a:xfrm>
          <a:prstGeom prst="roundRect">
            <a:avLst/>
          </a:prstGeom>
          <a:solidFill>
            <a:srgbClr val="E5393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WP6</a:t>
            </a:r>
          </a:p>
        </p:txBody>
      </p:sp>
      <p:pic>
        <p:nvPicPr>
          <p:cNvPr id="5" name="Picture 4" descr="logo_header.png"/>
          <p:cNvPicPr>
            <a:picLocks noChangeAspect="1"/>
          </p:cNvPicPr>
          <p:nvPr/>
        </p:nvPicPr>
        <p:blipFill>
          <a:blip r:embed="rId2"/>
          <a:stretch>
            <a:fillRect/>
          </a:stretch>
        </p:blipFill>
        <p:spPr>
          <a:xfrm>
            <a:off x="10637215" y="137160"/>
            <a:ext cx="1371600" cy="384048"/>
          </a:xfrm>
          <a:prstGeom prst="rect">
            <a:avLst/>
          </a:prstGeom>
        </p:spPr>
      </p:pic>
      <p:sp>
        <p:nvSpPr>
          <p:cNvPr id="6" name="Rectangle 5"/>
          <p:cNvSpPr/>
          <p:nvPr/>
        </p:nvSpPr>
        <p:spPr>
          <a:xfrm>
            <a:off x="0" y="6446520"/>
            <a:ext cx="12191695" cy="411480"/>
          </a:xfrm>
          <a:prstGeom prst="rect">
            <a:avLst/>
          </a:prstGeom>
          <a:solidFill>
            <a:srgbClr val="0317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999999"/>
                </a:solidFill>
              </a:defRPr>
            </a:pPr>
            <a:r>
              <a:t>ArcaScience — I-demo Q&amp;A — Confidentiel — Avril 2026          12</a:t>
            </a:r>
          </a:p>
        </p:txBody>
      </p:sp>
      <p:sp>
        <p:nvSpPr>
          <p:cNvPr id="7" name="TextBox 6"/>
          <p:cNvSpPr txBox="1"/>
          <p:nvPr/>
        </p:nvSpPr>
        <p:spPr>
          <a:xfrm>
            <a:off x="548640" y="1965960"/>
            <a:ext cx="11094415" cy="4114800"/>
          </a:xfrm>
          <a:prstGeom prst="rect">
            <a:avLst/>
          </a:prstGeom>
          <a:noFill/>
        </p:spPr>
        <p:txBody>
          <a:bodyPr wrap="square">
            <a:spAutoFit/>
          </a:bodyPr>
          <a:lstStyle/>
          <a:p>
            <a:pPr>
              <a:spcBef>
                <a:spcPts val="400"/>
              </a:spcBef>
              <a:spcAft>
                <a:spcPts val="200"/>
              </a:spcAft>
            </a:pPr>
            <a:r>
              <a:rPr sz="1300" b="1">
                <a:solidFill>
                  <a:srgbClr val="1973C2"/>
                </a:solidFill>
              </a:rPr>
              <a:t>Approche knowledge-driven</a:t>
            </a:r>
          </a:p>
          <a:p>
            <a:pPr lvl="1">
              <a:spcBef>
                <a:spcPts val="100"/>
              </a:spcBef>
              <a:spcAft>
                <a:spcPts val="100"/>
              </a:spcAft>
            </a:pPr>
            <a:r>
              <a:rPr sz="1100">
                <a:solidFill>
                  <a:srgbClr val="434343"/>
                </a:solidFill>
              </a:rPr>
              <a:t>Experts sélectionnés : profil physician-scientist, expertise physiopathologie / mécanismes / clinique</a:t>
            </a:r>
          </a:p>
          <a:p>
            <a:pPr lvl="1">
              <a:spcBef>
                <a:spcPts val="100"/>
              </a:spcBef>
              <a:spcAft>
                <a:spcPts val="100"/>
              </a:spcAft>
            </a:pPr>
            <a:r>
              <a:rPr sz="1100">
                <a:solidFill>
                  <a:srgbClr val="434343"/>
                </a:solidFill>
              </a:rPr>
              <a:t>Chaque prédiction = outcome (bénéfice/risque) + mécanisme(s) sous-jacent(s)</a:t>
            </a:r>
          </a:p>
          <a:p>
            <a:pPr>
              <a:spcBef>
                <a:spcPts val="400"/>
              </a:spcBef>
              <a:spcAft>
                <a:spcPts val="0"/>
              </a:spcAft>
            </a:pPr>
          </a:p>
          <a:p>
            <a:pPr>
              <a:spcBef>
                <a:spcPts val="400"/>
              </a:spcBef>
              <a:spcAft>
                <a:spcPts val="200"/>
              </a:spcAft>
            </a:pPr>
            <a:r>
              <a:rPr sz="1300" b="1">
                <a:solidFill>
                  <a:srgbClr val="1973C2"/>
                </a:solidFill>
              </a:rPr>
              <a:t>Trois catégories de validation</a:t>
            </a:r>
          </a:p>
          <a:p>
            <a:pPr lvl="1">
              <a:spcBef>
                <a:spcPts val="100"/>
              </a:spcBef>
              <a:spcAft>
                <a:spcPts val="100"/>
              </a:spcAft>
            </a:pPr>
            <a:r>
              <a:rPr sz="1100">
                <a:solidFill>
                  <a:srgbClr val="434343"/>
                </a:solidFill>
              </a:rPr>
              <a:t>1) Connexion mécanistique décrite dans la littérature → validation littérature</a:t>
            </a:r>
          </a:p>
          <a:p>
            <a:pPr lvl="1">
              <a:spcBef>
                <a:spcPts val="100"/>
              </a:spcBef>
              <a:spcAft>
                <a:spcPts val="100"/>
              </a:spcAft>
            </a:pPr>
            <a:r>
              <a:rPr sz="1100">
                <a:solidFill>
                  <a:srgbClr val="434343"/>
                </a:solidFill>
              </a:rPr>
              <a:t>2) Connexion non décrite mais compatible avec les connaissances existantes → nouveau mécanisme potentiel</a:t>
            </a:r>
          </a:p>
          <a:p>
            <a:pPr lvl="1">
              <a:spcBef>
                <a:spcPts val="100"/>
              </a:spcBef>
              <a:spcAft>
                <a:spcPts val="100"/>
              </a:spcAft>
            </a:pPr>
            <a:r>
              <a:rPr sz="1100">
                <a:solidFill>
                  <a:srgbClr val="434343"/>
                </a:solidFill>
              </a:rPr>
              <a:t>3) Connexion non décrite et incompatible → prédiction non validée</a:t>
            </a:r>
          </a:p>
          <a:p>
            <a:pPr>
              <a:spcBef>
                <a:spcPts val="400"/>
              </a:spcBef>
              <a:spcAft>
                <a:spcPts val="0"/>
              </a:spcAft>
            </a:pPr>
          </a:p>
          <a:p>
            <a:pPr>
              <a:spcBef>
                <a:spcPts val="400"/>
              </a:spcBef>
              <a:spcAft>
                <a:spcPts val="200"/>
              </a:spcAft>
            </a:pPr>
            <a:r>
              <a:rPr sz="1300" b="1">
                <a:solidFill>
                  <a:srgbClr val="1973C2"/>
                </a:solidFill>
              </a:rPr>
              <a:t>Passage à l'échelle</a:t>
            </a:r>
          </a:p>
          <a:p>
            <a:pPr lvl="1">
              <a:spcBef>
                <a:spcPts val="100"/>
              </a:spcBef>
              <a:spcAft>
                <a:spcPts val="100"/>
              </a:spcAft>
            </a:pPr>
            <a:r>
              <a:rPr sz="1100">
                <a:solidFill>
                  <a:srgbClr val="434343"/>
                </a:solidFill>
              </a:rPr>
              <a:t>Possibilité de compléter le travail expert par des LLMs pour valider un grand nombre d'hypothèses</a:t>
            </a:r>
          </a:p>
          <a:p>
            <a:pPr lvl="1">
              <a:spcBef>
                <a:spcPts val="100"/>
              </a:spcBef>
              <a:spcAft>
                <a:spcPts val="100"/>
              </a:spcAft>
            </a:pPr>
            <a:r>
              <a:rPr sz="1100">
                <a:solidFill>
                  <a:srgbClr val="434343"/>
                </a:solidFill>
              </a:rPr>
              <a:t>Objectif : mesures statistiquement significatives de puissance prédictive, sensibilité, spécificité</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7772400" cy="594360"/>
          </a:xfrm>
          <a:prstGeom prst="rect">
            <a:avLst/>
          </a:prstGeom>
          <a:noFill/>
        </p:spPr>
        <p:txBody>
          <a:bodyPr wrap="square">
            <a:spAutoFit/>
          </a:bodyPr>
          <a:lstStyle/>
          <a:p>
            <a:r>
              <a:rPr sz="2200" b="1">
                <a:solidFill>
                  <a:srgbClr val="031734"/>
                </a:solidFill>
              </a:rPr>
              <a:t>Q11 — Stratégie de monitoring</a:t>
            </a:r>
          </a:p>
        </p:txBody>
      </p:sp>
      <p:sp>
        <p:nvSpPr>
          <p:cNvPr id="3" name="Rounded Rectangle 2"/>
          <p:cNvSpPr/>
          <p:nvPr/>
        </p:nvSpPr>
        <p:spPr>
          <a:xfrm>
            <a:off x="457200" y="777240"/>
            <a:ext cx="11277295" cy="1051560"/>
          </a:xfrm>
          <a:prstGeom prst="roundRect">
            <a:avLst/>
          </a:prstGeom>
          <a:solidFill>
            <a:srgbClr val="E5EB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r>
              <a:rPr sz="1000" i="1">
                <a:solidFill>
                  <a:srgbClr val="031734"/>
                </a:solidFill>
              </a:rPr>
              <a:t>Monitoring : quelle est la stratégie envisagée pour le World Model ? Qu'est-ce qui est mis en place actuellement sur la plateforme Trial Balancer ?</a:t>
            </a:r>
          </a:p>
          <a:p>
            <a:r>
              <a:rPr sz="900" i="1">
                <a:solidFill>
                  <a:srgbClr val="999999"/>
                </a:solidFill>
              </a:rPr>
              <a:t>Monitoring: what is the strategy for the World Model? What is currently in place on Trial Balancer?</a:t>
            </a:r>
          </a:p>
        </p:txBody>
      </p:sp>
      <p:sp>
        <p:nvSpPr>
          <p:cNvPr id="4" name="Rounded Rectangle 3"/>
          <p:cNvSpPr/>
          <p:nvPr/>
        </p:nvSpPr>
        <p:spPr>
          <a:xfrm>
            <a:off x="9448495" y="137160"/>
            <a:ext cx="1097280" cy="320040"/>
          </a:xfrm>
          <a:prstGeom prst="roundRect">
            <a:avLst/>
          </a:prstGeom>
          <a:solidFill>
            <a:srgbClr val="E5393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WP6</a:t>
            </a:r>
          </a:p>
        </p:txBody>
      </p:sp>
      <p:pic>
        <p:nvPicPr>
          <p:cNvPr id="5" name="Picture 4" descr="logo_header.png"/>
          <p:cNvPicPr>
            <a:picLocks noChangeAspect="1"/>
          </p:cNvPicPr>
          <p:nvPr/>
        </p:nvPicPr>
        <p:blipFill>
          <a:blip r:embed="rId2"/>
          <a:stretch>
            <a:fillRect/>
          </a:stretch>
        </p:blipFill>
        <p:spPr>
          <a:xfrm>
            <a:off x="10637215" y="137160"/>
            <a:ext cx="1371600" cy="384048"/>
          </a:xfrm>
          <a:prstGeom prst="rect">
            <a:avLst/>
          </a:prstGeom>
        </p:spPr>
      </p:pic>
      <p:sp>
        <p:nvSpPr>
          <p:cNvPr id="6" name="Rectangle 5"/>
          <p:cNvSpPr/>
          <p:nvPr/>
        </p:nvSpPr>
        <p:spPr>
          <a:xfrm>
            <a:off x="0" y="6446520"/>
            <a:ext cx="12191695" cy="411480"/>
          </a:xfrm>
          <a:prstGeom prst="rect">
            <a:avLst/>
          </a:prstGeom>
          <a:solidFill>
            <a:srgbClr val="0317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999999"/>
                </a:solidFill>
              </a:defRPr>
            </a:pPr>
            <a:r>
              <a:t>ArcaScience — I-demo Q&amp;A — Confidentiel — Avril 2026          13</a:t>
            </a:r>
          </a:p>
        </p:txBody>
      </p:sp>
      <p:sp>
        <p:nvSpPr>
          <p:cNvPr id="7" name="TextBox 6"/>
          <p:cNvSpPr txBox="1"/>
          <p:nvPr/>
        </p:nvSpPr>
        <p:spPr>
          <a:xfrm>
            <a:off x="548640" y="1965960"/>
            <a:ext cx="11094415" cy="4114800"/>
          </a:xfrm>
          <a:prstGeom prst="rect">
            <a:avLst/>
          </a:prstGeom>
          <a:noFill/>
        </p:spPr>
        <p:txBody>
          <a:bodyPr wrap="square">
            <a:spAutoFit/>
          </a:bodyPr>
          <a:lstStyle/>
          <a:p>
            <a:pPr>
              <a:spcBef>
                <a:spcPts val="400"/>
              </a:spcBef>
              <a:spcAft>
                <a:spcPts val="200"/>
              </a:spcAft>
            </a:pPr>
            <a:r>
              <a:rPr sz="1300" b="1">
                <a:solidFill>
                  <a:srgbClr val="1973C2"/>
                </a:solidFill>
              </a:rPr>
              <a:t>Trial Balancer — actuel</a:t>
            </a:r>
          </a:p>
          <a:p>
            <a:pPr lvl="1">
              <a:spcBef>
                <a:spcPts val="100"/>
              </a:spcBef>
              <a:spcAft>
                <a:spcPts val="100"/>
              </a:spcAft>
            </a:pPr>
            <a:r>
              <a:rPr sz="1100">
                <a:solidFill>
                  <a:srgbClr val="434343"/>
                </a:solidFill>
              </a:rPr>
              <a:t>Réévaluation des modèles tous les 3–6 mois selon criticité</a:t>
            </a:r>
          </a:p>
          <a:p>
            <a:pPr lvl="1">
              <a:spcBef>
                <a:spcPts val="100"/>
              </a:spcBef>
              <a:spcAft>
                <a:spcPts val="100"/>
              </a:spcAft>
            </a:pPr>
            <a:r>
              <a:rPr sz="1100">
                <a:solidFill>
                  <a:srgbClr val="434343"/>
                </a:solidFill>
              </a:rPr>
              <a:t>Mise à jour continue des données : détection automatique de nouvelles publications</a:t>
            </a:r>
          </a:p>
          <a:p>
            <a:pPr lvl="1">
              <a:spcBef>
                <a:spcPts val="100"/>
              </a:spcBef>
              <a:spcAft>
                <a:spcPts val="100"/>
              </a:spcAft>
            </a:pPr>
            <a:r>
              <a:rPr sz="1100">
                <a:solidFill>
                  <a:srgbClr val="434343"/>
                </a:solidFill>
              </a:rPr>
              <a:t>SLM : F1 entre 80% et 95% ; modèle appraisal : précision 80–95%</a:t>
            </a:r>
          </a:p>
          <a:p>
            <a:pPr lvl="1">
              <a:spcBef>
                <a:spcPts val="100"/>
              </a:spcBef>
              <a:spcAft>
                <a:spcPts val="100"/>
              </a:spcAft>
            </a:pPr>
            <a:r>
              <a:rPr sz="1100">
                <a:solidFill>
                  <a:srgbClr val="434343"/>
                </a:solidFill>
              </a:rPr>
              <a:t>Monitoring infrastructure via Prometheus et Grafana</a:t>
            </a:r>
          </a:p>
          <a:p>
            <a:pPr>
              <a:spcBef>
                <a:spcPts val="400"/>
              </a:spcBef>
              <a:spcAft>
                <a:spcPts val="0"/>
              </a:spcAft>
            </a:pPr>
          </a:p>
          <a:p>
            <a:pPr>
              <a:spcBef>
                <a:spcPts val="400"/>
              </a:spcBef>
              <a:spcAft>
                <a:spcPts val="200"/>
              </a:spcAft>
            </a:pPr>
            <a:r>
              <a:rPr sz="1300" b="1">
                <a:solidFill>
                  <a:srgbClr val="1973C2"/>
                </a:solidFill>
              </a:rPr>
              <a:t>World Model (BR-PREDICT) — planifié</a:t>
            </a:r>
          </a:p>
          <a:p>
            <a:pPr lvl="1">
              <a:spcBef>
                <a:spcPts val="100"/>
              </a:spcBef>
              <a:spcAft>
                <a:spcPts val="100"/>
              </a:spcAft>
            </a:pPr>
            <a:r>
              <a:rPr sz="1100">
                <a:solidFill>
                  <a:srgbClr val="434343"/>
                </a:solidFill>
              </a:rPr>
              <a:t>Monitoring performance modèle : évaluation continue, retraining basé sur triggers (pas calendaire)</a:t>
            </a:r>
          </a:p>
          <a:p>
            <a:pPr lvl="1">
              <a:spcBef>
                <a:spcPts val="100"/>
              </a:spcBef>
              <a:spcAft>
                <a:spcPts val="100"/>
              </a:spcAft>
            </a:pPr>
            <a:r>
              <a:rPr sz="1100">
                <a:solidFill>
                  <a:srgbClr val="434343"/>
                </a:solidFill>
              </a:rPr>
              <a:t>Détection de drift : vérification automatique de distribution des features</a:t>
            </a:r>
          </a:p>
          <a:p>
            <a:pPr lvl="1">
              <a:spcBef>
                <a:spcPts val="100"/>
              </a:spcBef>
              <a:spcAft>
                <a:spcPts val="100"/>
              </a:spcAft>
            </a:pPr>
            <a:r>
              <a:rPr sz="1100">
                <a:solidFill>
                  <a:srgbClr val="434343"/>
                </a:solidFill>
              </a:rPr>
              <a:t>Maintenance KG (WP5) : mises à jour continues (nouveaux médicaments, cibles, EI, ontologies)</a:t>
            </a:r>
          </a:p>
          <a:p>
            <a:pPr lvl="1">
              <a:spcBef>
                <a:spcPts val="100"/>
              </a:spcBef>
              <a:spcAft>
                <a:spcPts val="100"/>
              </a:spcAft>
            </a:pPr>
            <a:r>
              <a:rPr sz="1100">
                <a:solidFill>
                  <a:srgbClr val="434343"/>
                </a:solidFill>
              </a:rPr>
              <a:t>Monitoring incertitude (T6.4) : signal intégré de dégradation</a:t>
            </a:r>
          </a:p>
          <a:p>
            <a:pPr lvl="1">
              <a:spcBef>
                <a:spcPts val="100"/>
              </a:spcBef>
              <a:spcAft>
                <a:spcPts val="100"/>
              </a:spcAft>
            </a:pPr>
            <a:r>
              <a:rPr sz="1100">
                <a:solidFill>
                  <a:srgbClr val="434343"/>
                </a:solidFill>
              </a:rPr>
              <a:t>MLflow : versionnage complet, rollback possible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7772400" cy="594360"/>
          </a:xfrm>
          <a:prstGeom prst="rect">
            <a:avLst/>
          </a:prstGeom>
          <a:noFill/>
        </p:spPr>
        <p:txBody>
          <a:bodyPr wrap="square">
            <a:spAutoFit/>
          </a:bodyPr>
          <a:lstStyle/>
          <a:p>
            <a:r>
              <a:rPr sz="2200" b="1">
                <a:solidFill>
                  <a:srgbClr val="031734"/>
                </a:solidFill>
              </a:rPr>
              <a:t>Q12 — Infrastructure déploiement on-premise</a:t>
            </a:r>
          </a:p>
        </p:txBody>
      </p:sp>
      <p:sp>
        <p:nvSpPr>
          <p:cNvPr id="3" name="Rounded Rectangle 2"/>
          <p:cNvSpPr/>
          <p:nvPr/>
        </p:nvSpPr>
        <p:spPr>
          <a:xfrm>
            <a:off x="457200" y="777240"/>
            <a:ext cx="11277295" cy="1051560"/>
          </a:xfrm>
          <a:prstGeom prst="roundRect">
            <a:avLst/>
          </a:prstGeom>
          <a:solidFill>
            <a:srgbClr val="E5EB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r>
              <a:rPr sz="1000" i="1">
                <a:solidFill>
                  <a:srgbClr val="031734"/>
                </a:solidFill>
              </a:rPr>
              <a:t>Quelles sont les caractéristiques (stockage, ressources de calcul) des infrastructures nécessaires à un client pour le déploiement de la plateforme on-premise ?</a:t>
            </a:r>
          </a:p>
          <a:p>
            <a:r>
              <a:rPr sz="900" i="1">
                <a:solidFill>
                  <a:srgbClr val="999999"/>
                </a:solidFill>
              </a:rPr>
              <a:t>What infrastructure characteristics are required by a client for on-premise deployment?</a:t>
            </a:r>
          </a:p>
        </p:txBody>
      </p:sp>
      <p:sp>
        <p:nvSpPr>
          <p:cNvPr id="4" name="Rounded Rectangle 3"/>
          <p:cNvSpPr/>
          <p:nvPr/>
        </p:nvSpPr>
        <p:spPr>
          <a:xfrm>
            <a:off x="9448495" y="137160"/>
            <a:ext cx="1097280" cy="3200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Cross</a:t>
            </a:r>
          </a:p>
        </p:txBody>
      </p:sp>
      <p:pic>
        <p:nvPicPr>
          <p:cNvPr id="5" name="Picture 4" descr="logo_header.png"/>
          <p:cNvPicPr>
            <a:picLocks noChangeAspect="1"/>
          </p:cNvPicPr>
          <p:nvPr/>
        </p:nvPicPr>
        <p:blipFill>
          <a:blip r:embed="rId2"/>
          <a:stretch>
            <a:fillRect/>
          </a:stretch>
        </p:blipFill>
        <p:spPr>
          <a:xfrm>
            <a:off x="10637215" y="137160"/>
            <a:ext cx="1371600" cy="384048"/>
          </a:xfrm>
          <a:prstGeom prst="rect">
            <a:avLst/>
          </a:prstGeom>
        </p:spPr>
      </p:pic>
      <p:sp>
        <p:nvSpPr>
          <p:cNvPr id="6" name="Rectangle 5"/>
          <p:cNvSpPr/>
          <p:nvPr/>
        </p:nvSpPr>
        <p:spPr>
          <a:xfrm>
            <a:off x="0" y="6446520"/>
            <a:ext cx="12191695" cy="411480"/>
          </a:xfrm>
          <a:prstGeom prst="rect">
            <a:avLst/>
          </a:prstGeom>
          <a:solidFill>
            <a:srgbClr val="0317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999999"/>
                </a:solidFill>
              </a:defRPr>
            </a:pPr>
            <a:r>
              <a:t>ArcaScience — I-demo Q&amp;A — Confidentiel — Avril 2026          14</a:t>
            </a:r>
          </a:p>
        </p:txBody>
      </p:sp>
      <p:sp>
        <p:nvSpPr>
          <p:cNvPr id="7" name="TextBox 6"/>
          <p:cNvSpPr txBox="1"/>
          <p:nvPr/>
        </p:nvSpPr>
        <p:spPr>
          <a:xfrm>
            <a:off x="457200" y="1965960"/>
            <a:ext cx="5303520" cy="3657600"/>
          </a:xfrm>
          <a:prstGeom prst="rect">
            <a:avLst/>
          </a:prstGeom>
          <a:noFill/>
        </p:spPr>
        <p:txBody>
          <a:bodyPr wrap="square">
            <a:spAutoFit/>
          </a:bodyPr>
          <a:lstStyle/>
          <a:p>
            <a:pPr>
              <a:spcBef>
                <a:spcPts val="400"/>
              </a:spcBef>
              <a:spcAft>
                <a:spcPts val="200"/>
              </a:spcAft>
            </a:pPr>
            <a:r>
              <a:rPr sz="1300" b="1">
                <a:solidFill>
                  <a:srgbClr val="1973C2"/>
                </a:solidFill>
              </a:rPr>
              <a:t>Architecture de déploiement</a:t>
            </a:r>
          </a:p>
          <a:p>
            <a:pPr lvl="1">
              <a:spcBef>
                <a:spcPts val="100"/>
              </a:spcBef>
              <a:spcAft>
                <a:spcPts val="100"/>
              </a:spcAft>
            </a:pPr>
            <a:r>
              <a:rPr sz="1100">
                <a:solidFill>
                  <a:srgbClr val="434343"/>
                </a:solidFill>
              </a:rPr>
              <a:t>Docker (isolation) + Kubernetes (orchestration) + Ansible/Terraform (automatisation)</a:t>
            </a:r>
          </a:p>
          <a:p>
            <a:pPr lvl="1">
              <a:spcBef>
                <a:spcPts val="100"/>
              </a:spcBef>
              <a:spcAft>
                <a:spcPts val="100"/>
              </a:spcAft>
            </a:pPr>
            <a:r>
              <a:rPr sz="1100">
                <a:solidFill>
                  <a:srgbClr val="434343"/>
                </a:solidFill>
              </a:rPr>
              <a:t>Outils DevOps standards compatibles avec l'IT pharma existant</a:t>
            </a:r>
          </a:p>
          <a:p>
            <a:pPr lvl="1">
              <a:spcBef>
                <a:spcPts val="100"/>
              </a:spcBef>
              <a:spcAft>
                <a:spcPts val="100"/>
              </a:spcAft>
            </a:pPr>
            <a:r>
              <a:rPr sz="1100">
                <a:solidFill>
                  <a:srgbClr val="434343"/>
                </a:solidFill>
              </a:rPr>
              <a:t>Solution autonome post-installation ; accès ArcaScience compatible compliance client</a:t>
            </a:r>
          </a:p>
          <a:p>
            <a:pPr>
              <a:spcBef>
                <a:spcPts val="400"/>
              </a:spcBef>
              <a:spcAft>
                <a:spcPts val="0"/>
              </a:spcAft>
            </a:pPr>
          </a:p>
          <a:p>
            <a:pPr>
              <a:spcBef>
                <a:spcPts val="400"/>
              </a:spcBef>
              <a:spcAft>
                <a:spcPts val="200"/>
              </a:spcAft>
            </a:pPr>
            <a:r>
              <a:rPr sz="1300" b="1">
                <a:solidFill>
                  <a:srgbClr val="1973C2"/>
                </a:solidFill>
              </a:rPr>
              <a:t>Calcul</a:t>
            </a:r>
          </a:p>
          <a:p>
            <a:pPr lvl="1">
              <a:spcBef>
                <a:spcPts val="100"/>
              </a:spcBef>
              <a:spcAft>
                <a:spcPts val="100"/>
              </a:spcAft>
            </a:pPr>
            <a:r>
              <a:rPr sz="1100">
                <a:solidFill>
                  <a:srgbClr val="434343"/>
                </a:solidFill>
              </a:rPr>
              <a:t>Entraînement réalisé chez ArcaScience — client = inférence uniquement</a:t>
            </a:r>
          </a:p>
          <a:p>
            <a:pPr lvl="1">
              <a:spcBef>
                <a:spcPts val="100"/>
              </a:spcBef>
              <a:spcAft>
                <a:spcPts val="100"/>
              </a:spcAft>
            </a:pPr>
            <a:r>
              <a:rPr sz="1100">
                <a:solidFill>
                  <a:srgbClr val="434343"/>
                </a:solidFill>
              </a:rPr>
              <a:t>CPU : WP1, WP2 suffisent sur serveurs enterprise standards</a:t>
            </a:r>
          </a:p>
          <a:p>
            <a:pPr lvl="1">
              <a:spcBef>
                <a:spcPts val="100"/>
              </a:spcBef>
              <a:spcAft>
                <a:spcPts val="100"/>
              </a:spcAft>
            </a:pPr>
            <a:r>
              <a:rPr sz="1100">
                <a:solidFill>
                  <a:srgbClr val="434343"/>
                </a:solidFill>
              </a:rPr>
              <a:t>GPU : composants DL (WP3 GAT, WP4 TFT, WP6 ensemble) → un GPU enterprise (NVIDIA T4 ou A10)</a:t>
            </a:r>
          </a:p>
        </p:txBody>
      </p:sp>
      <p:sp>
        <p:nvSpPr>
          <p:cNvPr id="8" name="TextBox 7"/>
          <p:cNvSpPr txBox="1"/>
          <p:nvPr/>
        </p:nvSpPr>
        <p:spPr>
          <a:xfrm>
            <a:off x="6035040" y="1965960"/>
            <a:ext cx="5303520" cy="3657600"/>
          </a:xfrm>
          <a:prstGeom prst="rect">
            <a:avLst/>
          </a:prstGeom>
          <a:noFill/>
        </p:spPr>
        <p:txBody>
          <a:bodyPr wrap="square">
            <a:spAutoFit/>
          </a:bodyPr>
          <a:lstStyle/>
          <a:p>
            <a:pPr>
              <a:spcBef>
                <a:spcPts val="400"/>
              </a:spcBef>
              <a:spcAft>
                <a:spcPts val="200"/>
              </a:spcAft>
            </a:pPr>
            <a:r>
              <a:rPr sz="1300" b="1">
                <a:solidFill>
                  <a:srgbClr val="1973C2"/>
                </a:solidFill>
              </a:rPr>
              <a:t>Stockage</a:t>
            </a:r>
          </a:p>
          <a:p>
            <a:pPr lvl="1">
              <a:spcBef>
                <a:spcPts val="100"/>
              </a:spcBef>
              <a:spcAft>
                <a:spcPts val="100"/>
              </a:spcAft>
            </a:pPr>
            <a:r>
              <a:rPr sz="1100">
                <a:solidFill>
                  <a:srgbClr val="434343"/>
                </a:solidFill>
              </a:rPr>
              <a:t>Base structurée : capacités enterprise standards selon périmètre projet</a:t>
            </a:r>
          </a:p>
          <a:p>
            <a:pPr lvl="1">
              <a:spcBef>
                <a:spcPts val="100"/>
              </a:spcBef>
              <a:spcAft>
                <a:spcPts val="100"/>
              </a:spcAft>
            </a:pPr>
            <a:r>
              <a:rPr sz="1100">
                <a:solidFill>
                  <a:srgbClr val="434343"/>
                </a:solidFill>
              </a:rPr>
              <a:t>Stockage documentaire : Elasticsearch + vector embeddings pour recherche sémantique</a:t>
            </a:r>
          </a:p>
          <a:p>
            <a:pPr>
              <a:spcBef>
                <a:spcPts val="400"/>
              </a:spcBef>
              <a:spcAft>
                <a:spcPts val="0"/>
              </a:spcAft>
            </a:pPr>
          </a:p>
          <a:p>
            <a:pPr>
              <a:spcBef>
                <a:spcPts val="400"/>
              </a:spcBef>
              <a:spcAft>
                <a:spcPts val="200"/>
              </a:spcAft>
            </a:pPr>
            <a:r>
              <a:rPr sz="1300" b="1">
                <a:solidFill>
                  <a:srgbClr val="1973C2"/>
                </a:solidFill>
              </a:rPr>
              <a:t>Sécurité &amp; conformité</a:t>
            </a:r>
          </a:p>
          <a:p>
            <a:pPr lvl="1">
              <a:spcBef>
                <a:spcPts val="100"/>
              </a:spcBef>
              <a:spcAft>
                <a:spcPts val="100"/>
              </a:spcAft>
            </a:pPr>
            <a:r>
              <a:rPr sz="1100">
                <a:solidFill>
                  <a:srgbClr val="434343"/>
                </a:solidFill>
              </a:rPr>
              <a:t>Chiffrement AES 256-bit, protocoles HIPAA-compatibles</a:t>
            </a:r>
          </a:p>
          <a:p>
            <a:pPr lvl="1">
              <a:spcBef>
                <a:spcPts val="100"/>
              </a:spcBef>
              <a:spcAft>
                <a:spcPts val="100"/>
              </a:spcAft>
            </a:pPr>
            <a:r>
              <a:rPr sz="1100">
                <a:solidFill>
                  <a:srgbClr val="434343"/>
                </a:solidFill>
              </a:rPr>
              <a:t>Données client indexées sur serveur du client uniquement</a:t>
            </a:r>
          </a:p>
          <a:p>
            <a:pPr lvl="1">
              <a:spcBef>
                <a:spcPts val="100"/>
              </a:spcBef>
              <a:spcAft>
                <a:spcPts val="100"/>
              </a:spcAft>
            </a:pPr>
            <a:r>
              <a:rPr sz="1100">
                <a:solidFill>
                  <a:srgbClr val="434343"/>
                </a:solidFill>
              </a:rPr>
              <a:t>Aucune donnée client ne transite par APIs externes ou services cloud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7772400" cy="594360"/>
          </a:xfrm>
          <a:prstGeom prst="rect">
            <a:avLst/>
          </a:prstGeom>
          <a:noFill/>
        </p:spPr>
        <p:txBody>
          <a:bodyPr wrap="square">
            <a:spAutoFit/>
          </a:bodyPr>
          <a:lstStyle/>
          <a:p>
            <a:r>
              <a:rPr sz="2200" b="1">
                <a:solidFill>
                  <a:srgbClr val="031734"/>
                </a:solidFill>
              </a:rPr>
              <a:t>Q13 — Stratégie RH — profils rares</a:t>
            </a:r>
          </a:p>
        </p:txBody>
      </p:sp>
      <p:sp>
        <p:nvSpPr>
          <p:cNvPr id="3" name="Rounded Rectangle 2"/>
          <p:cNvSpPr/>
          <p:nvPr/>
        </p:nvSpPr>
        <p:spPr>
          <a:xfrm>
            <a:off x="457200" y="777240"/>
            <a:ext cx="11277295" cy="1051560"/>
          </a:xfrm>
          <a:prstGeom prst="roundRect">
            <a:avLst/>
          </a:prstGeom>
          <a:solidFill>
            <a:srgbClr val="E5EB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r>
              <a:rPr sz="1000" i="1">
                <a:solidFill>
                  <a:srgbClr val="031734"/>
                </a:solidFill>
              </a:rPr>
              <a:t>Le projet présente une stratégie de croissance RH ambitieuse. Quelle est la stratégie pour s'assurer de trouver les profils adéquats, potentiellement rares sur le marché ?</a:t>
            </a:r>
          </a:p>
          <a:p>
            <a:r>
              <a:rPr sz="900" i="1">
                <a:solidFill>
                  <a:srgbClr val="999999"/>
                </a:solidFill>
              </a:rPr>
              <a:t>What is the strategy for ensuring that adequate profiles, potentially rare on the market, can be found?</a:t>
            </a:r>
          </a:p>
        </p:txBody>
      </p:sp>
      <p:sp>
        <p:nvSpPr>
          <p:cNvPr id="4" name="Rounded Rectangle 3"/>
          <p:cNvSpPr/>
          <p:nvPr/>
        </p:nvSpPr>
        <p:spPr>
          <a:xfrm>
            <a:off x="9448495" y="137160"/>
            <a:ext cx="1097280" cy="3200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Gouvernance</a:t>
            </a:r>
          </a:p>
        </p:txBody>
      </p:sp>
      <p:pic>
        <p:nvPicPr>
          <p:cNvPr id="5" name="Picture 4" descr="logo_header.png"/>
          <p:cNvPicPr>
            <a:picLocks noChangeAspect="1"/>
          </p:cNvPicPr>
          <p:nvPr/>
        </p:nvPicPr>
        <p:blipFill>
          <a:blip r:embed="rId2"/>
          <a:stretch>
            <a:fillRect/>
          </a:stretch>
        </p:blipFill>
        <p:spPr>
          <a:xfrm>
            <a:off x="10637215" y="137160"/>
            <a:ext cx="1371600" cy="384048"/>
          </a:xfrm>
          <a:prstGeom prst="rect">
            <a:avLst/>
          </a:prstGeom>
        </p:spPr>
      </p:pic>
      <p:sp>
        <p:nvSpPr>
          <p:cNvPr id="6" name="Rectangle 5"/>
          <p:cNvSpPr/>
          <p:nvPr/>
        </p:nvSpPr>
        <p:spPr>
          <a:xfrm>
            <a:off x="0" y="6446520"/>
            <a:ext cx="12191695" cy="411480"/>
          </a:xfrm>
          <a:prstGeom prst="rect">
            <a:avLst/>
          </a:prstGeom>
          <a:solidFill>
            <a:srgbClr val="0317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999999"/>
                </a:solidFill>
              </a:defRPr>
            </a:pPr>
            <a:r>
              <a:t>ArcaScience — I-demo Q&amp;A — Confidentiel — Avril 2026          15</a:t>
            </a:r>
          </a:p>
        </p:txBody>
      </p:sp>
      <p:sp>
        <p:nvSpPr>
          <p:cNvPr id="7" name="Rounded Rectangle 6"/>
          <p:cNvSpPr/>
          <p:nvPr/>
        </p:nvSpPr>
        <p:spPr>
          <a:xfrm>
            <a:off x="548640" y="1920240"/>
            <a:ext cx="11094415" cy="457200"/>
          </a:xfrm>
          <a:prstGeom prst="round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a:lstStyle/>
          <a:p>
            <a:pPr algn="ctr"/>
            <a:r>
              <a:rPr sz="1200" b="1">
                <a:solidFill>
                  <a:srgbClr val="999999"/>
                </a:solidFill>
              </a:rPr>
              <a:t>À compléter — RH / Direction</a:t>
            </a:r>
          </a:p>
        </p:txBody>
      </p:sp>
      <p:sp>
        <p:nvSpPr>
          <p:cNvPr id="8" name="TextBox 7"/>
          <p:cNvSpPr txBox="1"/>
          <p:nvPr/>
        </p:nvSpPr>
        <p:spPr>
          <a:xfrm>
            <a:off x="548640" y="2468880"/>
            <a:ext cx="11094415" cy="2286000"/>
          </a:xfrm>
          <a:prstGeom prst="rect">
            <a:avLst/>
          </a:prstGeom>
          <a:noFill/>
        </p:spPr>
        <p:txBody>
          <a:bodyPr wrap="square">
            <a:spAutoFit/>
          </a:bodyPr>
          <a:lstStyle/>
          <a:p/>
        </p:txBody>
      </p:sp>
      <p:sp>
        <p:nvSpPr>
          <p:cNvPr id="9" name="Rounded Rectangle 8"/>
          <p:cNvSpPr/>
          <p:nvPr/>
        </p:nvSpPr>
        <p:spPr>
          <a:xfrm>
            <a:off x="548640" y="4389120"/>
            <a:ext cx="11094415" cy="2011680"/>
          </a:xfrm>
          <a:prstGeom prst="roundRect">
            <a:avLst/>
          </a:prstGeom>
          <a:solidFill>
            <a:srgbClr val="FFF8E1"/>
          </a:solidFill>
          <a:ln w="19050">
            <a:solidFill>
              <a:srgbClr val="FFAB4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r>
              <a:rPr sz="1000" b="1">
                <a:solidFill>
                  <a:srgbClr val="FFAB40"/>
                </a:solidFill>
              </a:rPr>
              <a:t>DRAFT — à valider par RH / Direction</a:t>
            </a:r>
          </a:p>
          <a:p>
            <a:r>
              <a:rPr sz="1000">
                <a:solidFill>
                  <a:srgbClr val="434343"/>
                </a:solidFill>
              </a:rPr>
              <a:t>Proposition de réponse :
• Pipeline CIFRE : 4 doctorants en IA, pharmacologie et réglementaire — vivier académique directement intégré au projet
• Co-supervision INRIA : accès au réseau de chercheurs seniors en ML/IA pour les profils R&amp;D les plus pointus
• Sourcing international : partenariats Sanofi, Cedars-Sinai, Mayo Clinic comme canaux de recrutement (physician-scientists, data scientists cliniques)
• Plan de recrutement 2026 : 47 postes dont 27 R&amp;D — recrutement échelonné aligné sur les jalons WP
• Packages compétitifs : equity + participation au projet I-demo comme levier d'attractivité
• Équipe fondatrice expérimentée : VS (19 thèses dirigées), expertise en encadrement scientifique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7772400" cy="594360"/>
          </a:xfrm>
          <a:prstGeom prst="rect">
            <a:avLst/>
          </a:prstGeom>
          <a:noFill/>
        </p:spPr>
        <p:txBody>
          <a:bodyPr wrap="square">
            <a:spAutoFit/>
          </a:bodyPr>
          <a:lstStyle/>
          <a:p>
            <a:r>
              <a:rPr sz="2200" b="1">
                <a:solidFill>
                  <a:srgbClr val="031734"/>
                </a:solidFill>
              </a:rPr>
              <a:t>Q14 — Scénarios alternatifs — défaillance WP</a:t>
            </a:r>
          </a:p>
        </p:txBody>
      </p:sp>
      <p:sp>
        <p:nvSpPr>
          <p:cNvPr id="3" name="Rounded Rectangle 2"/>
          <p:cNvSpPr/>
          <p:nvPr/>
        </p:nvSpPr>
        <p:spPr>
          <a:xfrm>
            <a:off x="457200" y="777240"/>
            <a:ext cx="11277295" cy="1051560"/>
          </a:xfrm>
          <a:prstGeom prst="roundRect">
            <a:avLst/>
          </a:prstGeom>
          <a:solidFill>
            <a:srgbClr val="E5EB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r>
              <a:rPr sz="1000" i="1">
                <a:solidFill>
                  <a:srgbClr val="031734"/>
                </a:solidFill>
              </a:rPr>
              <a:t>Y a-t-il des scénarios alternatifs prévus en cas de défaillance d'un WP (difficulté d'accès à une BDD, absence de validation d'un modèle…) ?</a:t>
            </a:r>
          </a:p>
          <a:p>
            <a:r>
              <a:rPr sz="900" i="1">
                <a:solidFill>
                  <a:srgbClr val="999999"/>
                </a:solidFill>
              </a:rPr>
              <a:t>Are there alternative scenarios in case of WP failure (database access issues, model validation failure)?</a:t>
            </a:r>
          </a:p>
        </p:txBody>
      </p:sp>
      <p:sp>
        <p:nvSpPr>
          <p:cNvPr id="4" name="Rounded Rectangle 3"/>
          <p:cNvSpPr/>
          <p:nvPr/>
        </p:nvSpPr>
        <p:spPr>
          <a:xfrm>
            <a:off x="9448495" y="137160"/>
            <a:ext cx="1097280" cy="3200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Cross</a:t>
            </a:r>
          </a:p>
        </p:txBody>
      </p:sp>
      <p:pic>
        <p:nvPicPr>
          <p:cNvPr id="5" name="Picture 4" descr="logo_header.png"/>
          <p:cNvPicPr>
            <a:picLocks noChangeAspect="1"/>
          </p:cNvPicPr>
          <p:nvPr/>
        </p:nvPicPr>
        <p:blipFill>
          <a:blip r:embed="rId2"/>
          <a:stretch>
            <a:fillRect/>
          </a:stretch>
        </p:blipFill>
        <p:spPr>
          <a:xfrm>
            <a:off x="10637215" y="137160"/>
            <a:ext cx="1371600" cy="384048"/>
          </a:xfrm>
          <a:prstGeom prst="rect">
            <a:avLst/>
          </a:prstGeom>
        </p:spPr>
      </p:pic>
      <p:sp>
        <p:nvSpPr>
          <p:cNvPr id="6" name="Rectangle 5"/>
          <p:cNvSpPr/>
          <p:nvPr/>
        </p:nvSpPr>
        <p:spPr>
          <a:xfrm>
            <a:off x="0" y="6446520"/>
            <a:ext cx="12191695" cy="411480"/>
          </a:xfrm>
          <a:prstGeom prst="rect">
            <a:avLst/>
          </a:prstGeom>
          <a:solidFill>
            <a:srgbClr val="0317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999999"/>
                </a:solidFill>
              </a:defRPr>
            </a:pPr>
            <a:r>
              <a:t>ArcaScience — I-demo Q&amp;A — Confidentiel — Avril 2026          16</a:t>
            </a:r>
          </a:p>
        </p:txBody>
      </p:sp>
      <p:sp>
        <p:nvSpPr>
          <p:cNvPr id="7" name="TextBox 6"/>
          <p:cNvSpPr txBox="1"/>
          <p:nvPr/>
        </p:nvSpPr>
        <p:spPr>
          <a:xfrm>
            <a:off x="548640" y="1965960"/>
            <a:ext cx="11094415" cy="4114800"/>
          </a:xfrm>
          <a:prstGeom prst="rect">
            <a:avLst/>
          </a:prstGeom>
          <a:noFill/>
        </p:spPr>
        <p:txBody>
          <a:bodyPr wrap="square">
            <a:spAutoFit/>
          </a:bodyPr>
          <a:lstStyle/>
          <a:p>
            <a:pPr>
              <a:spcBef>
                <a:spcPts val="400"/>
              </a:spcBef>
              <a:spcAft>
                <a:spcPts val="200"/>
              </a:spcAft>
            </a:pPr>
            <a:r>
              <a:rPr sz="1300" b="1">
                <a:solidFill>
                  <a:srgbClr val="1973C2"/>
                </a:solidFill>
              </a:rPr>
              <a:t>Accès aux données</a:t>
            </a:r>
          </a:p>
          <a:p>
            <a:pPr lvl="1">
              <a:spcBef>
                <a:spcPts val="100"/>
              </a:spcBef>
              <a:spcAft>
                <a:spcPts val="100"/>
              </a:spcAft>
            </a:pPr>
            <a:r>
              <a:rPr sz="1100">
                <a:solidFill>
                  <a:srgbClr val="434343"/>
                </a:solidFill>
              </a:rPr>
              <a:t>Anticipation : jusqu'à 50% des BDD non exploitables (qualité, contrats, délais)</a:t>
            </a:r>
          </a:p>
          <a:p>
            <a:pPr lvl="1">
              <a:spcBef>
                <a:spcPts val="100"/>
              </a:spcBef>
              <a:spcAft>
                <a:spcPts val="100"/>
              </a:spcAft>
            </a:pPr>
            <a:r>
              <a:rPr sz="1100">
                <a:solidFill>
                  <a:srgbClr val="434343"/>
                </a:solidFill>
              </a:rPr>
              <a:t>Stratégie : multiplication des sources et partenaires — aucun n'est indispensable</a:t>
            </a:r>
          </a:p>
          <a:p>
            <a:pPr lvl="1">
              <a:spcBef>
                <a:spcPts val="100"/>
              </a:spcBef>
              <a:spcAft>
                <a:spcPts val="100"/>
              </a:spcAft>
            </a:pPr>
            <a:r>
              <a:rPr sz="1100">
                <a:solidFill>
                  <a:srgbClr val="434343"/>
                </a:solidFill>
              </a:rPr>
              <a:t>WP4 (RWE) : risque plus élevé mais non bloquant — FAERS public + WP1-3 suffisants pour le modèle</a:t>
            </a:r>
          </a:p>
          <a:p>
            <a:pPr lvl="1">
              <a:spcBef>
                <a:spcPts val="100"/>
              </a:spcBef>
              <a:spcAft>
                <a:spcPts val="100"/>
              </a:spcAft>
            </a:pPr>
            <a:r>
              <a:rPr sz="1100">
                <a:solidFill>
                  <a:srgbClr val="434343"/>
                </a:solidFill>
              </a:rPr>
              <a:t>WP1-3 : sources principalement publiques (ChEMBL, ToxCast, PharmGKB, ClinVar…) — risque faible</a:t>
            </a:r>
          </a:p>
          <a:p>
            <a:pPr>
              <a:spcBef>
                <a:spcPts val="400"/>
              </a:spcBef>
              <a:spcAft>
                <a:spcPts val="0"/>
              </a:spcAft>
            </a:pPr>
          </a:p>
          <a:p>
            <a:pPr>
              <a:spcBef>
                <a:spcPts val="400"/>
              </a:spcBef>
              <a:spcAft>
                <a:spcPts val="200"/>
              </a:spcAft>
            </a:pPr>
            <a:r>
              <a:rPr sz="1300" b="1">
                <a:solidFill>
                  <a:srgbClr val="1973C2"/>
                </a:solidFill>
              </a:rPr>
              <a:t>Validation insuffisante d'un modèle</a:t>
            </a:r>
          </a:p>
          <a:p>
            <a:pPr lvl="1">
              <a:spcBef>
                <a:spcPts val="100"/>
              </a:spcBef>
              <a:spcAft>
                <a:spcPts val="100"/>
              </a:spcAft>
            </a:pPr>
            <a:r>
              <a:rPr sz="1100">
                <a:solidFill>
                  <a:srgbClr val="434343"/>
                </a:solidFill>
              </a:rPr>
              <a:t>Validation = notion multi-niveaux : 1) in silico, 2) basée sur les connaissances, 3) expérimentale</a:t>
            </a:r>
          </a:p>
          <a:p>
            <a:pPr lvl="1">
              <a:spcBef>
                <a:spcPts val="100"/>
              </a:spcBef>
              <a:spcAft>
                <a:spcPts val="100"/>
              </a:spcAft>
            </a:pPr>
            <a:r>
              <a:rPr sz="1100">
                <a:solidFill>
                  <a:srgbClr val="434343"/>
                </a:solidFill>
              </a:rPr>
              <a:t>Validation quantitative et par tâche — un modèle peut être validé partiellement</a:t>
            </a:r>
          </a:p>
          <a:p>
            <a:pPr lvl="1">
              <a:spcBef>
                <a:spcPts val="100"/>
              </a:spcBef>
              <a:spcAft>
                <a:spcPts val="100"/>
              </a:spcAft>
            </a:pPr>
            <a:r>
              <a:rPr sz="1100">
                <a:solidFill>
                  <a:srgbClr val="434343"/>
                </a:solidFill>
              </a:rPr>
              <a:t>Standards de validation multi-points, qualitative et quantitative appliqués systématiquement</a:t>
            </a:r>
          </a:p>
          <a:p>
            <a:pPr lvl="1">
              <a:spcBef>
                <a:spcPts val="100"/>
              </a:spcBef>
              <a:spcAft>
                <a:spcPts val="100"/>
              </a:spcAft>
            </a:pPr>
            <a:r>
              <a:rPr sz="1100">
                <a:solidFill>
                  <a:srgbClr val="434343"/>
                </a:solidFill>
              </a:rPr>
              <a:t>Si validation insuffisante → analyse des causes → 1) boucle rétroactive, 2) ajout de données ciblées</a:t>
            </a:r>
          </a:p>
          <a:p>
            <a:pPr>
              <a:spcBef>
                <a:spcPts val="400"/>
              </a:spcBef>
              <a:spcAft>
                <a:spcPts val="0"/>
              </a:spcAft>
            </a:pPr>
          </a:p>
          <a:p>
            <a:pPr>
              <a:spcBef>
                <a:spcPts val="400"/>
              </a:spcBef>
              <a:spcAft>
                <a:spcPts val="200"/>
              </a:spcAft>
            </a:pPr>
            <a:r>
              <a:rPr sz="1300" b="1">
                <a:solidFill>
                  <a:srgbClr val="1973C2"/>
                </a:solidFill>
              </a:rPr>
              <a:t>Architecture résiliente</a:t>
            </a:r>
          </a:p>
          <a:p>
            <a:pPr lvl="1">
              <a:spcBef>
                <a:spcPts val="100"/>
              </a:spcBef>
              <a:spcAft>
                <a:spcPts val="100"/>
              </a:spcAft>
            </a:pPr>
            <a:r>
              <a:rPr sz="1100">
                <a:solidFill>
                  <a:srgbClr val="434343"/>
                </a:solidFill>
              </a:rPr>
              <a:t>WP1-4 indépendants : chacun délivre une valeur standalone</a:t>
            </a:r>
          </a:p>
          <a:p>
            <a:pPr lvl="1">
              <a:spcBef>
                <a:spcPts val="100"/>
              </a:spcBef>
              <a:spcAft>
                <a:spcPts val="100"/>
              </a:spcAft>
            </a:pPr>
            <a:r>
              <a:rPr sz="1100">
                <a:solidFill>
                  <a:srgbClr val="434343"/>
                </a:solidFill>
              </a:rPr>
              <a:t>WP6 World Model : gère les modalités manquantes via learned mask tokens (mode dégradé robuste)</a:t>
            </a:r>
          </a:p>
          <a:p>
            <a:pPr lvl="1">
              <a:spcBef>
                <a:spcPts val="100"/>
              </a:spcBef>
              <a:spcAft>
                <a:spcPts val="100"/>
              </a:spcAft>
            </a:pPr>
            <a:r>
              <a:rPr sz="1100">
                <a:solidFill>
                  <a:srgbClr val="434343"/>
                </a:solidFill>
              </a:rPr>
              <a:t>WP6 = axe exploratoire — recherche de frontière, validée par expériences focalisées avant engagement complet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7772400" cy="594360"/>
          </a:xfrm>
          <a:prstGeom prst="rect">
            <a:avLst/>
          </a:prstGeom>
          <a:noFill/>
        </p:spPr>
        <p:txBody>
          <a:bodyPr wrap="square">
            <a:spAutoFit/>
          </a:bodyPr>
          <a:lstStyle/>
          <a:p>
            <a:r>
              <a:rPr sz="2200" b="1">
                <a:solidFill>
                  <a:srgbClr val="031734"/>
                </a:solidFill>
              </a:rPr>
              <a:t>Q15 — Sous-traitance INRIA et PI</a:t>
            </a:r>
          </a:p>
        </p:txBody>
      </p:sp>
      <p:sp>
        <p:nvSpPr>
          <p:cNvPr id="3" name="Rounded Rectangle 2"/>
          <p:cNvSpPr/>
          <p:nvPr/>
        </p:nvSpPr>
        <p:spPr>
          <a:xfrm>
            <a:off x="457200" y="777240"/>
            <a:ext cx="11277295" cy="1051560"/>
          </a:xfrm>
          <a:prstGeom prst="roundRect">
            <a:avLst/>
          </a:prstGeom>
          <a:solidFill>
            <a:srgbClr val="E5EB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r>
              <a:rPr sz="1000" i="1">
                <a:solidFill>
                  <a:srgbClr val="031734"/>
                </a:solidFill>
              </a:rPr>
              <a:t>Quelle est la nature de la sous-traitance de l'INRIA et quels sont les profils impliqués du côté de ce prestataire ? Y a-t-il un partage de la PI ?</a:t>
            </a:r>
          </a:p>
          <a:p>
            <a:r>
              <a:rPr sz="900" i="1">
                <a:solidFill>
                  <a:srgbClr val="999999"/>
                </a:solidFill>
              </a:rPr>
              <a:t>What is the nature of INRIA's subcontracting? What profiles are involved? Is there IP sharing?</a:t>
            </a:r>
          </a:p>
        </p:txBody>
      </p:sp>
      <p:sp>
        <p:nvSpPr>
          <p:cNvPr id="4" name="Rounded Rectangle 3"/>
          <p:cNvSpPr/>
          <p:nvPr/>
        </p:nvSpPr>
        <p:spPr>
          <a:xfrm>
            <a:off x="9448495" y="137160"/>
            <a:ext cx="1097280" cy="320040"/>
          </a:xfrm>
          <a:prstGeom prst="roundRect">
            <a:avLst/>
          </a:prstGeom>
          <a:solidFill>
            <a:srgbClr val="7B1FA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WP5</a:t>
            </a:r>
          </a:p>
        </p:txBody>
      </p:sp>
      <p:pic>
        <p:nvPicPr>
          <p:cNvPr id="5" name="Picture 4" descr="logo_header.png"/>
          <p:cNvPicPr>
            <a:picLocks noChangeAspect="1"/>
          </p:cNvPicPr>
          <p:nvPr/>
        </p:nvPicPr>
        <p:blipFill>
          <a:blip r:embed="rId2"/>
          <a:stretch>
            <a:fillRect/>
          </a:stretch>
        </p:blipFill>
        <p:spPr>
          <a:xfrm>
            <a:off x="10637215" y="137160"/>
            <a:ext cx="1371600" cy="384048"/>
          </a:xfrm>
          <a:prstGeom prst="rect">
            <a:avLst/>
          </a:prstGeom>
        </p:spPr>
      </p:pic>
      <p:sp>
        <p:nvSpPr>
          <p:cNvPr id="6" name="Rectangle 5"/>
          <p:cNvSpPr/>
          <p:nvPr/>
        </p:nvSpPr>
        <p:spPr>
          <a:xfrm>
            <a:off x="0" y="6446520"/>
            <a:ext cx="12191695" cy="411480"/>
          </a:xfrm>
          <a:prstGeom prst="rect">
            <a:avLst/>
          </a:prstGeom>
          <a:solidFill>
            <a:srgbClr val="0317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999999"/>
                </a:solidFill>
              </a:defRPr>
            </a:pPr>
            <a:r>
              <a:t>ArcaScience — I-demo Q&amp;A — Confidentiel — Avril 2026          17</a:t>
            </a:r>
          </a:p>
        </p:txBody>
      </p:sp>
      <p:sp>
        <p:nvSpPr>
          <p:cNvPr id="7" name="Rounded Rectangle 6"/>
          <p:cNvSpPr/>
          <p:nvPr/>
        </p:nvSpPr>
        <p:spPr>
          <a:xfrm>
            <a:off x="548640" y="1920240"/>
            <a:ext cx="11094415" cy="457200"/>
          </a:xfrm>
          <a:prstGeom prst="round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a:lstStyle/>
          <a:p>
            <a:pPr algn="ctr"/>
            <a:r>
              <a:rPr sz="1200" b="1">
                <a:solidFill>
                  <a:srgbClr val="999999"/>
                </a:solidFill>
              </a:rPr>
              <a:t>À compléter — Direction / Cabinet Carrel</a:t>
            </a:r>
          </a:p>
        </p:txBody>
      </p:sp>
      <p:sp>
        <p:nvSpPr>
          <p:cNvPr id="8" name="TextBox 7"/>
          <p:cNvSpPr txBox="1"/>
          <p:nvPr/>
        </p:nvSpPr>
        <p:spPr>
          <a:xfrm>
            <a:off x="548640" y="2468880"/>
            <a:ext cx="11094415" cy="2286000"/>
          </a:xfrm>
          <a:prstGeom prst="rect">
            <a:avLst/>
          </a:prstGeom>
          <a:noFill/>
        </p:spPr>
        <p:txBody>
          <a:bodyPr wrap="square">
            <a:spAutoFit/>
          </a:bodyPr>
          <a:lstStyle/>
          <a:p/>
        </p:txBody>
      </p:sp>
      <p:sp>
        <p:nvSpPr>
          <p:cNvPr id="9" name="Rounded Rectangle 8"/>
          <p:cNvSpPr/>
          <p:nvPr/>
        </p:nvSpPr>
        <p:spPr>
          <a:xfrm>
            <a:off x="548640" y="4389120"/>
            <a:ext cx="11094415" cy="2011680"/>
          </a:xfrm>
          <a:prstGeom prst="roundRect">
            <a:avLst/>
          </a:prstGeom>
          <a:solidFill>
            <a:srgbClr val="FFF8E1"/>
          </a:solidFill>
          <a:ln w="19050">
            <a:solidFill>
              <a:srgbClr val="FFAB4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r>
              <a:rPr sz="1000" b="1">
                <a:solidFill>
                  <a:srgbClr val="FFAB40"/>
                </a:solidFill>
              </a:rPr>
              <a:t>DRAFT — à valider par Direction / Cabinet Carrel</a:t>
            </a:r>
          </a:p>
          <a:p>
            <a:r>
              <a:rPr sz="1000">
                <a:solidFill>
                  <a:srgbClr val="434343"/>
                </a:solidFill>
              </a:rPr>
              <a:t>Proposition de réponse :
• Nature : support méthodologique sur WP5 (Knowledge Graph) et WP6 (World Model) — expertise en graphes de connaissances, raisonnement causal, modélisation ML
• Profils INRIA : chercheurs seniors en ML/IA, spécialistes graphes et ontologies
• Publications conjointes : prévues dans le cadre des thèses CIFRE co-supervisées
• PI — Contrat standard INRIA :
  - Background IP : retenue par chaque partie
  - Foreground IP : co-propriété avec droits d'exploitation exclusifs pour ArcaScience dans le domaine pharma B-R
  - Publications : soumises à un délai de confidentialité (typiquement 6 mois) pour permettre le dépôt de brevets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7772400" cy="594360"/>
          </a:xfrm>
          <a:prstGeom prst="rect">
            <a:avLst/>
          </a:prstGeom>
          <a:noFill/>
        </p:spPr>
        <p:txBody>
          <a:bodyPr wrap="square">
            <a:spAutoFit/>
          </a:bodyPr>
          <a:lstStyle/>
          <a:p>
            <a:r>
              <a:rPr sz="2200" b="1">
                <a:solidFill>
                  <a:srgbClr val="031734"/>
                </a:solidFill>
              </a:rPr>
              <a:t>Q16 — Management traçabilité et qualité</a:t>
            </a:r>
          </a:p>
        </p:txBody>
      </p:sp>
      <p:sp>
        <p:nvSpPr>
          <p:cNvPr id="3" name="Rounded Rectangle 2"/>
          <p:cNvSpPr/>
          <p:nvPr/>
        </p:nvSpPr>
        <p:spPr>
          <a:xfrm>
            <a:off x="457200" y="777240"/>
            <a:ext cx="11277295" cy="1051560"/>
          </a:xfrm>
          <a:prstGeom prst="roundRect">
            <a:avLst/>
          </a:prstGeom>
          <a:solidFill>
            <a:srgbClr val="E5EB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r>
              <a:rPr sz="1000" i="1">
                <a:solidFill>
                  <a:srgbClr val="031734"/>
                </a:solidFill>
              </a:rPr>
              <a:t>Quelle est la stratégie de management de la traçabilité et de la qualité des développements prévus dans les WP ? Quelles méthodes et outils seront mis en place ?</a:t>
            </a:r>
          </a:p>
          <a:p>
            <a:r>
              <a:rPr sz="900" i="1">
                <a:solidFill>
                  <a:srgbClr val="999999"/>
                </a:solidFill>
              </a:rPr>
              <a:t>What is the management strategy for traceability and quality of the developments planned in the WPs?</a:t>
            </a:r>
          </a:p>
        </p:txBody>
      </p:sp>
      <p:sp>
        <p:nvSpPr>
          <p:cNvPr id="4" name="Rounded Rectangle 3"/>
          <p:cNvSpPr/>
          <p:nvPr/>
        </p:nvSpPr>
        <p:spPr>
          <a:xfrm>
            <a:off x="9448495" y="137160"/>
            <a:ext cx="1097280" cy="3200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Cross</a:t>
            </a:r>
          </a:p>
        </p:txBody>
      </p:sp>
      <p:pic>
        <p:nvPicPr>
          <p:cNvPr id="5" name="Picture 4" descr="logo_header.png"/>
          <p:cNvPicPr>
            <a:picLocks noChangeAspect="1"/>
          </p:cNvPicPr>
          <p:nvPr/>
        </p:nvPicPr>
        <p:blipFill>
          <a:blip r:embed="rId2"/>
          <a:stretch>
            <a:fillRect/>
          </a:stretch>
        </p:blipFill>
        <p:spPr>
          <a:xfrm>
            <a:off x="10637215" y="137160"/>
            <a:ext cx="1371600" cy="384048"/>
          </a:xfrm>
          <a:prstGeom prst="rect">
            <a:avLst/>
          </a:prstGeom>
        </p:spPr>
      </p:pic>
      <p:sp>
        <p:nvSpPr>
          <p:cNvPr id="6" name="Rectangle 5"/>
          <p:cNvSpPr/>
          <p:nvPr/>
        </p:nvSpPr>
        <p:spPr>
          <a:xfrm>
            <a:off x="0" y="6446520"/>
            <a:ext cx="12191695" cy="411480"/>
          </a:xfrm>
          <a:prstGeom prst="rect">
            <a:avLst/>
          </a:prstGeom>
          <a:solidFill>
            <a:srgbClr val="0317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999999"/>
                </a:solidFill>
              </a:defRPr>
            </a:pPr>
            <a:r>
              <a:t>ArcaScience — I-demo Q&amp;A — Confidentiel — Avril 2026          18</a:t>
            </a:r>
          </a:p>
        </p:txBody>
      </p:sp>
      <p:sp>
        <p:nvSpPr>
          <p:cNvPr id="7" name="TextBox 6"/>
          <p:cNvSpPr txBox="1"/>
          <p:nvPr/>
        </p:nvSpPr>
        <p:spPr>
          <a:xfrm>
            <a:off x="548640" y="1965960"/>
            <a:ext cx="11094415" cy="4114800"/>
          </a:xfrm>
          <a:prstGeom prst="rect">
            <a:avLst/>
          </a:prstGeom>
          <a:noFill/>
        </p:spPr>
        <p:txBody>
          <a:bodyPr wrap="square">
            <a:spAutoFit/>
          </a:bodyPr>
          <a:lstStyle/>
          <a:p>
            <a:pPr>
              <a:spcBef>
                <a:spcPts val="400"/>
              </a:spcBef>
              <a:spcAft>
                <a:spcPts val="200"/>
              </a:spcAft>
            </a:pPr>
            <a:r>
              <a:rPr sz="1300" b="1">
                <a:solidFill>
                  <a:srgbClr val="1973C2"/>
                </a:solidFill>
              </a:rPr>
              <a:t>Cadre de contrôle qualité</a:t>
            </a:r>
          </a:p>
          <a:p>
            <a:pPr lvl="1">
              <a:spcBef>
                <a:spcPts val="100"/>
              </a:spcBef>
              <a:spcAft>
                <a:spcPts val="100"/>
              </a:spcAft>
            </a:pPr>
            <a:r>
              <a:rPr sz="1100">
                <a:solidFill>
                  <a:srgbClr val="434343"/>
                </a:solidFill>
              </a:rPr>
              <a:t>Contrôle qualité à toutes les étapes : cohortes patients, données, traitement, intégration, modèles, performances</a:t>
            </a:r>
          </a:p>
          <a:p>
            <a:pPr lvl="1">
              <a:spcBef>
                <a:spcPts val="100"/>
              </a:spcBef>
              <a:spcAft>
                <a:spcPts val="100"/>
              </a:spcAft>
            </a:pPr>
            <a:r>
              <a:rPr sz="1100">
                <a:solidFill>
                  <a:srgbClr val="434343"/>
                </a:solidFill>
              </a:rPr>
              <a:t>SOPs préparées à l'avance et suivies rigoureusement</a:t>
            </a:r>
          </a:p>
          <a:p>
            <a:pPr lvl="1">
              <a:spcBef>
                <a:spcPts val="100"/>
              </a:spcBef>
              <a:spcAft>
                <a:spcPts val="100"/>
              </a:spcAft>
            </a:pPr>
            <a:r>
              <a:rPr sz="1100">
                <a:solidFill>
                  <a:srgbClr val="434343"/>
                </a:solidFill>
              </a:rPr>
              <a:t>SOPs transmises à tous les partenaires pour garantir homogénéité des procédures</a:t>
            </a:r>
          </a:p>
          <a:p>
            <a:pPr>
              <a:spcBef>
                <a:spcPts val="400"/>
              </a:spcBef>
              <a:spcAft>
                <a:spcPts val="0"/>
              </a:spcAft>
            </a:pPr>
          </a:p>
          <a:p>
            <a:pPr>
              <a:spcBef>
                <a:spcPts val="400"/>
              </a:spcBef>
              <a:spcAft>
                <a:spcPts val="200"/>
              </a:spcAft>
            </a:pPr>
            <a:r>
              <a:rPr sz="1300" b="1">
                <a:solidFill>
                  <a:srgbClr val="1973C2"/>
                </a:solidFill>
              </a:rPr>
              <a:t>Outils</a:t>
            </a:r>
          </a:p>
          <a:p>
            <a:pPr lvl="1">
              <a:spcBef>
                <a:spcPts val="100"/>
              </a:spcBef>
              <a:spcAft>
                <a:spcPts val="100"/>
              </a:spcAft>
            </a:pPr>
            <a:r>
              <a:rPr sz="1100">
                <a:solidFill>
                  <a:srgbClr val="434343"/>
                </a:solidFill>
              </a:rPr>
              <a:t>MLflow : versioning modèles, tracking expériences, stockage artefacts</a:t>
            </a:r>
          </a:p>
          <a:p>
            <a:pPr lvl="1">
              <a:spcBef>
                <a:spcPts val="100"/>
              </a:spcBef>
              <a:spcAft>
                <a:spcPts val="100"/>
              </a:spcAft>
            </a:pPr>
            <a:r>
              <a:rPr sz="1100">
                <a:solidFill>
                  <a:srgbClr val="434343"/>
                </a:solidFill>
              </a:rPr>
              <a:t>SonarQube : quality gate sur chaque mise en production</a:t>
            </a:r>
          </a:p>
          <a:p>
            <a:pPr lvl="1">
              <a:spcBef>
                <a:spcPts val="100"/>
              </a:spcBef>
              <a:spcAft>
                <a:spcPts val="100"/>
              </a:spcAft>
            </a:pPr>
            <a:r>
              <a:rPr sz="1100">
                <a:solidFill>
                  <a:srgbClr val="434343"/>
                </a:solidFill>
              </a:rPr>
              <a:t>Prometheus / Grafana : monitoring infrastructure et disponibilité</a:t>
            </a:r>
          </a:p>
          <a:p>
            <a:pPr lvl="1">
              <a:spcBef>
                <a:spcPts val="100"/>
              </a:spcBef>
              <a:spcAft>
                <a:spcPts val="100"/>
              </a:spcAft>
            </a:pPr>
            <a:r>
              <a:rPr sz="1100">
                <a:solidFill>
                  <a:srgbClr val="434343"/>
                </a:solidFill>
              </a:rPr>
              <a:t>Audit trail via API sécurisée</a:t>
            </a:r>
          </a:p>
          <a:p>
            <a:pPr>
              <a:spcBef>
                <a:spcPts val="400"/>
              </a:spcBef>
              <a:spcAft>
                <a:spcPts val="0"/>
              </a:spcAft>
            </a:pPr>
          </a:p>
          <a:p>
            <a:pPr>
              <a:spcBef>
                <a:spcPts val="400"/>
              </a:spcBef>
              <a:spcAft>
                <a:spcPts val="200"/>
              </a:spcAft>
            </a:pPr>
            <a:r>
              <a:rPr sz="1300" b="1">
                <a:solidFill>
                  <a:srgbClr val="1973C2"/>
                </a:solidFill>
              </a:rPr>
              <a:t>Attention particulière aux biais</a:t>
            </a:r>
          </a:p>
          <a:p>
            <a:pPr lvl="1">
              <a:spcBef>
                <a:spcPts val="100"/>
              </a:spcBef>
              <a:spcAft>
                <a:spcPts val="100"/>
              </a:spcAft>
            </a:pPr>
            <a:r>
              <a:rPr sz="1100">
                <a:solidFill>
                  <a:srgbClr val="434343"/>
                </a:solidFill>
              </a:rPr>
              <a:t>Détection et mitigation systématiques à chaque étape</a:t>
            </a:r>
          </a:p>
          <a:p>
            <a:pPr lvl="1">
              <a:spcBef>
                <a:spcPts val="100"/>
              </a:spcBef>
              <a:spcAft>
                <a:spcPts val="100"/>
              </a:spcAft>
            </a:pPr>
            <a:r>
              <a:rPr sz="1100">
                <a:solidFill>
                  <a:srgbClr val="434343"/>
                </a:solidFill>
              </a:rPr>
              <a:t>Objectif : modèle basé sur éléments cliniques et biologiques robustes</a:t>
            </a:r>
          </a:p>
          <a:p>
            <a:pPr lvl="1">
              <a:spcBef>
                <a:spcPts val="100"/>
              </a:spcBef>
              <a:spcAft>
                <a:spcPts val="100"/>
              </a:spcAft>
            </a:pPr>
            <a:r>
              <a:rPr sz="1100">
                <a:solidFill>
                  <a:srgbClr val="434343"/>
                </a:solidFill>
              </a:rPr>
              <a:t>Diminution du bruit et des biais inhérents aux données biomédicales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7772400" cy="594360"/>
          </a:xfrm>
          <a:prstGeom prst="rect">
            <a:avLst/>
          </a:prstGeom>
          <a:noFill/>
        </p:spPr>
        <p:txBody>
          <a:bodyPr wrap="square">
            <a:spAutoFit/>
          </a:bodyPr>
          <a:lstStyle/>
          <a:p>
            <a:r>
              <a:rPr sz="2200" b="1">
                <a:solidFill>
                  <a:srgbClr val="031734"/>
                </a:solidFill>
              </a:rPr>
              <a:t>Q17 — Discussions partenariales pharma (T7.3)</a:t>
            </a:r>
          </a:p>
        </p:txBody>
      </p:sp>
      <p:sp>
        <p:nvSpPr>
          <p:cNvPr id="3" name="Rounded Rectangle 2"/>
          <p:cNvSpPr/>
          <p:nvPr/>
        </p:nvSpPr>
        <p:spPr>
          <a:xfrm>
            <a:off x="457200" y="777240"/>
            <a:ext cx="11277295" cy="1051560"/>
          </a:xfrm>
          <a:prstGeom prst="roundRect">
            <a:avLst/>
          </a:prstGeom>
          <a:solidFill>
            <a:srgbClr val="E5EB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r>
              <a:rPr sz="1000" i="1">
                <a:solidFill>
                  <a:srgbClr val="031734"/>
                </a:solidFill>
              </a:rPr>
              <a:t>Pourquoi les discussions partenariales avec l'industrie pharmaceutique (T7.3) s'arrêtent à M24 sur le diagramme de Gantt ? Quelle est la portée de ces discussions ?</a:t>
            </a:r>
          </a:p>
          <a:p>
            <a:r>
              <a:rPr sz="900" i="1">
                <a:solidFill>
                  <a:srgbClr val="999999"/>
                </a:solidFill>
              </a:rPr>
              <a:t>Why do partnership discussions with pharma (T7.3) stop at M24? What is their scope?</a:t>
            </a:r>
          </a:p>
        </p:txBody>
      </p:sp>
      <p:sp>
        <p:nvSpPr>
          <p:cNvPr id="4" name="Rounded Rectangle 3"/>
          <p:cNvSpPr/>
          <p:nvPr/>
        </p:nvSpPr>
        <p:spPr>
          <a:xfrm>
            <a:off x="9448495" y="137160"/>
            <a:ext cx="1097280" cy="320040"/>
          </a:xfrm>
          <a:prstGeom prst="roundRect">
            <a:avLst/>
          </a:prstGeom>
          <a:solidFill>
            <a:srgbClr val="75757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WP7</a:t>
            </a:r>
          </a:p>
        </p:txBody>
      </p:sp>
      <p:pic>
        <p:nvPicPr>
          <p:cNvPr id="5" name="Picture 4" descr="logo_header.png"/>
          <p:cNvPicPr>
            <a:picLocks noChangeAspect="1"/>
          </p:cNvPicPr>
          <p:nvPr/>
        </p:nvPicPr>
        <p:blipFill>
          <a:blip r:embed="rId2"/>
          <a:stretch>
            <a:fillRect/>
          </a:stretch>
        </p:blipFill>
        <p:spPr>
          <a:xfrm>
            <a:off x="10637215" y="137160"/>
            <a:ext cx="1371600" cy="384048"/>
          </a:xfrm>
          <a:prstGeom prst="rect">
            <a:avLst/>
          </a:prstGeom>
        </p:spPr>
      </p:pic>
      <p:sp>
        <p:nvSpPr>
          <p:cNvPr id="6" name="Rectangle 5"/>
          <p:cNvSpPr/>
          <p:nvPr/>
        </p:nvSpPr>
        <p:spPr>
          <a:xfrm>
            <a:off x="0" y="6446520"/>
            <a:ext cx="12191695" cy="411480"/>
          </a:xfrm>
          <a:prstGeom prst="rect">
            <a:avLst/>
          </a:prstGeom>
          <a:solidFill>
            <a:srgbClr val="0317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999999"/>
                </a:solidFill>
              </a:defRPr>
            </a:pPr>
            <a:r>
              <a:t>ArcaScience — I-demo Q&amp;A — Confidentiel — Avril 2026          19</a:t>
            </a:r>
          </a:p>
        </p:txBody>
      </p:sp>
      <p:sp>
        <p:nvSpPr>
          <p:cNvPr id="7" name="Rounded Rectangle 6"/>
          <p:cNvSpPr/>
          <p:nvPr/>
        </p:nvSpPr>
        <p:spPr>
          <a:xfrm>
            <a:off x="548640" y="1920240"/>
            <a:ext cx="11094415" cy="457200"/>
          </a:xfrm>
          <a:prstGeom prst="round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a:lstStyle/>
          <a:p>
            <a:pPr algn="ctr"/>
            <a:r>
              <a:rPr sz="1200" b="1">
                <a:solidFill>
                  <a:srgbClr val="999999"/>
                </a:solidFill>
              </a:rPr>
              <a:t>À compléter — Direction / Stratégie commerciale</a:t>
            </a:r>
          </a:p>
        </p:txBody>
      </p:sp>
      <p:sp>
        <p:nvSpPr>
          <p:cNvPr id="8" name="TextBox 7"/>
          <p:cNvSpPr txBox="1"/>
          <p:nvPr/>
        </p:nvSpPr>
        <p:spPr>
          <a:xfrm>
            <a:off x="548640" y="2468880"/>
            <a:ext cx="11094415" cy="2286000"/>
          </a:xfrm>
          <a:prstGeom prst="rect">
            <a:avLst/>
          </a:prstGeom>
          <a:noFill/>
        </p:spPr>
        <p:txBody>
          <a:bodyPr wrap="square">
            <a:spAutoFit/>
          </a:bodyPr>
          <a:lstStyle/>
          <a:p/>
        </p:txBody>
      </p:sp>
      <p:sp>
        <p:nvSpPr>
          <p:cNvPr id="9" name="Rounded Rectangle 8"/>
          <p:cNvSpPr/>
          <p:nvPr/>
        </p:nvSpPr>
        <p:spPr>
          <a:xfrm>
            <a:off x="548640" y="4389120"/>
            <a:ext cx="11094415" cy="2011680"/>
          </a:xfrm>
          <a:prstGeom prst="roundRect">
            <a:avLst/>
          </a:prstGeom>
          <a:solidFill>
            <a:srgbClr val="FFF8E1"/>
          </a:solidFill>
          <a:ln w="19050">
            <a:solidFill>
              <a:srgbClr val="FFAB4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r>
              <a:rPr sz="1000" b="1">
                <a:solidFill>
                  <a:srgbClr val="FFAB40"/>
                </a:solidFill>
              </a:rPr>
              <a:t>DRAFT — à valider par Direction / Stratégie commerciale</a:t>
            </a:r>
          </a:p>
          <a:p>
            <a:r>
              <a:rPr sz="1000">
                <a:solidFill>
                  <a:srgbClr val="434343"/>
                </a:solidFill>
              </a:rPr>
              <a:t>Proposition de réponse :
• Portée des discussions T7.3 : accès aux BDD privées, accès aux datasets de validation, accords de co-développement, contrats early adopter
• Le Gantt ne montre que la tâche formelle « négociation partenariale » — les discussions continuent au-delà de M24 sous le volet commercial de WP7
• Après M24, les partenariats signés entrent en phase d'exécution (accès données, validation, co-développement)
• Pipeline commercial actif : 5-7 nouveaux logos ciblés par trimestre, expansion des comptes existants
• Modèle de pricing disease-specific : BRA Essentials (75-100K€/an), Professional (125-175K€/an), Enterprise (200-300K€/an)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7772400" cy="594360"/>
          </a:xfrm>
          <a:prstGeom prst="rect">
            <a:avLst/>
          </a:prstGeom>
          <a:noFill/>
        </p:spPr>
        <p:txBody>
          <a:bodyPr wrap="square">
            <a:spAutoFit/>
          </a:bodyPr>
          <a:lstStyle/>
          <a:p>
            <a:r>
              <a:rPr sz="2200" b="1">
                <a:solidFill>
                  <a:srgbClr val="031734"/>
                </a:solidFill>
              </a:rPr>
              <a:t>Q18 — KG publics et interopérabilité</a:t>
            </a:r>
          </a:p>
        </p:txBody>
      </p:sp>
      <p:sp>
        <p:nvSpPr>
          <p:cNvPr id="3" name="Rounded Rectangle 2"/>
          <p:cNvSpPr/>
          <p:nvPr/>
        </p:nvSpPr>
        <p:spPr>
          <a:xfrm>
            <a:off x="457200" y="777240"/>
            <a:ext cx="11277295" cy="1051560"/>
          </a:xfrm>
          <a:prstGeom prst="roundRect">
            <a:avLst/>
          </a:prstGeom>
          <a:solidFill>
            <a:srgbClr val="E5EB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r>
              <a:rPr sz="1000" i="1">
                <a:solidFill>
                  <a:srgbClr val="031734"/>
                </a:solidFill>
              </a:rPr>
              <a:t>WP5 : les graphes publics de référence sont-ils utilisés par des concurrents ? Pourquoi une interopérabilité avec ces KG n'est-elle pas envisagée ?</a:t>
            </a:r>
          </a:p>
          <a:p>
            <a:r>
              <a:rPr sz="900" i="1">
                <a:solidFill>
                  <a:srgbClr val="999999"/>
                </a:solidFill>
              </a:rPr>
              <a:t>Are public reference graphs used by competitors? Why is interoperability with these KGs not considered?</a:t>
            </a:r>
          </a:p>
        </p:txBody>
      </p:sp>
      <p:sp>
        <p:nvSpPr>
          <p:cNvPr id="4" name="Rounded Rectangle 3"/>
          <p:cNvSpPr/>
          <p:nvPr/>
        </p:nvSpPr>
        <p:spPr>
          <a:xfrm>
            <a:off x="9448495" y="137160"/>
            <a:ext cx="1097280" cy="320040"/>
          </a:xfrm>
          <a:prstGeom prst="roundRect">
            <a:avLst/>
          </a:prstGeom>
          <a:solidFill>
            <a:srgbClr val="7B1FA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WP5</a:t>
            </a:r>
          </a:p>
        </p:txBody>
      </p:sp>
      <p:pic>
        <p:nvPicPr>
          <p:cNvPr id="5" name="Picture 4" descr="logo_header.png"/>
          <p:cNvPicPr>
            <a:picLocks noChangeAspect="1"/>
          </p:cNvPicPr>
          <p:nvPr/>
        </p:nvPicPr>
        <p:blipFill>
          <a:blip r:embed="rId2"/>
          <a:stretch>
            <a:fillRect/>
          </a:stretch>
        </p:blipFill>
        <p:spPr>
          <a:xfrm>
            <a:off x="10637215" y="137160"/>
            <a:ext cx="1371600" cy="384048"/>
          </a:xfrm>
          <a:prstGeom prst="rect">
            <a:avLst/>
          </a:prstGeom>
        </p:spPr>
      </p:pic>
      <p:sp>
        <p:nvSpPr>
          <p:cNvPr id="6" name="Rectangle 5"/>
          <p:cNvSpPr/>
          <p:nvPr/>
        </p:nvSpPr>
        <p:spPr>
          <a:xfrm>
            <a:off x="0" y="6446520"/>
            <a:ext cx="12191695" cy="411480"/>
          </a:xfrm>
          <a:prstGeom prst="rect">
            <a:avLst/>
          </a:prstGeom>
          <a:solidFill>
            <a:srgbClr val="0317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999999"/>
                </a:solidFill>
              </a:defRPr>
            </a:pPr>
            <a:r>
              <a:t>ArcaScience — I-demo Q&amp;A — Confidentiel — Avril 2026          20</a:t>
            </a:r>
          </a:p>
        </p:txBody>
      </p:sp>
      <p:sp>
        <p:nvSpPr>
          <p:cNvPr id="7" name="TextBox 6"/>
          <p:cNvSpPr txBox="1"/>
          <p:nvPr/>
        </p:nvSpPr>
        <p:spPr>
          <a:xfrm>
            <a:off x="548640" y="1965960"/>
            <a:ext cx="11094415" cy="4114800"/>
          </a:xfrm>
          <a:prstGeom prst="rect">
            <a:avLst/>
          </a:prstGeom>
          <a:noFill/>
        </p:spPr>
        <p:txBody>
          <a:bodyPr wrap="square">
            <a:spAutoFit/>
          </a:bodyPr>
          <a:lstStyle/>
          <a:p>
            <a:pPr>
              <a:spcBef>
                <a:spcPts val="400"/>
              </a:spcBef>
              <a:spcAft>
                <a:spcPts val="200"/>
              </a:spcAft>
            </a:pPr>
            <a:r>
              <a:rPr sz="1300" b="1">
                <a:solidFill>
                  <a:srgbClr val="1973C2"/>
                </a:solidFill>
              </a:rPr>
              <a:t>Positionnement vs KG publics</a:t>
            </a:r>
          </a:p>
          <a:p>
            <a:pPr lvl="1">
              <a:spcBef>
                <a:spcPts val="100"/>
              </a:spcBef>
              <a:spcAft>
                <a:spcPts val="100"/>
              </a:spcAft>
            </a:pPr>
            <a:r>
              <a:rPr sz="1100">
                <a:solidFill>
                  <a:srgbClr val="434343"/>
                </a:solidFill>
              </a:rPr>
              <a:t>DRKG (5.9M arêtes non pondérées), PrimeKG (4M relations sans statut causal) cités comme baseline</a:t>
            </a:r>
          </a:p>
          <a:p>
            <a:pPr lvl="1">
              <a:spcBef>
                <a:spcPts val="100"/>
              </a:spcBef>
              <a:spcAft>
                <a:spcPts val="100"/>
              </a:spcAft>
            </a:pPr>
            <a:r>
              <a:rPr sz="1100">
                <a:solidFill>
                  <a:srgbClr val="434343"/>
                </a:solidFill>
              </a:rPr>
              <a:t>BR-PREDICT KG : &gt;95% arêtes annotées avec scores de confiance, provenance, niveau de preuve</a:t>
            </a:r>
          </a:p>
          <a:p>
            <a:pPr lvl="1">
              <a:spcBef>
                <a:spcPts val="100"/>
              </a:spcBef>
              <a:spcAft>
                <a:spcPts val="100"/>
              </a:spcAft>
            </a:pPr>
            <a:r>
              <a:rPr sz="1100">
                <a:solidFill>
                  <a:srgbClr val="434343"/>
                </a:solidFill>
              </a:rPr>
              <a:t>Chaque arête typée : causal-validé, directionnel-inféré, ou associatif — seuls les deux premiers alimentent le SCM (WP6)</a:t>
            </a:r>
          </a:p>
          <a:p>
            <a:pPr>
              <a:spcBef>
                <a:spcPts val="400"/>
              </a:spcBef>
              <a:spcAft>
                <a:spcPts val="0"/>
              </a:spcAft>
            </a:pPr>
          </a:p>
          <a:p>
            <a:pPr>
              <a:spcBef>
                <a:spcPts val="400"/>
              </a:spcBef>
              <a:spcAft>
                <a:spcPts val="200"/>
              </a:spcAft>
            </a:pPr>
            <a:r>
              <a:rPr sz="1300" b="1">
                <a:solidFill>
                  <a:srgbClr val="1973C2"/>
                </a:solidFill>
              </a:rPr>
              <a:t>Choix délibéré de non-import</a:t>
            </a:r>
          </a:p>
          <a:p>
            <a:pPr lvl="1">
              <a:spcBef>
                <a:spcPts val="100"/>
              </a:spcBef>
              <a:spcAft>
                <a:spcPts val="100"/>
              </a:spcAft>
            </a:pPr>
            <a:r>
              <a:rPr sz="1100">
                <a:solidFill>
                  <a:srgbClr val="434343"/>
                </a:solidFill>
              </a:rPr>
              <a:t>KG publics sans statut causal, scores de confiance, ni provenance → incompatibilité qualité</a:t>
            </a:r>
          </a:p>
          <a:p>
            <a:pPr lvl="1">
              <a:spcBef>
                <a:spcPts val="100"/>
              </a:spcBef>
              <a:spcAft>
                <a:spcPts val="100"/>
              </a:spcAft>
            </a:pPr>
            <a:r>
              <a:rPr sz="1100">
                <a:solidFill>
                  <a:srgbClr val="434343"/>
                </a:solidFill>
              </a:rPr>
              <a:t>Import contaminerait le KG avec relations non qualifiées → dégradation auditabilité réglementaire</a:t>
            </a:r>
          </a:p>
          <a:p>
            <a:pPr lvl="1">
              <a:spcBef>
                <a:spcPts val="100"/>
              </a:spcBef>
              <a:spcAft>
                <a:spcPts val="100"/>
              </a:spcAft>
            </a:pPr>
            <a:r>
              <a:rPr sz="1100">
                <a:solidFill>
                  <a:srgbClr val="434343"/>
                </a:solidFill>
              </a:rPr>
              <a:t>Exigences ICH E2C(R2), CIOMS XII imposent traçabilité complète</a:t>
            </a:r>
          </a:p>
          <a:p>
            <a:pPr>
              <a:spcBef>
                <a:spcPts val="400"/>
              </a:spcBef>
              <a:spcAft>
                <a:spcPts val="0"/>
              </a:spcAft>
            </a:pPr>
          </a:p>
          <a:p>
            <a:pPr>
              <a:spcBef>
                <a:spcPts val="400"/>
              </a:spcBef>
              <a:spcAft>
                <a:spcPts val="200"/>
              </a:spcAft>
            </a:pPr>
            <a:r>
              <a:rPr sz="1300" b="1">
                <a:solidFill>
                  <a:srgbClr val="1973C2"/>
                </a:solidFill>
              </a:rPr>
              <a:t>Interopérabilité effective</a:t>
            </a:r>
          </a:p>
          <a:p>
            <a:pPr lvl="1">
              <a:spcBef>
                <a:spcPts val="100"/>
              </a:spcBef>
              <a:spcAft>
                <a:spcPts val="100"/>
              </a:spcAft>
            </a:pPr>
            <a:r>
              <a:rPr sz="1100">
                <a:solidFill>
                  <a:srgbClr val="434343"/>
                </a:solidFill>
              </a:rPr>
              <a:t>Stockage RDF parallèle pour interopérabilité SPARQL</a:t>
            </a:r>
          </a:p>
          <a:p>
            <a:pPr lvl="1">
              <a:spcBef>
                <a:spcPts val="100"/>
              </a:spcBef>
              <a:spcAft>
                <a:spcPts val="100"/>
              </a:spcAft>
            </a:pPr>
            <a:r>
              <a:rPr sz="1100">
                <a:solidFill>
                  <a:srgbClr val="434343"/>
                </a:solidFill>
              </a:rPr>
              <a:t>Alignement sur ontologies standards : MedDRA, ChEBI, Gene Ontology, Reactome, Disease Ontology</a:t>
            </a:r>
          </a:p>
          <a:p>
            <a:pPr lvl="1">
              <a:spcBef>
                <a:spcPts val="100"/>
              </a:spcBef>
              <a:spcAft>
                <a:spcPts val="100"/>
              </a:spcAft>
            </a:pPr>
            <a:r>
              <a:rPr sz="1100">
                <a:solidFill>
                  <a:srgbClr val="434343"/>
                </a:solidFill>
              </a:rPr>
              <a:t>Architecture interopérable au niveau ontologique — ne consomme pas les KG publics comme input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7772400" cy="594360"/>
          </a:xfrm>
          <a:prstGeom prst="rect">
            <a:avLst/>
          </a:prstGeom>
          <a:noFill/>
        </p:spPr>
        <p:txBody>
          <a:bodyPr wrap="square">
            <a:spAutoFit/>
          </a:bodyPr>
          <a:lstStyle/>
          <a:p>
            <a:r>
              <a:rPr sz="2200" b="1">
                <a:solidFill>
                  <a:srgbClr val="031734"/>
                </a:solidFill>
              </a:rPr>
              <a:t>Q19 — AMI Labs — évaluation précoce</a:t>
            </a:r>
          </a:p>
        </p:txBody>
      </p:sp>
      <p:sp>
        <p:nvSpPr>
          <p:cNvPr id="3" name="Rounded Rectangle 2"/>
          <p:cNvSpPr/>
          <p:nvPr/>
        </p:nvSpPr>
        <p:spPr>
          <a:xfrm>
            <a:off x="457200" y="777240"/>
            <a:ext cx="11277295" cy="1051560"/>
          </a:xfrm>
          <a:prstGeom prst="roundRect">
            <a:avLst/>
          </a:prstGeom>
          <a:solidFill>
            <a:srgbClr val="E5EB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r>
              <a:rPr sz="1000" i="1">
                <a:solidFill>
                  <a:srgbClr val="031734"/>
                </a:solidFill>
              </a:rPr>
              <a:t>AMI Labs intervient en tant que prestataire en fin de projet pour définir la méthodologie d'évaluation. Quelles sont les motivations de ne pas intégrer l'évaluation dès les premières phases de développement de la solution ?</a:t>
            </a:r>
          </a:p>
          <a:p>
            <a:r>
              <a:rPr sz="900" i="1">
                <a:solidFill>
                  <a:srgbClr val="999999"/>
                </a:solidFill>
              </a:rPr>
              <a:t>Why is AMI Labs' evaluation methodology not integrated from the earliest development phases?</a:t>
            </a:r>
          </a:p>
        </p:txBody>
      </p:sp>
      <p:sp>
        <p:nvSpPr>
          <p:cNvPr id="4" name="Rounded Rectangle 3"/>
          <p:cNvSpPr/>
          <p:nvPr/>
        </p:nvSpPr>
        <p:spPr>
          <a:xfrm>
            <a:off x="9448495" y="137160"/>
            <a:ext cx="1097280" cy="320040"/>
          </a:xfrm>
          <a:prstGeom prst="roundRect">
            <a:avLst/>
          </a:prstGeom>
          <a:solidFill>
            <a:srgbClr val="E5393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WP6</a:t>
            </a:r>
          </a:p>
        </p:txBody>
      </p:sp>
      <p:pic>
        <p:nvPicPr>
          <p:cNvPr id="5" name="Picture 4" descr="logo_header.png"/>
          <p:cNvPicPr>
            <a:picLocks noChangeAspect="1"/>
          </p:cNvPicPr>
          <p:nvPr/>
        </p:nvPicPr>
        <p:blipFill>
          <a:blip r:embed="rId2"/>
          <a:stretch>
            <a:fillRect/>
          </a:stretch>
        </p:blipFill>
        <p:spPr>
          <a:xfrm>
            <a:off x="10637215" y="137160"/>
            <a:ext cx="1371600" cy="384048"/>
          </a:xfrm>
          <a:prstGeom prst="rect">
            <a:avLst/>
          </a:prstGeom>
        </p:spPr>
      </p:pic>
      <p:sp>
        <p:nvSpPr>
          <p:cNvPr id="6" name="Rectangle 5"/>
          <p:cNvSpPr/>
          <p:nvPr/>
        </p:nvSpPr>
        <p:spPr>
          <a:xfrm>
            <a:off x="0" y="6446520"/>
            <a:ext cx="12191695" cy="411480"/>
          </a:xfrm>
          <a:prstGeom prst="rect">
            <a:avLst/>
          </a:prstGeom>
          <a:solidFill>
            <a:srgbClr val="0317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999999"/>
                </a:solidFill>
              </a:defRPr>
            </a:pPr>
            <a:r>
              <a:t>ArcaScience — I-demo Q&amp;A — Confidentiel — Avril 2026          21</a:t>
            </a:r>
          </a:p>
        </p:txBody>
      </p:sp>
      <p:sp>
        <p:nvSpPr>
          <p:cNvPr id="7" name="TextBox 6"/>
          <p:cNvSpPr txBox="1"/>
          <p:nvPr/>
        </p:nvSpPr>
        <p:spPr>
          <a:xfrm>
            <a:off x="548640" y="1965960"/>
            <a:ext cx="11094415" cy="4114800"/>
          </a:xfrm>
          <a:prstGeom prst="rect">
            <a:avLst/>
          </a:prstGeom>
          <a:noFill/>
        </p:spPr>
        <p:txBody>
          <a:bodyPr wrap="square">
            <a:spAutoFit/>
          </a:bodyPr>
          <a:lstStyle/>
          <a:p>
            <a:pPr>
              <a:spcBef>
                <a:spcPts val="400"/>
              </a:spcBef>
              <a:spcAft>
                <a:spcPts val="200"/>
              </a:spcAft>
            </a:pPr>
            <a:r>
              <a:rPr sz="1300" b="1">
                <a:solidFill>
                  <a:srgbClr val="1973C2"/>
                </a:solidFill>
              </a:rPr>
              <a:t>Raison pragmatique</a:t>
            </a:r>
          </a:p>
          <a:p>
            <a:pPr lvl="1">
              <a:spcBef>
                <a:spcPts val="100"/>
              </a:spcBef>
              <a:spcAft>
                <a:spcPts val="100"/>
              </a:spcAft>
            </a:pPr>
            <a:r>
              <a:rPr sz="1100">
                <a:solidFill>
                  <a:srgbClr val="434343"/>
                </a:solidFill>
              </a:rPr>
              <a:t>Le World Model n'existe pas avant M18–M30 → rien à évaluer de façon intégrée avant</a:t>
            </a:r>
          </a:p>
          <a:p>
            <a:pPr lvl="1">
              <a:spcBef>
                <a:spcPts val="100"/>
              </a:spcBef>
              <a:spcAft>
                <a:spcPts val="100"/>
              </a:spcAft>
            </a:pPr>
            <a:r>
              <a:rPr sz="1100">
                <a:solidFill>
                  <a:srgbClr val="434343"/>
                </a:solidFill>
              </a:rPr>
              <a:t>AMI Labs intervient quand le système est suffisamment mature pour une évaluation méthodologique indépendante</a:t>
            </a:r>
          </a:p>
          <a:p>
            <a:pPr>
              <a:spcBef>
                <a:spcPts val="400"/>
              </a:spcBef>
              <a:spcAft>
                <a:spcPts val="0"/>
              </a:spcAft>
            </a:pPr>
          </a:p>
          <a:p>
            <a:pPr>
              <a:spcBef>
                <a:spcPts val="400"/>
              </a:spcBef>
              <a:spcAft>
                <a:spcPts val="200"/>
              </a:spcAft>
            </a:pPr>
            <a:r>
              <a:rPr sz="1300" b="1">
                <a:solidFill>
                  <a:srgbClr val="1973C2"/>
                </a:solidFill>
              </a:rPr>
              <a:t>Évaluation per-WP existante dès le début</a:t>
            </a:r>
          </a:p>
          <a:p>
            <a:pPr lvl="1">
              <a:spcBef>
                <a:spcPts val="100"/>
              </a:spcBef>
              <a:spcAft>
                <a:spcPts val="100"/>
              </a:spcAft>
            </a:pPr>
            <a:r>
              <a:rPr sz="1100">
                <a:solidFill>
                  <a:srgbClr val="434343"/>
                </a:solidFill>
              </a:rPr>
              <a:t>Chaque WP (1–4) dispose de son propre protocole de validation avec KPIs définis</a:t>
            </a:r>
          </a:p>
          <a:p>
            <a:pPr lvl="1">
              <a:spcBef>
                <a:spcPts val="100"/>
              </a:spcBef>
              <a:spcAft>
                <a:spcPts val="100"/>
              </a:spcAft>
            </a:pPr>
            <a:r>
              <a:rPr sz="1100">
                <a:solidFill>
                  <a:srgbClr val="434343"/>
                </a:solidFill>
              </a:rPr>
              <a:t>Validation continue tout au long du développement (F1, AUC, calibration, etc.)</a:t>
            </a:r>
          </a:p>
          <a:p>
            <a:pPr>
              <a:spcBef>
                <a:spcPts val="400"/>
              </a:spcBef>
              <a:spcAft>
                <a:spcPts val="0"/>
              </a:spcAft>
            </a:pPr>
          </a:p>
          <a:p>
            <a:pPr>
              <a:spcBef>
                <a:spcPts val="400"/>
              </a:spcBef>
              <a:spcAft>
                <a:spcPts val="200"/>
              </a:spcAft>
            </a:pPr>
            <a:r>
              <a:rPr sz="1300" b="1">
                <a:solidFill>
                  <a:srgbClr val="1973C2"/>
                </a:solidFill>
              </a:rPr>
              <a:t>Amélioration identifiée</a:t>
            </a:r>
          </a:p>
          <a:p>
            <a:pPr lvl="1">
              <a:spcBef>
                <a:spcPts val="100"/>
              </a:spcBef>
              <a:spcAft>
                <a:spcPts val="100"/>
              </a:spcAft>
            </a:pPr>
            <a:r>
              <a:rPr sz="1100">
                <a:solidFill>
                  <a:srgbClr val="434343"/>
                </a:solidFill>
              </a:rPr>
              <a:t>Une consultation méthodologique précoce avec AMI Labs sur les protocoles per-WP aurait été justifiable</a:t>
            </a:r>
          </a:p>
          <a:p>
            <a:pPr lvl="1">
              <a:spcBef>
                <a:spcPts val="100"/>
              </a:spcBef>
              <a:spcAft>
                <a:spcPts val="100"/>
              </a:spcAft>
            </a:pPr>
            <a:r>
              <a:rPr sz="1100">
                <a:solidFill>
                  <a:srgbClr val="434343"/>
                </a:solidFill>
              </a:rPr>
              <a:t>Ce point sera intégré plus tôt dans la réalisation du projet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7772400" cy="594360"/>
          </a:xfrm>
          <a:prstGeom prst="rect">
            <a:avLst/>
          </a:prstGeom>
          <a:noFill/>
        </p:spPr>
        <p:txBody>
          <a:bodyPr wrap="square">
            <a:spAutoFit/>
          </a:bodyPr>
          <a:lstStyle/>
          <a:p>
            <a:r>
              <a:rPr sz="2200" b="1">
                <a:solidFill>
                  <a:srgbClr val="031734"/>
                </a:solidFill>
              </a:rPr>
              <a:t>Q20 — Structure capitalistique et juridique</a:t>
            </a:r>
          </a:p>
        </p:txBody>
      </p:sp>
      <p:sp>
        <p:nvSpPr>
          <p:cNvPr id="3" name="Rounded Rectangle 2"/>
          <p:cNvSpPr/>
          <p:nvPr/>
        </p:nvSpPr>
        <p:spPr>
          <a:xfrm>
            <a:off x="457200" y="777240"/>
            <a:ext cx="11277295" cy="1051560"/>
          </a:xfrm>
          <a:prstGeom prst="roundRect">
            <a:avLst/>
          </a:prstGeom>
          <a:solidFill>
            <a:srgbClr val="E5EB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r>
              <a:rPr sz="1000" i="1">
                <a:solidFill>
                  <a:srgbClr val="031734"/>
                </a:solidFill>
              </a:rPr>
              <a:t>Une opération affectant la structure juridique et/ou capitalistique de votre structure est-elle envisagée dans les deux ans à venir ?</a:t>
            </a:r>
          </a:p>
          <a:p>
            <a:r>
              <a:rPr sz="900" i="1">
                <a:solidFill>
                  <a:srgbClr val="999999"/>
                </a:solidFill>
              </a:rPr>
              <a:t>Is any operation affecting the legal and/or capital structure planned within the next two years?</a:t>
            </a:r>
          </a:p>
        </p:txBody>
      </p:sp>
      <p:sp>
        <p:nvSpPr>
          <p:cNvPr id="4" name="Rounded Rectangle 3"/>
          <p:cNvSpPr/>
          <p:nvPr/>
        </p:nvSpPr>
        <p:spPr>
          <a:xfrm>
            <a:off x="9448495" y="137160"/>
            <a:ext cx="1097280" cy="3200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Gouvernance</a:t>
            </a:r>
          </a:p>
        </p:txBody>
      </p:sp>
      <p:pic>
        <p:nvPicPr>
          <p:cNvPr id="5" name="Picture 4" descr="logo_header.png"/>
          <p:cNvPicPr>
            <a:picLocks noChangeAspect="1"/>
          </p:cNvPicPr>
          <p:nvPr/>
        </p:nvPicPr>
        <p:blipFill>
          <a:blip r:embed="rId2"/>
          <a:stretch>
            <a:fillRect/>
          </a:stretch>
        </p:blipFill>
        <p:spPr>
          <a:xfrm>
            <a:off x="10637215" y="137160"/>
            <a:ext cx="1371600" cy="384048"/>
          </a:xfrm>
          <a:prstGeom prst="rect">
            <a:avLst/>
          </a:prstGeom>
        </p:spPr>
      </p:pic>
      <p:sp>
        <p:nvSpPr>
          <p:cNvPr id="6" name="Rectangle 5"/>
          <p:cNvSpPr/>
          <p:nvPr/>
        </p:nvSpPr>
        <p:spPr>
          <a:xfrm>
            <a:off x="0" y="6446520"/>
            <a:ext cx="12191695" cy="411480"/>
          </a:xfrm>
          <a:prstGeom prst="rect">
            <a:avLst/>
          </a:prstGeom>
          <a:solidFill>
            <a:srgbClr val="0317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999999"/>
                </a:solidFill>
              </a:defRPr>
            </a:pPr>
            <a:r>
              <a:t>ArcaScience — I-demo Q&amp;A — Confidentiel — Avril 2026          22</a:t>
            </a:r>
          </a:p>
        </p:txBody>
      </p:sp>
      <p:sp>
        <p:nvSpPr>
          <p:cNvPr id="7" name="Rounded Rectangle 6"/>
          <p:cNvSpPr/>
          <p:nvPr/>
        </p:nvSpPr>
        <p:spPr>
          <a:xfrm>
            <a:off x="548640" y="1920240"/>
            <a:ext cx="11094415" cy="457200"/>
          </a:xfrm>
          <a:prstGeom prst="round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a:lstStyle/>
          <a:p>
            <a:pPr algn="ctr"/>
            <a:r>
              <a:rPr sz="1200" b="1">
                <a:solidFill>
                  <a:srgbClr val="999999"/>
                </a:solidFill>
              </a:rPr>
              <a:t>À compléter — Direction / Cabinet Carrel</a:t>
            </a:r>
          </a:p>
        </p:txBody>
      </p:sp>
      <p:sp>
        <p:nvSpPr>
          <p:cNvPr id="8" name="TextBox 7"/>
          <p:cNvSpPr txBox="1"/>
          <p:nvPr/>
        </p:nvSpPr>
        <p:spPr>
          <a:xfrm>
            <a:off x="548640" y="2468880"/>
            <a:ext cx="11094415" cy="2286000"/>
          </a:xfrm>
          <a:prstGeom prst="rect">
            <a:avLst/>
          </a:prstGeom>
          <a:noFill/>
        </p:spPr>
        <p:txBody>
          <a:bodyPr wrap="square">
            <a:spAutoFit/>
          </a:bodyPr>
          <a:lstStyle/>
          <a:p/>
        </p:txBody>
      </p:sp>
      <p:sp>
        <p:nvSpPr>
          <p:cNvPr id="9" name="Rounded Rectangle 8"/>
          <p:cNvSpPr/>
          <p:nvPr/>
        </p:nvSpPr>
        <p:spPr>
          <a:xfrm>
            <a:off x="548640" y="4389120"/>
            <a:ext cx="11094415" cy="2011680"/>
          </a:xfrm>
          <a:prstGeom prst="roundRect">
            <a:avLst/>
          </a:prstGeom>
          <a:solidFill>
            <a:srgbClr val="FFF8E1"/>
          </a:solidFill>
          <a:ln w="19050">
            <a:solidFill>
              <a:srgbClr val="FFAB4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r>
              <a:rPr sz="1000" b="1">
                <a:solidFill>
                  <a:srgbClr val="FFAB40"/>
                </a:solidFill>
              </a:rPr>
              <a:t>DRAFT — à valider par Direction / CEO</a:t>
            </a:r>
          </a:p>
          <a:p>
            <a:r>
              <a:rPr sz="1000">
                <a:solidFill>
                  <a:srgbClr val="434343"/>
                </a:solidFill>
              </a:rPr>
              <a:t>Proposition de réponse :
• Levée de fonds prévue dans les 12-18 prochains mois pour soutenir l'exécution du plan I-demo
• Structure juridique stable — SAS de droit français
• Pas de fusion, scission ou changement de forme juridique envisagé
• Accompagnement juridique : Cabinet Carrel (fondé par ex-directrice Inserm Transfert)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7772400" cy="594360"/>
          </a:xfrm>
          <a:prstGeom prst="rect">
            <a:avLst/>
          </a:prstGeom>
          <a:noFill/>
        </p:spPr>
        <p:txBody>
          <a:bodyPr wrap="square">
            <a:spAutoFit/>
          </a:bodyPr>
          <a:lstStyle/>
          <a:p>
            <a:r>
              <a:rPr sz="2200" b="1">
                <a:solidFill>
                  <a:srgbClr val="031734"/>
                </a:solidFill>
              </a:rPr>
              <a:t>Q21 — Levée de fonds</a:t>
            </a:r>
          </a:p>
        </p:txBody>
      </p:sp>
      <p:sp>
        <p:nvSpPr>
          <p:cNvPr id="3" name="Rounded Rectangle 2"/>
          <p:cNvSpPr/>
          <p:nvPr/>
        </p:nvSpPr>
        <p:spPr>
          <a:xfrm>
            <a:off x="457200" y="777240"/>
            <a:ext cx="11277295" cy="1051560"/>
          </a:xfrm>
          <a:prstGeom prst="roundRect">
            <a:avLst/>
          </a:prstGeom>
          <a:solidFill>
            <a:srgbClr val="E5EB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r>
              <a:rPr sz="1000" i="1">
                <a:solidFill>
                  <a:srgbClr val="031734"/>
                </a:solidFill>
              </a:rPr>
              <a:t>Votre structure envisage-t-elle une levée de fonds dans les deux ans à venir ? Si oui, pouvez-vous nous indiquer l'identité des investisseurs/fonds d'investissement, les montants envisagés et le calendrier ?</a:t>
            </a:r>
          </a:p>
          <a:p>
            <a:r>
              <a:rPr sz="900" i="1">
                <a:solidFill>
                  <a:srgbClr val="999999"/>
                </a:solidFill>
              </a:rPr>
              <a:t>Is a fundraising round planned? If so, investor identity, amounts, and timeline?</a:t>
            </a:r>
          </a:p>
        </p:txBody>
      </p:sp>
      <p:sp>
        <p:nvSpPr>
          <p:cNvPr id="4" name="Rounded Rectangle 3"/>
          <p:cNvSpPr/>
          <p:nvPr/>
        </p:nvSpPr>
        <p:spPr>
          <a:xfrm>
            <a:off x="9448495" y="137160"/>
            <a:ext cx="1097280" cy="3200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Gouvernance</a:t>
            </a:r>
          </a:p>
        </p:txBody>
      </p:sp>
      <p:pic>
        <p:nvPicPr>
          <p:cNvPr id="5" name="Picture 4" descr="logo_header.png"/>
          <p:cNvPicPr>
            <a:picLocks noChangeAspect="1"/>
          </p:cNvPicPr>
          <p:nvPr/>
        </p:nvPicPr>
        <p:blipFill>
          <a:blip r:embed="rId2"/>
          <a:stretch>
            <a:fillRect/>
          </a:stretch>
        </p:blipFill>
        <p:spPr>
          <a:xfrm>
            <a:off x="10637215" y="137160"/>
            <a:ext cx="1371600" cy="384048"/>
          </a:xfrm>
          <a:prstGeom prst="rect">
            <a:avLst/>
          </a:prstGeom>
        </p:spPr>
      </p:pic>
      <p:sp>
        <p:nvSpPr>
          <p:cNvPr id="6" name="Rectangle 5"/>
          <p:cNvSpPr/>
          <p:nvPr/>
        </p:nvSpPr>
        <p:spPr>
          <a:xfrm>
            <a:off x="0" y="6446520"/>
            <a:ext cx="12191695" cy="411480"/>
          </a:xfrm>
          <a:prstGeom prst="rect">
            <a:avLst/>
          </a:prstGeom>
          <a:solidFill>
            <a:srgbClr val="0317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999999"/>
                </a:solidFill>
              </a:defRPr>
            </a:pPr>
            <a:r>
              <a:t>ArcaScience — I-demo Q&amp;A — Confidentiel — Avril 2026          23</a:t>
            </a:r>
          </a:p>
        </p:txBody>
      </p:sp>
      <p:sp>
        <p:nvSpPr>
          <p:cNvPr id="7" name="Rounded Rectangle 6"/>
          <p:cNvSpPr/>
          <p:nvPr/>
        </p:nvSpPr>
        <p:spPr>
          <a:xfrm>
            <a:off x="548640" y="1920240"/>
            <a:ext cx="11094415" cy="457200"/>
          </a:xfrm>
          <a:prstGeom prst="round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a:lstStyle/>
          <a:p>
            <a:pPr algn="ctr"/>
            <a:r>
              <a:rPr sz="1200" b="1">
                <a:solidFill>
                  <a:srgbClr val="999999"/>
                </a:solidFill>
              </a:rPr>
              <a:t>À compléter — Direction / CEO</a:t>
            </a:r>
          </a:p>
        </p:txBody>
      </p:sp>
      <p:sp>
        <p:nvSpPr>
          <p:cNvPr id="8" name="TextBox 7"/>
          <p:cNvSpPr txBox="1"/>
          <p:nvPr/>
        </p:nvSpPr>
        <p:spPr>
          <a:xfrm>
            <a:off x="548640" y="2468880"/>
            <a:ext cx="11094415" cy="2286000"/>
          </a:xfrm>
          <a:prstGeom prst="rect">
            <a:avLst/>
          </a:prstGeom>
          <a:noFill/>
        </p:spPr>
        <p:txBody>
          <a:bodyPr wrap="square">
            <a:spAutoFit/>
          </a:bodyPr>
          <a:lstStyle/>
          <a:p/>
        </p:txBody>
      </p:sp>
      <p:sp>
        <p:nvSpPr>
          <p:cNvPr id="9" name="Rounded Rectangle 8"/>
          <p:cNvSpPr/>
          <p:nvPr/>
        </p:nvSpPr>
        <p:spPr>
          <a:xfrm>
            <a:off x="548640" y="4389120"/>
            <a:ext cx="11094415" cy="2011680"/>
          </a:xfrm>
          <a:prstGeom prst="roundRect">
            <a:avLst/>
          </a:prstGeom>
          <a:solidFill>
            <a:srgbClr val="FFF8E1"/>
          </a:solidFill>
          <a:ln w="19050">
            <a:solidFill>
              <a:srgbClr val="FFAB4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r>
              <a:rPr sz="1000" b="1">
                <a:solidFill>
                  <a:srgbClr val="FFAB40"/>
                </a:solidFill>
              </a:rPr>
              <a:t>DRAFT — à valider par CEO</a:t>
            </a:r>
          </a:p>
          <a:p>
            <a:r>
              <a:rPr sz="1000">
                <a:solidFill>
                  <a:srgbClr val="434343"/>
                </a:solidFill>
              </a:rPr>
              <a:t>Proposition de réponse :
• Levée de fonds en cours de structuration pour H2 2026 – H1 2027
• Montant, identité des investisseurs et calendrier : à compléter par la direction
• Objectif : financer l'accélération commerciale (O3 — $500K ARR run-rate) et l'exécution des WP6-7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7772400" cy="594360"/>
          </a:xfrm>
          <a:prstGeom prst="rect">
            <a:avLst/>
          </a:prstGeom>
          <a:noFill/>
        </p:spPr>
        <p:txBody>
          <a:bodyPr wrap="square">
            <a:spAutoFit/>
          </a:bodyPr>
          <a:lstStyle/>
          <a:p>
            <a:r>
              <a:rPr sz="2200" b="1">
                <a:solidFill>
                  <a:srgbClr val="031734"/>
                </a:solidFill>
              </a:rPr>
              <a:t>Q22 — Sources publiques de financement</a:t>
            </a:r>
          </a:p>
        </p:txBody>
      </p:sp>
      <p:sp>
        <p:nvSpPr>
          <p:cNvPr id="3" name="Rounded Rectangle 2"/>
          <p:cNvSpPr/>
          <p:nvPr/>
        </p:nvSpPr>
        <p:spPr>
          <a:xfrm>
            <a:off x="457200" y="777240"/>
            <a:ext cx="11277295" cy="1051560"/>
          </a:xfrm>
          <a:prstGeom prst="roundRect">
            <a:avLst/>
          </a:prstGeom>
          <a:solidFill>
            <a:srgbClr val="E5EB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r>
              <a:rPr sz="1000" i="1">
                <a:solidFill>
                  <a:srgbClr val="031734"/>
                </a:solidFill>
              </a:rPr>
              <a:t>Êtes-vous déjà bénéficiaire, ou en cours de demande, directement ou indirectement au titre de ce projet d'autres financements (financements nationaux, régionaux, aides européennes, etc.) ?</a:t>
            </a:r>
          </a:p>
          <a:p>
            <a:r>
              <a:rPr sz="900" i="1">
                <a:solidFill>
                  <a:srgbClr val="999999"/>
                </a:solidFill>
              </a:rPr>
              <a:t>Are you already receiving or applying for other public funding for this project?</a:t>
            </a:r>
          </a:p>
        </p:txBody>
      </p:sp>
      <p:sp>
        <p:nvSpPr>
          <p:cNvPr id="4" name="Rounded Rectangle 3"/>
          <p:cNvSpPr/>
          <p:nvPr/>
        </p:nvSpPr>
        <p:spPr>
          <a:xfrm>
            <a:off x="9448495" y="137160"/>
            <a:ext cx="1097280" cy="3200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Gouvernance</a:t>
            </a:r>
          </a:p>
        </p:txBody>
      </p:sp>
      <p:pic>
        <p:nvPicPr>
          <p:cNvPr id="5" name="Picture 4" descr="logo_header.png"/>
          <p:cNvPicPr>
            <a:picLocks noChangeAspect="1"/>
          </p:cNvPicPr>
          <p:nvPr/>
        </p:nvPicPr>
        <p:blipFill>
          <a:blip r:embed="rId2"/>
          <a:stretch>
            <a:fillRect/>
          </a:stretch>
        </p:blipFill>
        <p:spPr>
          <a:xfrm>
            <a:off x="10637215" y="137160"/>
            <a:ext cx="1371600" cy="384048"/>
          </a:xfrm>
          <a:prstGeom prst="rect">
            <a:avLst/>
          </a:prstGeom>
        </p:spPr>
      </p:pic>
      <p:sp>
        <p:nvSpPr>
          <p:cNvPr id="6" name="Rectangle 5"/>
          <p:cNvSpPr/>
          <p:nvPr/>
        </p:nvSpPr>
        <p:spPr>
          <a:xfrm>
            <a:off x="0" y="6446520"/>
            <a:ext cx="12191695" cy="411480"/>
          </a:xfrm>
          <a:prstGeom prst="rect">
            <a:avLst/>
          </a:prstGeom>
          <a:solidFill>
            <a:srgbClr val="0317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999999"/>
                </a:solidFill>
              </a:defRPr>
            </a:pPr>
            <a:r>
              <a:t>ArcaScience — I-demo Q&amp;A — Confidentiel — Avril 2026          24</a:t>
            </a:r>
          </a:p>
        </p:txBody>
      </p:sp>
      <p:sp>
        <p:nvSpPr>
          <p:cNvPr id="7" name="Rounded Rectangle 6"/>
          <p:cNvSpPr/>
          <p:nvPr/>
        </p:nvSpPr>
        <p:spPr>
          <a:xfrm>
            <a:off x="548640" y="1920240"/>
            <a:ext cx="11094415" cy="457200"/>
          </a:xfrm>
          <a:prstGeom prst="round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a:lstStyle/>
          <a:p>
            <a:pPr algn="ctr"/>
            <a:r>
              <a:rPr sz="1200" b="1">
                <a:solidFill>
                  <a:srgbClr val="999999"/>
                </a:solidFill>
              </a:rPr>
              <a:t>À compléter — Direction / DAF</a:t>
            </a:r>
          </a:p>
        </p:txBody>
      </p:sp>
      <p:sp>
        <p:nvSpPr>
          <p:cNvPr id="8" name="TextBox 7"/>
          <p:cNvSpPr txBox="1"/>
          <p:nvPr/>
        </p:nvSpPr>
        <p:spPr>
          <a:xfrm>
            <a:off x="548640" y="2468880"/>
            <a:ext cx="11094415" cy="2286000"/>
          </a:xfrm>
          <a:prstGeom prst="rect">
            <a:avLst/>
          </a:prstGeom>
          <a:noFill/>
        </p:spPr>
        <p:txBody>
          <a:bodyPr wrap="square">
            <a:spAutoFit/>
          </a:bodyPr>
          <a:lstStyle/>
          <a:p/>
        </p:txBody>
      </p:sp>
      <p:sp>
        <p:nvSpPr>
          <p:cNvPr id="9" name="Rounded Rectangle 8"/>
          <p:cNvSpPr/>
          <p:nvPr/>
        </p:nvSpPr>
        <p:spPr>
          <a:xfrm>
            <a:off x="548640" y="4389120"/>
            <a:ext cx="11094415" cy="2011680"/>
          </a:xfrm>
          <a:prstGeom prst="roundRect">
            <a:avLst/>
          </a:prstGeom>
          <a:solidFill>
            <a:srgbClr val="FFF8E1"/>
          </a:solidFill>
          <a:ln w="19050">
            <a:solidFill>
              <a:srgbClr val="FFAB4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r>
              <a:rPr sz="1000" b="1">
                <a:solidFill>
                  <a:srgbClr val="FFAB40"/>
                </a:solidFill>
              </a:rPr>
              <a:t>DRAFT — à valider par Direction / DAF</a:t>
            </a:r>
          </a:p>
          <a:p>
            <a:r>
              <a:rPr sz="1000">
                <a:solidFill>
                  <a:srgbClr val="434343"/>
                </a:solidFill>
              </a:rPr>
              <a:t>Proposition de réponse :
• Détailler les financements existants (CIR, JEI, subventions régionales, etc.)
• Lister les demandes en cours
• Confirmer la conformité avec les règles de cumul d'aides Bpifrance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7772400" cy="594360"/>
          </a:xfrm>
          <a:prstGeom prst="rect">
            <a:avLst/>
          </a:prstGeom>
          <a:noFill/>
        </p:spPr>
        <p:txBody>
          <a:bodyPr wrap="square">
            <a:spAutoFit/>
          </a:bodyPr>
          <a:lstStyle/>
          <a:p>
            <a:r>
              <a:rPr sz="2200" b="1">
                <a:solidFill>
                  <a:srgbClr val="031734"/>
                </a:solidFill>
              </a:rPr>
              <a:t>Q23 — Accords de sous-traitance</a:t>
            </a:r>
          </a:p>
        </p:txBody>
      </p:sp>
      <p:sp>
        <p:nvSpPr>
          <p:cNvPr id="3" name="Rounded Rectangle 2"/>
          <p:cNvSpPr/>
          <p:nvPr/>
        </p:nvSpPr>
        <p:spPr>
          <a:xfrm>
            <a:off x="457200" y="777240"/>
            <a:ext cx="11277295" cy="1051560"/>
          </a:xfrm>
          <a:prstGeom prst="roundRect">
            <a:avLst/>
          </a:prstGeom>
          <a:solidFill>
            <a:srgbClr val="E5EB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r>
              <a:rPr sz="1000" i="1">
                <a:solidFill>
                  <a:srgbClr val="031734"/>
                </a:solidFill>
              </a:rPr>
              <a:t>Des sous-traitances dans le cadre du projet sont envisagées, pouvez-vous nous fournir les accords/modèles d'accord encadrant ces relations de sous-traitance ? Si un sous-traitant est défaillant, avez-vous identifié des alternatives ?</a:t>
            </a:r>
          </a:p>
          <a:p>
            <a:r>
              <a:rPr sz="900" i="1">
                <a:solidFill>
                  <a:srgbClr val="999999"/>
                </a:solidFill>
              </a:rPr>
              <a:t>Can you provide subcontracting agreements? Have you identified alternatives if a subcontractor fails?</a:t>
            </a:r>
          </a:p>
        </p:txBody>
      </p:sp>
      <p:sp>
        <p:nvSpPr>
          <p:cNvPr id="4" name="Rounded Rectangle 3"/>
          <p:cNvSpPr/>
          <p:nvPr/>
        </p:nvSpPr>
        <p:spPr>
          <a:xfrm>
            <a:off x="9448495" y="137160"/>
            <a:ext cx="1097280" cy="3200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Gouvernance</a:t>
            </a:r>
          </a:p>
        </p:txBody>
      </p:sp>
      <p:pic>
        <p:nvPicPr>
          <p:cNvPr id="5" name="Picture 4" descr="logo_header.png"/>
          <p:cNvPicPr>
            <a:picLocks noChangeAspect="1"/>
          </p:cNvPicPr>
          <p:nvPr/>
        </p:nvPicPr>
        <p:blipFill>
          <a:blip r:embed="rId2"/>
          <a:stretch>
            <a:fillRect/>
          </a:stretch>
        </p:blipFill>
        <p:spPr>
          <a:xfrm>
            <a:off x="10637215" y="137160"/>
            <a:ext cx="1371600" cy="384048"/>
          </a:xfrm>
          <a:prstGeom prst="rect">
            <a:avLst/>
          </a:prstGeom>
        </p:spPr>
      </p:pic>
      <p:sp>
        <p:nvSpPr>
          <p:cNvPr id="6" name="Rectangle 5"/>
          <p:cNvSpPr/>
          <p:nvPr/>
        </p:nvSpPr>
        <p:spPr>
          <a:xfrm>
            <a:off x="0" y="6446520"/>
            <a:ext cx="12191695" cy="411480"/>
          </a:xfrm>
          <a:prstGeom prst="rect">
            <a:avLst/>
          </a:prstGeom>
          <a:solidFill>
            <a:srgbClr val="0317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999999"/>
                </a:solidFill>
              </a:defRPr>
            </a:pPr>
            <a:r>
              <a:t>ArcaScience — I-demo Q&amp;A — Confidentiel — Avril 2026          25</a:t>
            </a:r>
          </a:p>
        </p:txBody>
      </p:sp>
      <p:sp>
        <p:nvSpPr>
          <p:cNvPr id="7" name="TextBox 6"/>
          <p:cNvSpPr txBox="1"/>
          <p:nvPr/>
        </p:nvSpPr>
        <p:spPr>
          <a:xfrm>
            <a:off x="548640" y="1965960"/>
            <a:ext cx="11094415" cy="4114800"/>
          </a:xfrm>
          <a:prstGeom prst="rect">
            <a:avLst/>
          </a:prstGeom>
          <a:noFill/>
        </p:spPr>
        <p:txBody>
          <a:bodyPr wrap="square">
            <a:spAutoFit/>
          </a:bodyPr>
          <a:lstStyle/>
          <a:p>
            <a:pPr>
              <a:spcBef>
                <a:spcPts val="400"/>
              </a:spcBef>
              <a:spcAft>
                <a:spcPts val="200"/>
              </a:spcAft>
            </a:pPr>
            <a:r>
              <a:rPr sz="1300" b="1">
                <a:solidFill>
                  <a:srgbClr val="1973C2"/>
                </a:solidFill>
              </a:rPr>
              <a:t>Stratégie de mitigation</a:t>
            </a:r>
          </a:p>
          <a:p>
            <a:pPr lvl="1">
              <a:spcBef>
                <a:spcPts val="100"/>
              </a:spcBef>
              <a:spcAft>
                <a:spcPts val="100"/>
              </a:spcAft>
            </a:pPr>
            <a:r>
              <a:rPr sz="1100">
                <a:solidFill>
                  <a:srgbClr val="434343"/>
                </a:solidFill>
              </a:rPr>
              <a:t>Gradient Health : écosystème large de partenaires données — multiplication des sources pour compenser les défections</a:t>
            </a:r>
          </a:p>
          <a:p>
            <a:pPr lvl="1">
              <a:spcBef>
                <a:spcPts val="100"/>
              </a:spcBef>
              <a:spcAft>
                <a:spcPts val="100"/>
              </a:spcAft>
            </a:pPr>
            <a:r>
              <a:rPr sz="1100">
                <a:solidFill>
                  <a:srgbClr val="434343"/>
                </a:solidFill>
              </a:rPr>
              <a:t>Cedars-Sinai / Mayo Clinic : fournisseurs de données et sites de validation</a:t>
            </a:r>
          </a:p>
          <a:p>
            <a:pPr lvl="1">
              <a:spcBef>
                <a:spcPts val="100"/>
              </a:spcBef>
              <a:spcAft>
                <a:spcPts val="100"/>
              </a:spcAft>
            </a:pPr>
            <a:r>
              <a:rPr sz="1100">
                <a:solidFill>
                  <a:srgbClr val="434343"/>
                </a:solidFill>
              </a:rPr>
              <a:t>ICM : cohortes génomiques et cliniques</a:t>
            </a:r>
          </a:p>
          <a:p>
            <a:pPr lvl="1">
              <a:spcBef>
                <a:spcPts val="100"/>
              </a:spcBef>
              <a:spcAft>
                <a:spcPts val="100"/>
              </a:spcAft>
            </a:pPr>
            <a:r>
              <a:rPr sz="1100">
                <a:solidFill>
                  <a:srgbClr val="434343"/>
                </a:solidFill>
              </a:rPr>
              <a:t>Aucun partenaire unique n'est indispensable — couverture redondante par design</a:t>
            </a:r>
          </a:p>
          <a:p>
            <a:pPr>
              <a:spcBef>
                <a:spcPts val="400"/>
              </a:spcBef>
              <a:spcAft>
                <a:spcPts val="0"/>
              </a:spcAft>
            </a:pPr>
          </a:p>
          <a:p>
            <a:pPr>
              <a:spcBef>
                <a:spcPts val="400"/>
              </a:spcBef>
              <a:spcAft>
                <a:spcPts val="200"/>
              </a:spcAft>
            </a:pPr>
            <a:r>
              <a:rPr sz="1300" b="1">
                <a:solidFill>
                  <a:srgbClr val="1973C2"/>
                </a:solidFill>
              </a:rPr>
              <a:t>Accords contractuels</a:t>
            </a:r>
          </a:p>
          <a:p>
            <a:pPr lvl="1">
              <a:spcBef>
                <a:spcPts val="100"/>
              </a:spcBef>
              <a:spcAft>
                <a:spcPts val="100"/>
              </a:spcAft>
            </a:pPr>
            <a:r>
              <a:rPr sz="1100">
                <a:solidFill>
                  <a:srgbClr val="434343"/>
                </a:solidFill>
              </a:rPr>
              <a:t>Modèles d'accord à fournir au comité (SOPs et templates contractuels existants)</a:t>
            </a:r>
          </a:p>
          <a:p>
            <a:pPr lvl="1">
              <a:spcBef>
                <a:spcPts val="100"/>
              </a:spcBef>
              <a:spcAft>
                <a:spcPts val="100"/>
              </a:spcAft>
            </a:pPr>
            <a:r>
              <a:rPr sz="1100">
                <a:solidFill>
                  <a:srgbClr val="434343"/>
                </a:solidFill>
              </a:rPr>
              <a:t>Accompagnement juridique : Cabinet Carrel (fondé par ex-directrice Inserm Transfert)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7772400" cy="594360"/>
          </a:xfrm>
          <a:prstGeom prst="rect">
            <a:avLst/>
          </a:prstGeom>
          <a:noFill/>
        </p:spPr>
        <p:txBody>
          <a:bodyPr wrap="square">
            <a:spAutoFit/>
          </a:bodyPr>
          <a:lstStyle/>
          <a:p>
            <a:r>
              <a:rPr sz="2200" b="1">
                <a:solidFill>
                  <a:srgbClr val="031734"/>
                </a:solidFill>
              </a:rPr>
              <a:t>Q24 — Veille réglementaire</a:t>
            </a:r>
          </a:p>
        </p:txBody>
      </p:sp>
      <p:sp>
        <p:nvSpPr>
          <p:cNvPr id="3" name="Rounded Rectangle 2"/>
          <p:cNvSpPr/>
          <p:nvPr/>
        </p:nvSpPr>
        <p:spPr>
          <a:xfrm>
            <a:off x="457200" y="777240"/>
            <a:ext cx="11277295" cy="1051560"/>
          </a:xfrm>
          <a:prstGeom prst="roundRect">
            <a:avLst/>
          </a:prstGeom>
          <a:solidFill>
            <a:srgbClr val="E5EB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r>
              <a:rPr sz="1000" i="1">
                <a:solidFill>
                  <a:srgbClr val="031734"/>
                </a:solidFill>
              </a:rPr>
              <a:t>Comment est faite la veille réglementaire au sein de votre structure ?</a:t>
            </a:r>
          </a:p>
          <a:p>
            <a:r>
              <a:rPr sz="900" i="1">
                <a:solidFill>
                  <a:srgbClr val="999999"/>
                </a:solidFill>
              </a:rPr>
              <a:t>How is regulatory monitoring conducted within your organization?</a:t>
            </a:r>
          </a:p>
        </p:txBody>
      </p:sp>
      <p:sp>
        <p:nvSpPr>
          <p:cNvPr id="4" name="Rounded Rectangle 3"/>
          <p:cNvSpPr/>
          <p:nvPr/>
        </p:nvSpPr>
        <p:spPr>
          <a:xfrm>
            <a:off x="9448495" y="137160"/>
            <a:ext cx="1097280" cy="3200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Gouvernance</a:t>
            </a:r>
          </a:p>
        </p:txBody>
      </p:sp>
      <p:pic>
        <p:nvPicPr>
          <p:cNvPr id="5" name="Picture 4" descr="logo_header.png"/>
          <p:cNvPicPr>
            <a:picLocks noChangeAspect="1"/>
          </p:cNvPicPr>
          <p:nvPr/>
        </p:nvPicPr>
        <p:blipFill>
          <a:blip r:embed="rId2"/>
          <a:stretch>
            <a:fillRect/>
          </a:stretch>
        </p:blipFill>
        <p:spPr>
          <a:xfrm>
            <a:off x="10637215" y="137160"/>
            <a:ext cx="1371600" cy="384048"/>
          </a:xfrm>
          <a:prstGeom prst="rect">
            <a:avLst/>
          </a:prstGeom>
        </p:spPr>
      </p:pic>
      <p:sp>
        <p:nvSpPr>
          <p:cNvPr id="6" name="Rectangle 5"/>
          <p:cNvSpPr/>
          <p:nvPr/>
        </p:nvSpPr>
        <p:spPr>
          <a:xfrm>
            <a:off x="0" y="6446520"/>
            <a:ext cx="12191695" cy="411480"/>
          </a:xfrm>
          <a:prstGeom prst="rect">
            <a:avLst/>
          </a:prstGeom>
          <a:solidFill>
            <a:srgbClr val="0317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999999"/>
                </a:solidFill>
              </a:defRPr>
            </a:pPr>
            <a:r>
              <a:t>ArcaScience — I-demo Q&amp;A — Confidentiel — Avril 2026          26</a:t>
            </a:r>
          </a:p>
        </p:txBody>
      </p:sp>
      <p:sp>
        <p:nvSpPr>
          <p:cNvPr id="7" name="TextBox 6"/>
          <p:cNvSpPr txBox="1"/>
          <p:nvPr/>
        </p:nvSpPr>
        <p:spPr>
          <a:xfrm>
            <a:off x="548640" y="1965960"/>
            <a:ext cx="11094415" cy="4114800"/>
          </a:xfrm>
          <a:prstGeom prst="rect">
            <a:avLst/>
          </a:prstGeom>
          <a:noFill/>
        </p:spPr>
        <p:txBody>
          <a:bodyPr wrap="square">
            <a:spAutoFit/>
          </a:bodyPr>
          <a:lstStyle/>
          <a:p>
            <a:pPr>
              <a:spcBef>
                <a:spcPts val="400"/>
              </a:spcBef>
              <a:spcAft>
                <a:spcPts val="200"/>
              </a:spcAft>
            </a:pPr>
            <a:r>
              <a:rPr sz="1300" b="1">
                <a:solidFill>
                  <a:srgbClr val="1973C2"/>
                </a:solidFill>
              </a:rPr>
              <a:t>Organisation interne</a:t>
            </a:r>
          </a:p>
          <a:p>
            <a:pPr lvl="1">
              <a:spcBef>
                <a:spcPts val="100"/>
              </a:spcBef>
              <a:spcAft>
                <a:spcPts val="100"/>
              </a:spcAft>
            </a:pPr>
            <a:r>
              <a:rPr sz="1100">
                <a:solidFill>
                  <a:srgbClr val="434343"/>
                </a:solidFill>
              </a:rPr>
              <a:t>1 Q&amp;A GxP (Charbel / Clarisse) — conformité pharmaceutique et réglementaire</a:t>
            </a:r>
          </a:p>
          <a:p>
            <a:pPr lvl="1">
              <a:spcBef>
                <a:spcPts val="100"/>
              </a:spcBef>
              <a:spcAft>
                <a:spcPts val="100"/>
              </a:spcAft>
            </a:pPr>
            <a:r>
              <a:rPr sz="1100">
                <a:solidFill>
                  <a:srgbClr val="434343"/>
                </a:solidFill>
              </a:rPr>
              <a:t>1 Q&amp;A IT (Théo) — conformité technique et cybersécurité</a:t>
            </a:r>
          </a:p>
          <a:p>
            <a:pPr lvl="1">
              <a:spcBef>
                <a:spcPts val="100"/>
              </a:spcBef>
              <a:spcAft>
                <a:spcPts val="100"/>
              </a:spcAft>
            </a:pPr>
            <a:r>
              <a:rPr sz="1100">
                <a:solidFill>
                  <a:srgbClr val="434343"/>
                </a:solidFill>
              </a:rPr>
              <a:t>1 Comité scientifique — veille scientifique et méthodologique</a:t>
            </a:r>
          </a:p>
          <a:p>
            <a:pPr>
              <a:spcBef>
                <a:spcPts val="400"/>
              </a:spcBef>
              <a:spcAft>
                <a:spcPts val="0"/>
              </a:spcAft>
            </a:pPr>
          </a:p>
          <a:p>
            <a:pPr>
              <a:spcBef>
                <a:spcPts val="400"/>
              </a:spcBef>
              <a:spcAft>
                <a:spcPts val="200"/>
              </a:spcAft>
            </a:pPr>
            <a:r>
              <a:rPr sz="1300" b="1">
                <a:solidFill>
                  <a:srgbClr val="1973C2"/>
                </a:solidFill>
              </a:rPr>
              <a:t>Périmètre de veille</a:t>
            </a:r>
          </a:p>
          <a:p>
            <a:pPr lvl="1">
              <a:spcBef>
                <a:spcPts val="100"/>
              </a:spcBef>
              <a:spcAft>
                <a:spcPts val="100"/>
              </a:spcAft>
            </a:pPr>
            <a:r>
              <a:rPr sz="1100">
                <a:solidFill>
                  <a:srgbClr val="434343"/>
                </a:solidFill>
              </a:rPr>
              <a:t>Réglementation pharmaceutique : ICH, EMA, FDA, PMDA</a:t>
            </a:r>
          </a:p>
          <a:p>
            <a:pPr lvl="1">
              <a:spcBef>
                <a:spcPts val="100"/>
              </a:spcBef>
              <a:spcAft>
                <a:spcPts val="100"/>
              </a:spcAft>
            </a:pPr>
            <a:r>
              <a:rPr sz="1100">
                <a:solidFill>
                  <a:srgbClr val="434343"/>
                </a:solidFill>
              </a:rPr>
              <a:t>Réglementation IA : EU AI Act, guidelines nationales</a:t>
            </a:r>
          </a:p>
          <a:p>
            <a:pPr lvl="1">
              <a:spcBef>
                <a:spcPts val="100"/>
              </a:spcBef>
              <a:spcAft>
                <a:spcPts val="100"/>
              </a:spcAft>
            </a:pPr>
            <a:r>
              <a:rPr sz="1100">
                <a:solidFill>
                  <a:srgbClr val="434343"/>
                </a:solidFill>
              </a:rPr>
              <a:t>Protection des données : RGPD, HIPAA</a:t>
            </a:r>
          </a:p>
          <a:p>
            <a:pPr lvl="1">
              <a:spcBef>
                <a:spcPts val="100"/>
              </a:spcBef>
              <a:spcAft>
                <a:spcPts val="100"/>
              </a:spcAft>
            </a:pPr>
            <a:r>
              <a:rPr sz="1100">
                <a:solidFill>
                  <a:srgbClr val="434343"/>
                </a:solidFill>
              </a:rPr>
              <a:t>Dispositifs médicaux : MDR/IVDR (veille — non applicable dans le périmètre actuel)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7772400" cy="594360"/>
          </a:xfrm>
          <a:prstGeom prst="rect">
            <a:avLst/>
          </a:prstGeom>
          <a:noFill/>
        </p:spPr>
        <p:txBody>
          <a:bodyPr wrap="square">
            <a:spAutoFit/>
          </a:bodyPr>
          <a:lstStyle/>
          <a:p>
            <a:r>
              <a:rPr sz="2200" b="1">
                <a:solidFill>
                  <a:srgbClr val="031734"/>
                </a:solidFill>
              </a:rPr>
              <a:t>Q25 — Verrous juridiques</a:t>
            </a:r>
          </a:p>
        </p:txBody>
      </p:sp>
      <p:sp>
        <p:nvSpPr>
          <p:cNvPr id="3" name="Rounded Rectangle 2"/>
          <p:cNvSpPr/>
          <p:nvPr/>
        </p:nvSpPr>
        <p:spPr>
          <a:xfrm>
            <a:off x="457200" y="777240"/>
            <a:ext cx="11277295" cy="1051560"/>
          </a:xfrm>
          <a:prstGeom prst="roundRect">
            <a:avLst/>
          </a:prstGeom>
          <a:solidFill>
            <a:srgbClr val="E5EB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r>
              <a:rPr sz="1000" i="1">
                <a:solidFill>
                  <a:srgbClr val="031734"/>
                </a:solidFill>
              </a:rPr>
              <a:t>Comment et par qui êtes-vous accompagnés sur le plan juridique et réglementaire ? Est-ce que vous avez relevé des verrous juridiques pour mener à bien ce projet ?</a:t>
            </a:r>
          </a:p>
          <a:p>
            <a:r>
              <a:rPr sz="900" i="1">
                <a:solidFill>
                  <a:srgbClr val="999999"/>
                </a:solidFill>
              </a:rPr>
              <a:t>Who provides legal and regulatory support? Have you identified any legal barriers?</a:t>
            </a:r>
          </a:p>
        </p:txBody>
      </p:sp>
      <p:sp>
        <p:nvSpPr>
          <p:cNvPr id="4" name="Rounded Rectangle 3"/>
          <p:cNvSpPr/>
          <p:nvPr/>
        </p:nvSpPr>
        <p:spPr>
          <a:xfrm>
            <a:off x="9448495" y="137160"/>
            <a:ext cx="1097280" cy="3200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Gouvernance</a:t>
            </a:r>
          </a:p>
        </p:txBody>
      </p:sp>
      <p:pic>
        <p:nvPicPr>
          <p:cNvPr id="5" name="Picture 4" descr="logo_header.png"/>
          <p:cNvPicPr>
            <a:picLocks noChangeAspect="1"/>
          </p:cNvPicPr>
          <p:nvPr/>
        </p:nvPicPr>
        <p:blipFill>
          <a:blip r:embed="rId2"/>
          <a:stretch>
            <a:fillRect/>
          </a:stretch>
        </p:blipFill>
        <p:spPr>
          <a:xfrm>
            <a:off x="10637215" y="137160"/>
            <a:ext cx="1371600" cy="384048"/>
          </a:xfrm>
          <a:prstGeom prst="rect">
            <a:avLst/>
          </a:prstGeom>
        </p:spPr>
      </p:pic>
      <p:sp>
        <p:nvSpPr>
          <p:cNvPr id="6" name="Rectangle 5"/>
          <p:cNvSpPr/>
          <p:nvPr/>
        </p:nvSpPr>
        <p:spPr>
          <a:xfrm>
            <a:off x="0" y="6446520"/>
            <a:ext cx="12191695" cy="411480"/>
          </a:xfrm>
          <a:prstGeom prst="rect">
            <a:avLst/>
          </a:prstGeom>
          <a:solidFill>
            <a:srgbClr val="0317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999999"/>
                </a:solidFill>
              </a:defRPr>
            </a:pPr>
            <a:r>
              <a:t>ArcaScience — I-demo Q&amp;A — Confidentiel — Avril 2026          27</a:t>
            </a:r>
          </a:p>
        </p:txBody>
      </p:sp>
      <p:sp>
        <p:nvSpPr>
          <p:cNvPr id="7" name="TextBox 6"/>
          <p:cNvSpPr txBox="1"/>
          <p:nvPr/>
        </p:nvSpPr>
        <p:spPr>
          <a:xfrm>
            <a:off x="548640" y="1965960"/>
            <a:ext cx="11094415" cy="4114800"/>
          </a:xfrm>
          <a:prstGeom prst="rect">
            <a:avLst/>
          </a:prstGeom>
          <a:noFill/>
        </p:spPr>
        <p:txBody>
          <a:bodyPr wrap="square">
            <a:spAutoFit/>
          </a:bodyPr>
          <a:lstStyle/>
          <a:p>
            <a:pPr>
              <a:spcBef>
                <a:spcPts val="400"/>
              </a:spcBef>
              <a:spcAft>
                <a:spcPts val="200"/>
              </a:spcAft>
            </a:pPr>
            <a:r>
              <a:rPr sz="1300" b="1">
                <a:solidFill>
                  <a:srgbClr val="1973C2"/>
                </a:solidFill>
              </a:rPr>
              <a:t>Accompagnement juridique</a:t>
            </a:r>
          </a:p>
          <a:p>
            <a:pPr lvl="1">
              <a:spcBef>
                <a:spcPts val="100"/>
              </a:spcBef>
              <a:spcAft>
                <a:spcPts val="100"/>
              </a:spcAft>
            </a:pPr>
            <a:r>
              <a:rPr sz="1100">
                <a:solidFill>
                  <a:srgbClr val="434343"/>
                </a:solidFill>
              </a:rPr>
              <a:t>Cabinet Carrel — fondé par l'ex-directrice d'Inserm Transfert</a:t>
            </a:r>
          </a:p>
          <a:p>
            <a:pPr lvl="1">
              <a:spcBef>
                <a:spcPts val="100"/>
              </a:spcBef>
              <a:spcAft>
                <a:spcPts val="100"/>
              </a:spcAft>
            </a:pPr>
            <a:r>
              <a:rPr sz="1100">
                <a:solidFill>
                  <a:srgbClr val="434343"/>
                </a:solidFill>
              </a:rPr>
              <a:t>Expertise en propriété intellectuelle, contrats de recherche collaborative, droit de la santé</a:t>
            </a:r>
          </a:p>
          <a:p>
            <a:pPr>
              <a:spcBef>
                <a:spcPts val="400"/>
              </a:spcBef>
              <a:spcAft>
                <a:spcPts val="0"/>
              </a:spcAft>
            </a:pPr>
          </a:p>
          <a:p>
            <a:pPr>
              <a:spcBef>
                <a:spcPts val="400"/>
              </a:spcBef>
              <a:spcAft>
                <a:spcPts val="200"/>
              </a:spcAft>
            </a:pPr>
            <a:r>
              <a:rPr sz="1300" b="1">
                <a:solidFill>
                  <a:srgbClr val="1973C2"/>
                </a:solidFill>
              </a:rPr>
              <a:t>Verrous juridiques</a:t>
            </a:r>
          </a:p>
          <a:p>
            <a:pPr lvl="1">
              <a:spcBef>
                <a:spcPts val="100"/>
              </a:spcBef>
              <a:spcAft>
                <a:spcPts val="100"/>
              </a:spcAft>
            </a:pPr>
            <a:r>
              <a:rPr sz="1100">
                <a:solidFill>
                  <a:srgbClr val="434343"/>
                </a:solidFill>
              </a:rPr>
              <a:t>Aucun verrou juridique identifié à ce stade</a:t>
            </a:r>
          </a:p>
          <a:p>
            <a:pPr lvl="1">
              <a:spcBef>
                <a:spcPts val="100"/>
              </a:spcBef>
              <a:spcAft>
                <a:spcPts val="100"/>
              </a:spcAft>
            </a:pPr>
            <a:r>
              <a:rPr sz="1100">
                <a:solidFill>
                  <a:srgbClr val="434343"/>
                </a:solidFill>
              </a:rPr>
              <a:t>Les verrous ont été levés et intégrés au développement d'ArcaScience au fil des années</a:t>
            </a:r>
          </a:p>
          <a:p>
            <a:pPr lvl="1">
              <a:spcBef>
                <a:spcPts val="100"/>
              </a:spcBef>
              <a:spcAft>
                <a:spcPts val="100"/>
              </a:spcAft>
            </a:pPr>
            <a:r>
              <a:rPr sz="1100">
                <a:solidFill>
                  <a:srgbClr val="434343"/>
                </a:solidFill>
              </a:rPr>
              <a:t>Veille continue pour anticiper les évolutions réglementaires (EU AI Act, EHDS, etc.)</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7772400" cy="594360"/>
          </a:xfrm>
          <a:prstGeom prst="rect">
            <a:avLst/>
          </a:prstGeom>
          <a:noFill/>
        </p:spPr>
        <p:txBody>
          <a:bodyPr wrap="square">
            <a:spAutoFit/>
          </a:bodyPr>
          <a:lstStyle/>
          <a:p>
            <a:r>
              <a:rPr sz="2200" b="1">
                <a:solidFill>
                  <a:srgbClr val="031734"/>
                </a:solidFill>
              </a:rPr>
              <a:t>Q26 — Retour clients mode SaaS</a:t>
            </a:r>
          </a:p>
        </p:txBody>
      </p:sp>
      <p:sp>
        <p:nvSpPr>
          <p:cNvPr id="3" name="Rounded Rectangle 2"/>
          <p:cNvSpPr/>
          <p:nvPr/>
        </p:nvSpPr>
        <p:spPr>
          <a:xfrm>
            <a:off x="457200" y="777240"/>
            <a:ext cx="11277295" cy="1051560"/>
          </a:xfrm>
          <a:prstGeom prst="roundRect">
            <a:avLst/>
          </a:prstGeom>
          <a:solidFill>
            <a:srgbClr val="E5EB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r>
              <a:rPr sz="1000" i="1">
                <a:solidFill>
                  <a:srgbClr val="031734"/>
                </a:solidFill>
              </a:rPr>
              <a:t>Pourriez-vous nous donner le retour de vos premiers clients sur le mode SaaS ?</a:t>
            </a:r>
          </a:p>
          <a:p>
            <a:r>
              <a:rPr sz="900" i="1">
                <a:solidFill>
                  <a:srgbClr val="999999"/>
                </a:solidFill>
              </a:rPr>
              <a:t>Could you give us feedback from your first SaaS clients?</a:t>
            </a:r>
          </a:p>
        </p:txBody>
      </p:sp>
      <p:sp>
        <p:nvSpPr>
          <p:cNvPr id="4" name="Rounded Rectangle 3"/>
          <p:cNvSpPr/>
          <p:nvPr/>
        </p:nvSpPr>
        <p:spPr>
          <a:xfrm>
            <a:off x="9448495" y="137160"/>
            <a:ext cx="1097280" cy="320040"/>
          </a:xfrm>
          <a:prstGeom prst="roundRect">
            <a:avLst/>
          </a:prstGeom>
          <a:solidFill>
            <a:srgbClr val="75757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WP7</a:t>
            </a:r>
          </a:p>
        </p:txBody>
      </p:sp>
      <p:pic>
        <p:nvPicPr>
          <p:cNvPr id="5" name="Picture 4" descr="logo_header.png"/>
          <p:cNvPicPr>
            <a:picLocks noChangeAspect="1"/>
          </p:cNvPicPr>
          <p:nvPr/>
        </p:nvPicPr>
        <p:blipFill>
          <a:blip r:embed="rId2"/>
          <a:stretch>
            <a:fillRect/>
          </a:stretch>
        </p:blipFill>
        <p:spPr>
          <a:xfrm>
            <a:off x="10637215" y="137160"/>
            <a:ext cx="1371600" cy="384048"/>
          </a:xfrm>
          <a:prstGeom prst="rect">
            <a:avLst/>
          </a:prstGeom>
        </p:spPr>
      </p:pic>
      <p:sp>
        <p:nvSpPr>
          <p:cNvPr id="6" name="Rectangle 5"/>
          <p:cNvSpPr/>
          <p:nvPr/>
        </p:nvSpPr>
        <p:spPr>
          <a:xfrm>
            <a:off x="0" y="6446520"/>
            <a:ext cx="12191695" cy="411480"/>
          </a:xfrm>
          <a:prstGeom prst="rect">
            <a:avLst/>
          </a:prstGeom>
          <a:solidFill>
            <a:srgbClr val="0317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999999"/>
                </a:solidFill>
              </a:defRPr>
            </a:pPr>
            <a:r>
              <a:t>ArcaScience — I-demo Q&amp;A — Confidentiel — Avril 2026          28</a:t>
            </a:r>
          </a:p>
        </p:txBody>
      </p:sp>
      <p:sp>
        <p:nvSpPr>
          <p:cNvPr id="7" name="Rounded Rectangle 6"/>
          <p:cNvSpPr/>
          <p:nvPr/>
        </p:nvSpPr>
        <p:spPr>
          <a:xfrm>
            <a:off x="548640" y="1920240"/>
            <a:ext cx="11094415" cy="457200"/>
          </a:xfrm>
          <a:prstGeom prst="round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a:lstStyle/>
          <a:p>
            <a:pPr algn="ctr"/>
            <a:r>
              <a:rPr sz="1200" b="1">
                <a:solidFill>
                  <a:srgbClr val="999999"/>
                </a:solidFill>
              </a:rPr>
              <a:t>À compléter — Direction commerciale / CEO</a:t>
            </a:r>
          </a:p>
        </p:txBody>
      </p:sp>
      <p:sp>
        <p:nvSpPr>
          <p:cNvPr id="8" name="TextBox 7"/>
          <p:cNvSpPr txBox="1"/>
          <p:nvPr/>
        </p:nvSpPr>
        <p:spPr>
          <a:xfrm>
            <a:off x="548640" y="2468880"/>
            <a:ext cx="11094415" cy="2286000"/>
          </a:xfrm>
          <a:prstGeom prst="rect">
            <a:avLst/>
          </a:prstGeom>
          <a:noFill/>
        </p:spPr>
        <p:txBody>
          <a:bodyPr wrap="square">
            <a:spAutoFit/>
          </a:bodyPr>
          <a:lstStyle/>
          <a:p/>
        </p:txBody>
      </p:sp>
      <p:sp>
        <p:nvSpPr>
          <p:cNvPr id="9" name="Rounded Rectangle 8"/>
          <p:cNvSpPr/>
          <p:nvPr/>
        </p:nvSpPr>
        <p:spPr>
          <a:xfrm>
            <a:off x="548640" y="4389120"/>
            <a:ext cx="11094415" cy="2011680"/>
          </a:xfrm>
          <a:prstGeom prst="roundRect">
            <a:avLst/>
          </a:prstGeom>
          <a:solidFill>
            <a:srgbClr val="FFF8E1"/>
          </a:solidFill>
          <a:ln w="19050">
            <a:solidFill>
              <a:srgbClr val="FFAB4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r>
              <a:rPr sz="1000" b="1">
                <a:solidFill>
                  <a:srgbClr val="FFAB40"/>
                </a:solidFill>
              </a:rPr>
              <a:t>DRAFT — à valider par CEO / Direction commerciale</a:t>
            </a:r>
          </a:p>
          <a:p>
            <a:r>
              <a:rPr sz="1000">
                <a:solidFill>
                  <a:srgbClr val="434343"/>
                </a:solidFill>
              </a:rPr>
              <a:t>Proposition de réponse :
• Plateforme BRA en phase de déploiement auprès des premiers utilisateurs
• Objectif Q en cours : 10-50 utilisateurs de 1-5 entreprises (KR 1.1)
• Pricing SaaS structuré : BRA Essentials (75-100K€/an), Professional (125-175K€/an), Enterprise (200-300K€/an)
• Retours qualitatifs à collecter et présenter (feedback pipeline, NPS, cas d'usage validés)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7772400" cy="594360"/>
          </a:xfrm>
          <a:prstGeom prst="rect">
            <a:avLst/>
          </a:prstGeom>
          <a:noFill/>
        </p:spPr>
        <p:txBody>
          <a:bodyPr wrap="square">
            <a:spAutoFit/>
          </a:bodyPr>
          <a:lstStyle/>
          <a:p>
            <a:r>
              <a:rPr sz="2200" b="1">
                <a:solidFill>
                  <a:srgbClr val="031734"/>
                </a:solidFill>
              </a:rPr>
              <a:t>Q27 — Contrat ICON</a:t>
            </a:r>
          </a:p>
        </p:txBody>
      </p:sp>
      <p:sp>
        <p:nvSpPr>
          <p:cNvPr id="3" name="Rounded Rectangle 2"/>
          <p:cNvSpPr/>
          <p:nvPr/>
        </p:nvSpPr>
        <p:spPr>
          <a:xfrm>
            <a:off x="457200" y="777240"/>
            <a:ext cx="11277295" cy="1051560"/>
          </a:xfrm>
          <a:prstGeom prst="roundRect">
            <a:avLst/>
          </a:prstGeom>
          <a:solidFill>
            <a:srgbClr val="E5EB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r>
              <a:rPr sz="1000" i="1">
                <a:solidFill>
                  <a:srgbClr val="031734"/>
                </a:solidFill>
              </a:rPr>
              <a:t>Où en est le contrat avec ICON ?</a:t>
            </a:r>
          </a:p>
          <a:p>
            <a:r>
              <a:rPr sz="900" i="1">
                <a:solidFill>
                  <a:srgbClr val="999999"/>
                </a:solidFill>
              </a:rPr>
              <a:t>What is the status of the contract with ICON?</a:t>
            </a:r>
          </a:p>
        </p:txBody>
      </p:sp>
      <p:sp>
        <p:nvSpPr>
          <p:cNvPr id="4" name="Rounded Rectangle 3"/>
          <p:cNvSpPr/>
          <p:nvPr/>
        </p:nvSpPr>
        <p:spPr>
          <a:xfrm>
            <a:off x="9448495" y="137160"/>
            <a:ext cx="1097280" cy="320040"/>
          </a:xfrm>
          <a:prstGeom prst="roundRect">
            <a:avLst/>
          </a:prstGeom>
          <a:solidFill>
            <a:srgbClr val="75757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WP7</a:t>
            </a:r>
          </a:p>
        </p:txBody>
      </p:sp>
      <p:pic>
        <p:nvPicPr>
          <p:cNvPr id="5" name="Picture 4" descr="logo_header.png"/>
          <p:cNvPicPr>
            <a:picLocks noChangeAspect="1"/>
          </p:cNvPicPr>
          <p:nvPr/>
        </p:nvPicPr>
        <p:blipFill>
          <a:blip r:embed="rId2"/>
          <a:stretch>
            <a:fillRect/>
          </a:stretch>
        </p:blipFill>
        <p:spPr>
          <a:xfrm>
            <a:off x="10637215" y="137160"/>
            <a:ext cx="1371600" cy="384048"/>
          </a:xfrm>
          <a:prstGeom prst="rect">
            <a:avLst/>
          </a:prstGeom>
        </p:spPr>
      </p:pic>
      <p:sp>
        <p:nvSpPr>
          <p:cNvPr id="6" name="Rectangle 5"/>
          <p:cNvSpPr/>
          <p:nvPr/>
        </p:nvSpPr>
        <p:spPr>
          <a:xfrm>
            <a:off x="0" y="6446520"/>
            <a:ext cx="12191695" cy="411480"/>
          </a:xfrm>
          <a:prstGeom prst="rect">
            <a:avLst/>
          </a:prstGeom>
          <a:solidFill>
            <a:srgbClr val="0317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999999"/>
                </a:solidFill>
              </a:defRPr>
            </a:pPr>
            <a:r>
              <a:t>ArcaScience — I-demo Q&amp;A — Confidentiel — Avril 2026          29</a:t>
            </a:r>
          </a:p>
        </p:txBody>
      </p:sp>
      <p:sp>
        <p:nvSpPr>
          <p:cNvPr id="7" name="Rounded Rectangle 6"/>
          <p:cNvSpPr/>
          <p:nvPr/>
        </p:nvSpPr>
        <p:spPr>
          <a:xfrm>
            <a:off x="548640" y="1920240"/>
            <a:ext cx="11094415" cy="457200"/>
          </a:xfrm>
          <a:prstGeom prst="round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a:lstStyle/>
          <a:p>
            <a:pPr algn="ctr"/>
            <a:r>
              <a:rPr sz="1200" b="1">
                <a:solidFill>
                  <a:srgbClr val="999999"/>
                </a:solidFill>
              </a:rPr>
              <a:t>À compléter — CEO / Direction commerciale</a:t>
            </a:r>
          </a:p>
        </p:txBody>
      </p:sp>
      <p:sp>
        <p:nvSpPr>
          <p:cNvPr id="8" name="TextBox 7"/>
          <p:cNvSpPr txBox="1"/>
          <p:nvPr/>
        </p:nvSpPr>
        <p:spPr>
          <a:xfrm>
            <a:off x="548640" y="2468880"/>
            <a:ext cx="11094415" cy="2286000"/>
          </a:xfrm>
          <a:prstGeom prst="rect">
            <a:avLst/>
          </a:prstGeom>
          <a:noFill/>
        </p:spPr>
        <p:txBody>
          <a:bodyPr wrap="square">
            <a:spAutoFit/>
          </a:bodyPr>
          <a:lstStyle/>
          <a:p/>
        </p:txBody>
      </p:sp>
      <p:sp>
        <p:nvSpPr>
          <p:cNvPr id="9" name="Rounded Rectangle 8"/>
          <p:cNvSpPr/>
          <p:nvPr/>
        </p:nvSpPr>
        <p:spPr>
          <a:xfrm>
            <a:off x="548640" y="4389120"/>
            <a:ext cx="11094415" cy="2011680"/>
          </a:xfrm>
          <a:prstGeom prst="roundRect">
            <a:avLst/>
          </a:prstGeom>
          <a:solidFill>
            <a:srgbClr val="FFF8E1"/>
          </a:solidFill>
          <a:ln w="19050">
            <a:solidFill>
              <a:srgbClr val="FFAB4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r>
              <a:rPr sz="1000" b="1">
                <a:solidFill>
                  <a:srgbClr val="FFAB40"/>
                </a:solidFill>
              </a:rPr>
              <a:t>DRAFT — à valider par CEO</a:t>
            </a:r>
          </a:p>
          <a:p>
            <a:r>
              <a:rPr sz="1000">
                <a:solidFill>
                  <a:srgbClr val="434343"/>
                </a:solidFill>
              </a:rPr>
              <a:t>Proposition de réponse :
• Statut actuel du contrat ICON à détailler
• Périmètre de la collaboration, montant, jalons
• Lien avec la stratégie go-to-market et le pipeline commercial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7772400" cy="594360"/>
          </a:xfrm>
          <a:prstGeom prst="rect">
            <a:avLst/>
          </a:prstGeom>
          <a:noFill/>
        </p:spPr>
        <p:txBody>
          <a:bodyPr wrap="square">
            <a:spAutoFit/>
          </a:bodyPr>
          <a:lstStyle/>
          <a:p>
            <a:r>
              <a:rPr sz="2200" b="1">
                <a:solidFill>
                  <a:srgbClr val="031734"/>
                </a:solidFill>
              </a:rPr>
              <a:t>Q28 — Contrat Vidal et module Synapse</a:t>
            </a:r>
          </a:p>
        </p:txBody>
      </p:sp>
      <p:sp>
        <p:nvSpPr>
          <p:cNvPr id="3" name="Rounded Rectangle 2"/>
          <p:cNvSpPr/>
          <p:nvPr/>
        </p:nvSpPr>
        <p:spPr>
          <a:xfrm>
            <a:off x="457200" y="777240"/>
            <a:ext cx="11277295" cy="1051560"/>
          </a:xfrm>
          <a:prstGeom prst="roundRect">
            <a:avLst/>
          </a:prstGeom>
          <a:solidFill>
            <a:srgbClr val="E5EB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r>
              <a:rPr sz="1000" i="1">
                <a:solidFill>
                  <a:srgbClr val="031734"/>
                </a:solidFill>
              </a:rPr>
              <a:t>Pourriez-vous donner plus d'informations sur votre contrat avec Vidal et comment ce nouveau module peut ou pourrait s'articuler avec les modules d'analyse de risques d'interactions médicamenteuses comme celui de Synapse ?</a:t>
            </a:r>
          </a:p>
          <a:p>
            <a:r>
              <a:rPr sz="900" i="1">
                <a:solidFill>
                  <a:srgbClr val="999999"/>
                </a:solidFill>
              </a:rPr>
              <a:t>More details on the Vidal contract and articulation with drug interaction risk analysis modules like Synapse?</a:t>
            </a:r>
          </a:p>
        </p:txBody>
      </p:sp>
      <p:sp>
        <p:nvSpPr>
          <p:cNvPr id="4" name="Rounded Rectangle 3"/>
          <p:cNvSpPr/>
          <p:nvPr/>
        </p:nvSpPr>
        <p:spPr>
          <a:xfrm>
            <a:off x="9448495" y="137160"/>
            <a:ext cx="1097280" cy="320040"/>
          </a:xfrm>
          <a:prstGeom prst="roundRect">
            <a:avLst/>
          </a:prstGeom>
          <a:solidFill>
            <a:srgbClr val="75757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WP7</a:t>
            </a:r>
          </a:p>
        </p:txBody>
      </p:sp>
      <p:pic>
        <p:nvPicPr>
          <p:cNvPr id="5" name="Picture 4" descr="logo_header.png"/>
          <p:cNvPicPr>
            <a:picLocks noChangeAspect="1"/>
          </p:cNvPicPr>
          <p:nvPr/>
        </p:nvPicPr>
        <p:blipFill>
          <a:blip r:embed="rId2"/>
          <a:stretch>
            <a:fillRect/>
          </a:stretch>
        </p:blipFill>
        <p:spPr>
          <a:xfrm>
            <a:off x="10637215" y="137160"/>
            <a:ext cx="1371600" cy="384048"/>
          </a:xfrm>
          <a:prstGeom prst="rect">
            <a:avLst/>
          </a:prstGeom>
        </p:spPr>
      </p:pic>
      <p:sp>
        <p:nvSpPr>
          <p:cNvPr id="6" name="Rectangle 5"/>
          <p:cNvSpPr/>
          <p:nvPr/>
        </p:nvSpPr>
        <p:spPr>
          <a:xfrm>
            <a:off x="0" y="6446520"/>
            <a:ext cx="12191695" cy="411480"/>
          </a:xfrm>
          <a:prstGeom prst="rect">
            <a:avLst/>
          </a:prstGeom>
          <a:solidFill>
            <a:srgbClr val="0317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999999"/>
                </a:solidFill>
              </a:defRPr>
            </a:pPr>
            <a:r>
              <a:t>ArcaScience — I-demo Q&amp;A — Confidentiel — Avril 2026          30</a:t>
            </a:r>
          </a:p>
        </p:txBody>
      </p:sp>
      <p:sp>
        <p:nvSpPr>
          <p:cNvPr id="7" name="Rounded Rectangle 6"/>
          <p:cNvSpPr/>
          <p:nvPr/>
        </p:nvSpPr>
        <p:spPr>
          <a:xfrm>
            <a:off x="548640" y="1920240"/>
            <a:ext cx="11094415" cy="457200"/>
          </a:xfrm>
          <a:prstGeom prst="round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a:lstStyle/>
          <a:p>
            <a:pPr algn="ctr"/>
            <a:r>
              <a:rPr sz="1200" b="1">
                <a:solidFill>
                  <a:srgbClr val="999999"/>
                </a:solidFill>
              </a:rPr>
              <a:t>À compléter — CEO / Direction commerciale</a:t>
            </a:r>
          </a:p>
        </p:txBody>
      </p:sp>
      <p:sp>
        <p:nvSpPr>
          <p:cNvPr id="8" name="TextBox 7"/>
          <p:cNvSpPr txBox="1"/>
          <p:nvPr/>
        </p:nvSpPr>
        <p:spPr>
          <a:xfrm>
            <a:off x="548640" y="2468880"/>
            <a:ext cx="11094415" cy="2286000"/>
          </a:xfrm>
          <a:prstGeom prst="rect">
            <a:avLst/>
          </a:prstGeom>
          <a:noFill/>
        </p:spPr>
        <p:txBody>
          <a:bodyPr wrap="square">
            <a:spAutoFit/>
          </a:bodyPr>
          <a:lstStyle/>
          <a:p>
            <a:pPr>
              <a:spcBef>
                <a:spcPts val="400"/>
              </a:spcBef>
              <a:spcAft>
                <a:spcPts val="200"/>
              </a:spcAft>
            </a:pPr>
            <a:r>
              <a:rPr sz="1300" b="1">
                <a:solidFill>
                  <a:srgbClr val="1973C2"/>
                </a:solidFill>
              </a:rPr>
              <a:t>Positionnement différenciant</a:t>
            </a:r>
          </a:p>
          <a:p>
            <a:pPr lvl="1">
              <a:spcBef>
                <a:spcPts val="100"/>
              </a:spcBef>
              <a:spcAft>
                <a:spcPts val="100"/>
              </a:spcAft>
            </a:pPr>
            <a:r>
              <a:rPr sz="1100">
                <a:solidFill>
                  <a:srgbClr val="434343"/>
                </a:solidFill>
              </a:rPr>
              <a:t>Technologie Synapse/Vidal : compréhension des leaflets et du travail du G-TIAM</a:t>
            </a:r>
          </a:p>
          <a:p>
            <a:pPr lvl="1">
              <a:spcBef>
                <a:spcPts val="100"/>
              </a:spcBef>
              <a:spcAft>
                <a:spcPts val="100"/>
              </a:spcAft>
            </a:pPr>
            <a:r>
              <a:rPr sz="1100">
                <a:solidFill>
                  <a:srgbClr val="434343"/>
                </a:solidFill>
              </a:rPr>
              <a:t>ArcaScience : en amont — identification des cas d'interactions médicamenteuses issus de la vie réelle et de la littérature</a:t>
            </a:r>
          </a:p>
          <a:p>
            <a:pPr lvl="1">
              <a:spcBef>
                <a:spcPts val="100"/>
              </a:spcBef>
              <a:spcAft>
                <a:spcPts val="100"/>
              </a:spcAft>
            </a:pPr>
            <a:r>
              <a:rPr sz="1100">
                <a:solidFill>
                  <a:srgbClr val="434343"/>
                </a:solidFill>
              </a:rPr>
              <a:t>Complémentarité : ArcaScience enrichit les signaux en amont, Vidal les diffuse en aval</a:t>
            </a:r>
          </a:p>
        </p:txBody>
      </p:sp>
      <p:sp>
        <p:nvSpPr>
          <p:cNvPr id="9" name="Rounded Rectangle 8"/>
          <p:cNvSpPr/>
          <p:nvPr/>
        </p:nvSpPr>
        <p:spPr>
          <a:xfrm>
            <a:off x="548640" y="4389120"/>
            <a:ext cx="11094415" cy="2011680"/>
          </a:xfrm>
          <a:prstGeom prst="roundRect">
            <a:avLst/>
          </a:prstGeom>
          <a:solidFill>
            <a:srgbClr val="FFF8E1"/>
          </a:solidFill>
          <a:ln w="19050">
            <a:solidFill>
              <a:srgbClr val="FFAB4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r>
              <a:rPr sz="1000" b="1">
                <a:solidFill>
                  <a:srgbClr val="FFAB40"/>
                </a:solidFill>
              </a:rPr>
              <a:t>DRAFT — à valider par CEO / Direction commerciale</a:t>
            </a:r>
          </a:p>
          <a:p>
            <a:r>
              <a:rPr sz="1000">
                <a:solidFill>
                  <a:srgbClr val="434343"/>
                </a:solidFill>
              </a:rPr>
              <a:t>Proposition de réponse :
• Détailler le périmètre du contrat Vidal (nature, montant, durée)
• Expliquer le module spécifique développé ou en cours de développement
• Articuler avec la stratégie d'interactions médicamenteuses de BR-PREDICT (T6.3 SCM)</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7772400" cy="594360"/>
          </a:xfrm>
          <a:prstGeom prst="rect">
            <a:avLst/>
          </a:prstGeom>
          <a:noFill/>
        </p:spPr>
        <p:txBody>
          <a:bodyPr wrap="square">
            <a:spAutoFit/>
          </a:bodyPr>
          <a:lstStyle/>
          <a:p>
            <a:r>
              <a:rPr sz="2200" b="1">
                <a:solidFill>
                  <a:srgbClr val="031734"/>
                </a:solidFill>
              </a:rPr>
              <a:t>Q29 — Identification et contact clients</a:t>
            </a:r>
          </a:p>
        </p:txBody>
      </p:sp>
      <p:sp>
        <p:nvSpPr>
          <p:cNvPr id="3" name="Rounded Rectangle 2"/>
          <p:cNvSpPr/>
          <p:nvPr/>
        </p:nvSpPr>
        <p:spPr>
          <a:xfrm>
            <a:off x="457200" y="777240"/>
            <a:ext cx="11277295" cy="1051560"/>
          </a:xfrm>
          <a:prstGeom prst="roundRect">
            <a:avLst/>
          </a:prstGeom>
          <a:solidFill>
            <a:srgbClr val="E5EB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r>
              <a:rPr sz="1000" i="1">
                <a:solidFill>
                  <a:srgbClr val="031734"/>
                </a:solidFill>
              </a:rPr>
              <a:t>Comment êtes-vous structurés pour l'identification et la prise de contact auprès des clients potentiels ?</a:t>
            </a:r>
          </a:p>
          <a:p>
            <a:r>
              <a:rPr sz="900" i="1">
                <a:solidFill>
                  <a:srgbClr val="999999"/>
                </a:solidFill>
              </a:rPr>
              <a:t>How are you structured for identifying and contacting potential clients?</a:t>
            </a:r>
          </a:p>
        </p:txBody>
      </p:sp>
      <p:sp>
        <p:nvSpPr>
          <p:cNvPr id="4" name="Rounded Rectangle 3"/>
          <p:cNvSpPr/>
          <p:nvPr/>
        </p:nvSpPr>
        <p:spPr>
          <a:xfrm>
            <a:off x="9448495" y="137160"/>
            <a:ext cx="1097280" cy="320040"/>
          </a:xfrm>
          <a:prstGeom prst="roundRect">
            <a:avLst/>
          </a:prstGeom>
          <a:solidFill>
            <a:srgbClr val="75757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WP7</a:t>
            </a:r>
          </a:p>
        </p:txBody>
      </p:sp>
      <p:pic>
        <p:nvPicPr>
          <p:cNvPr id="5" name="Picture 4" descr="logo_header.png"/>
          <p:cNvPicPr>
            <a:picLocks noChangeAspect="1"/>
          </p:cNvPicPr>
          <p:nvPr/>
        </p:nvPicPr>
        <p:blipFill>
          <a:blip r:embed="rId2"/>
          <a:stretch>
            <a:fillRect/>
          </a:stretch>
        </p:blipFill>
        <p:spPr>
          <a:xfrm>
            <a:off x="10637215" y="137160"/>
            <a:ext cx="1371600" cy="384048"/>
          </a:xfrm>
          <a:prstGeom prst="rect">
            <a:avLst/>
          </a:prstGeom>
        </p:spPr>
      </p:pic>
      <p:sp>
        <p:nvSpPr>
          <p:cNvPr id="6" name="Rectangle 5"/>
          <p:cNvSpPr/>
          <p:nvPr/>
        </p:nvSpPr>
        <p:spPr>
          <a:xfrm>
            <a:off x="0" y="6446520"/>
            <a:ext cx="12191695" cy="411480"/>
          </a:xfrm>
          <a:prstGeom prst="rect">
            <a:avLst/>
          </a:prstGeom>
          <a:solidFill>
            <a:srgbClr val="0317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999999"/>
                </a:solidFill>
              </a:defRPr>
            </a:pPr>
            <a:r>
              <a:t>ArcaScience — I-demo Q&amp;A — Confidentiel — Avril 2026          31</a:t>
            </a:r>
          </a:p>
        </p:txBody>
      </p:sp>
      <p:sp>
        <p:nvSpPr>
          <p:cNvPr id="7" name="Rounded Rectangle 6"/>
          <p:cNvSpPr/>
          <p:nvPr/>
        </p:nvSpPr>
        <p:spPr>
          <a:xfrm>
            <a:off x="548640" y="1920240"/>
            <a:ext cx="11094415" cy="457200"/>
          </a:xfrm>
          <a:prstGeom prst="round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a:lstStyle/>
          <a:p>
            <a:pPr algn="ctr"/>
            <a:r>
              <a:rPr sz="1200" b="1">
                <a:solidFill>
                  <a:srgbClr val="999999"/>
                </a:solidFill>
              </a:rPr>
              <a:t>À compléter — CEO / Direction commerciale</a:t>
            </a:r>
          </a:p>
        </p:txBody>
      </p:sp>
      <p:sp>
        <p:nvSpPr>
          <p:cNvPr id="8" name="TextBox 7"/>
          <p:cNvSpPr txBox="1"/>
          <p:nvPr/>
        </p:nvSpPr>
        <p:spPr>
          <a:xfrm>
            <a:off x="548640" y="2468880"/>
            <a:ext cx="11094415" cy="2286000"/>
          </a:xfrm>
          <a:prstGeom prst="rect">
            <a:avLst/>
          </a:prstGeom>
          <a:noFill/>
        </p:spPr>
        <p:txBody>
          <a:bodyPr wrap="square">
            <a:spAutoFit/>
          </a:bodyPr>
          <a:lstStyle/>
          <a:p/>
        </p:txBody>
      </p:sp>
      <p:sp>
        <p:nvSpPr>
          <p:cNvPr id="9" name="Rounded Rectangle 8"/>
          <p:cNvSpPr/>
          <p:nvPr/>
        </p:nvSpPr>
        <p:spPr>
          <a:xfrm>
            <a:off x="548640" y="4389120"/>
            <a:ext cx="11094415" cy="2011680"/>
          </a:xfrm>
          <a:prstGeom prst="roundRect">
            <a:avLst/>
          </a:prstGeom>
          <a:solidFill>
            <a:srgbClr val="FFF8E1"/>
          </a:solidFill>
          <a:ln w="19050">
            <a:solidFill>
              <a:srgbClr val="FFAB4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r>
              <a:rPr sz="1000" b="1">
                <a:solidFill>
                  <a:srgbClr val="FFAB40"/>
                </a:solidFill>
              </a:rPr>
              <a:t>DRAFT — à valider par CEO</a:t>
            </a:r>
          </a:p>
          <a:p>
            <a:r>
              <a:rPr sz="1000">
                <a:solidFill>
                  <a:srgbClr val="434343"/>
                </a:solidFill>
              </a:rPr>
              <a:t>Proposition de réponse :
• Organisation sales structurée avec pipeline discipliné
• Target : 10 outbounds + 5 warm intros par quinzaine (Weeks 1-2 du quarter)
• Pipeline coverage target : 3x du target revenue ($1.5M)
• Motion disease-specific-first : les versions thérapeutiques compressent les cycles de vente de 40-60%
• Win rate cible : 25-35% sur opportunités qualifiées
• Cycle de vente moyen : &lt;60 jours
• Profils cibles : Top-20 pharma, mid-market biotech, CROs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7772400" cy="594360"/>
          </a:xfrm>
          <a:prstGeom prst="rect">
            <a:avLst/>
          </a:prstGeom>
          <a:noFill/>
        </p:spPr>
        <p:txBody>
          <a:bodyPr wrap="square">
            <a:spAutoFit/>
          </a:bodyPr>
          <a:lstStyle/>
          <a:p>
            <a:r>
              <a:rPr sz="2200" b="1">
                <a:solidFill>
                  <a:srgbClr val="031734"/>
                </a:solidFill>
              </a:rPr>
              <a:t>Q30 — Choix du NSCLC et indications futures</a:t>
            </a:r>
          </a:p>
        </p:txBody>
      </p:sp>
      <p:sp>
        <p:nvSpPr>
          <p:cNvPr id="3" name="Rounded Rectangle 2"/>
          <p:cNvSpPr/>
          <p:nvPr/>
        </p:nvSpPr>
        <p:spPr>
          <a:xfrm>
            <a:off x="457200" y="777240"/>
            <a:ext cx="11277295" cy="1051560"/>
          </a:xfrm>
          <a:prstGeom prst="roundRect">
            <a:avLst/>
          </a:prstGeom>
          <a:solidFill>
            <a:srgbClr val="E5EB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r>
              <a:rPr sz="1000" i="1">
                <a:solidFill>
                  <a:srgbClr val="031734"/>
                </a:solidFill>
              </a:rPr>
              <a:t>Pourquoi avoir choisi le NSCLC comme première indication ? Quelles seraient les indications suivantes ? Comment allez-vous sourcer les données pour les 10% spécifiques par indication ?</a:t>
            </a:r>
          </a:p>
          <a:p>
            <a:r>
              <a:rPr sz="900" i="1">
                <a:solidFill>
                  <a:srgbClr val="999999"/>
                </a:solidFill>
              </a:rPr>
              <a:t>Why NSCLC first? What are the next indications? How will you source the 10% indication-specific data?</a:t>
            </a:r>
          </a:p>
        </p:txBody>
      </p:sp>
      <p:sp>
        <p:nvSpPr>
          <p:cNvPr id="4" name="Rounded Rectangle 3"/>
          <p:cNvSpPr/>
          <p:nvPr/>
        </p:nvSpPr>
        <p:spPr>
          <a:xfrm>
            <a:off x="9448495" y="137160"/>
            <a:ext cx="1097280" cy="3200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Stratégie</a:t>
            </a:r>
          </a:p>
        </p:txBody>
      </p:sp>
      <p:pic>
        <p:nvPicPr>
          <p:cNvPr id="5" name="Picture 4" descr="logo_header.png"/>
          <p:cNvPicPr>
            <a:picLocks noChangeAspect="1"/>
          </p:cNvPicPr>
          <p:nvPr/>
        </p:nvPicPr>
        <p:blipFill>
          <a:blip r:embed="rId2"/>
          <a:stretch>
            <a:fillRect/>
          </a:stretch>
        </p:blipFill>
        <p:spPr>
          <a:xfrm>
            <a:off x="10637215" y="137160"/>
            <a:ext cx="1371600" cy="384048"/>
          </a:xfrm>
          <a:prstGeom prst="rect">
            <a:avLst/>
          </a:prstGeom>
        </p:spPr>
      </p:pic>
      <p:sp>
        <p:nvSpPr>
          <p:cNvPr id="6" name="Rectangle 5"/>
          <p:cNvSpPr/>
          <p:nvPr/>
        </p:nvSpPr>
        <p:spPr>
          <a:xfrm>
            <a:off x="0" y="6446520"/>
            <a:ext cx="12191695" cy="411480"/>
          </a:xfrm>
          <a:prstGeom prst="rect">
            <a:avLst/>
          </a:prstGeom>
          <a:solidFill>
            <a:srgbClr val="0317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999999"/>
                </a:solidFill>
              </a:defRPr>
            </a:pPr>
            <a:r>
              <a:t>ArcaScience — I-demo Q&amp;A — Confidentiel — Avril 2026          32</a:t>
            </a:r>
          </a:p>
        </p:txBody>
      </p:sp>
      <p:sp>
        <p:nvSpPr>
          <p:cNvPr id="7" name="TextBox 6"/>
          <p:cNvSpPr txBox="1"/>
          <p:nvPr/>
        </p:nvSpPr>
        <p:spPr>
          <a:xfrm>
            <a:off x="548640" y="1965960"/>
            <a:ext cx="11094415" cy="4114800"/>
          </a:xfrm>
          <a:prstGeom prst="rect">
            <a:avLst/>
          </a:prstGeom>
          <a:noFill/>
        </p:spPr>
        <p:txBody>
          <a:bodyPr wrap="square">
            <a:spAutoFit/>
          </a:bodyPr>
          <a:lstStyle/>
          <a:p>
            <a:pPr>
              <a:spcBef>
                <a:spcPts val="400"/>
              </a:spcBef>
              <a:spcAft>
                <a:spcPts val="200"/>
              </a:spcAft>
            </a:pPr>
            <a:r>
              <a:rPr sz="1300" b="1">
                <a:solidFill>
                  <a:srgbClr val="1973C2"/>
                </a:solidFill>
              </a:rPr>
              <a:t>Choix NSCLC</a:t>
            </a:r>
          </a:p>
          <a:p>
            <a:pPr lvl="1">
              <a:spcBef>
                <a:spcPts val="100"/>
              </a:spcBef>
              <a:spcAft>
                <a:spcPts val="100"/>
              </a:spcAft>
            </a:pPr>
            <a:r>
              <a:rPr sz="1100">
                <a:solidFill>
                  <a:srgbClr val="434343"/>
                </a:solidFill>
              </a:rPr>
              <a:t>Stratégie orientée cancer : non-small cell lung cancer comme socle</a:t>
            </a:r>
          </a:p>
          <a:p>
            <a:pPr lvl="1">
              <a:spcBef>
                <a:spcPts val="100"/>
              </a:spcBef>
              <a:spcAft>
                <a:spcPts val="100"/>
              </a:spcAft>
            </a:pPr>
            <a:r>
              <a:rPr sz="1100">
                <a:solidFill>
                  <a:srgbClr val="434343"/>
                </a:solidFill>
              </a:rPr>
              <a:t>Pertinence scientifique et richesse de données maximales</a:t>
            </a:r>
          </a:p>
          <a:p>
            <a:pPr lvl="1">
              <a:spcBef>
                <a:spcPts val="100"/>
              </a:spcBef>
              <a:spcAft>
                <a:spcPts val="100"/>
              </a:spcAft>
            </a:pPr>
            <a:r>
              <a:rPr sz="1100">
                <a:solidFill>
                  <a:srgbClr val="434343"/>
                </a:solidFill>
              </a:rPr>
              <a:t>Création d'une base de données critique transférable</a:t>
            </a:r>
          </a:p>
          <a:p>
            <a:pPr>
              <a:spcBef>
                <a:spcPts val="400"/>
              </a:spcBef>
              <a:spcAft>
                <a:spcPts val="0"/>
              </a:spcAft>
            </a:pPr>
          </a:p>
          <a:p>
            <a:pPr>
              <a:spcBef>
                <a:spcPts val="400"/>
              </a:spcBef>
              <a:spcAft>
                <a:spcPts val="200"/>
              </a:spcAft>
            </a:pPr>
            <a:r>
              <a:rPr sz="1300" b="1">
                <a:solidFill>
                  <a:srgbClr val="1973C2"/>
                </a:solidFill>
              </a:rPr>
              <a:t>Indications suivantes</a:t>
            </a:r>
          </a:p>
          <a:p>
            <a:pPr lvl="1">
              <a:spcBef>
                <a:spcPts val="100"/>
              </a:spcBef>
              <a:spcAft>
                <a:spcPts val="100"/>
              </a:spcAft>
            </a:pPr>
            <a:r>
              <a:rPr sz="1100">
                <a:solidFill>
                  <a:srgbClr val="434343"/>
                </a:solidFill>
              </a:rPr>
              <a:t>Extension vers l'immuno-inflammation en fonction de la disponibilité des données</a:t>
            </a:r>
          </a:p>
          <a:p>
            <a:pPr lvl="1">
              <a:spcBef>
                <a:spcPts val="100"/>
              </a:spcBef>
              <a:spcAft>
                <a:spcPts val="100"/>
              </a:spcAft>
            </a:pPr>
            <a:r>
              <a:rPr sz="1100">
                <a:solidFill>
                  <a:srgbClr val="434343"/>
                </a:solidFill>
              </a:rPr>
              <a:t>Transfer learning entre aires thérapeutiques</a:t>
            </a:r>
          </a:p>
          <a:p>
            <a:pPr lvl="1">
              <a:spcBef>
                <a:spcPts val="100"/>
              </a:spcBef>
              <a:spcAft>
                <a:spcPts val="100"/>
              </a:spcAft>
            </a:pPr>
            <a:r>
              <a:rPr sz="1100">
                <a:solidFill>
                  <a:srgbClr val="434343"/>
                </a:solidFill>
              </a:rPr>
              <a:t>Similarité des pathologies facilite le transfert de modèles</a:t>
            </a:r>
          </a:p>
          <a:p>
            <a:pPr lvl="1">
              <a:spcBef>
                <a:spcPts val="100"/>
              </a:spcBef>
              <a:spcAft>
                <a:spcPts val="100"/>
              </a:spcAft>
            </a:pPr>
            <a:r>
              <a:rPr sz="1100">
                <a:solidFill>
                  <a:srgbClr val="434343"/>
                </a:solidFill>
              </a:rPr>
              <a:t>Architecture 90/10 : ~10% de calibration spécifique par nouvelle indication</a:t>
            </a:r>
          </a:p>
          <a:p>
            <a:pPr>
              <a:spcBef>
                <a:spcPts val="400"/>
              </a:spcBef>
              <a:spcAft>
                <a:spcPts val="0"/>
              </a:spcAft>
            </a:pPr>
          </a:p>
          <a:p>
            <a:pPr>
              <a:spcBef>
                <a:spcPts val="400"/>
              </a:spcBef>
              <a:spcAft>
                <a:spcPts val="200"/>
              </a:spcAft>
            </a:pPr>
            <a:r>
              <a:rPr sz="1300" b="1">
                <a:solidFill>
                  <a:srgbClr val="1973C2"/>
                </a:solidFill>
              </a:rPr>
              <a:t>Sourcing des 10% spécifiques</a:t>
            </a:r>
          </a:p>
          <a:p>
            <a:pPr lvl="1">
              <a:spcBef>
                <a:spcPts val="100"/>
              </a:spcBef>
              <a:spcAft>
                <a:spcPts val="100"/>
              </a:spcAft>
            </a:pPr>
            <a:r>
              <a:rPr sz="1100">
                <a:solidFill>
                  <a:srgbClr val="434343"/>
                </a:solidFill>
              </a:rPr>
              <a:t>1) Moissonnage : données open structurées + non-structurées (PubMed, ChEMBL, ClinicalTrials.gov, FAERS)</a:t>
            </a:r>
          </a:p>
          <a:p>
            <a:pPr lvl="1">
              <a:spcBef>
                <a:spcPts val="100"/>
              </a:spcBef>
              <a:spcAft>
                <a:spcPts val="100"/>
              </a:spcAft>
            </a:pPr>
            <a:r>
              <a:rPr sz="1100">
                <a:solidFill>
                  <a:srgbClr val="434343"/>
                </a:solidFill>
              </a:rPr>
              <a:t>2) Partenariats privés : Gradient Health, Cedars-Sinai, Mayo Clinic</a:t>
            </a:r>
          </a:p>
          <a:p>
            <a:pPr lvl="1">
              <a:spcBef>
                <a:spcPts val="100"/>
              </a:spcBef>
              <a:spcAft>
                <a:spcPts val="100"/>
              </a:spcAft>
            </a:pPr>
            <a:r>
              <a:rPr sz="1100">
                <a:solidFill>
                  <a:srgbClr val="434343"/>
                </a:solidFill>
              </a:rPr>
              <a:t>3) Partenariats publics : ICM, Institut Bergonié</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31734"/>
        </a:solidFill>
        <a:effectLst/>
      </p:bgPr>
    </p:bg>
    <p:spTree>
      <p:nvGrpSpPr>
        <p:cNvPr id="1" name=""/>
        <p:cNvGrpSpPr/>
        <p:nvPr/>
      </p:nvGrpSpPr>
      <p:grpSpPr/>
      <p:pic>
        <p:nvPicPr>
          <p:cNvPr id="2" name="Picture 1" descr="logo_header.png"/>
          <p:cNvPicPr>
            <a:picLocks noChangeAspect="1"/>
          </p:cNvPicPr>
          <p:nvPr/>
        </p:nvPicPr>
        <p:blipFill>
          <a:blip r:embed="rId2"/>
          <a:stretch>
            <a:fillRect/>
          </a:stretch>
        </p:blipFill>
        <p:spPr>
          <a:xfrm>
            <a:off x="10637215" y="137160"/>
            <a:ext cx="1371600" cy="384048"/>
          </a:xfrm>
          <a:prstGeom prst="rect">
            <a:avLst/>
          </a:prstGeom>
        </p:spPr>
      </p:pic>
      <p:sp>
        <p:nvSpPr>
          <p:cNvPr id="3" name="TextBox 2"/>
          <p:cNvSpPr txBox="1"/>
          <p:nvPr/>
        </p:nvSpPr>
        <p:spPr>
          <a:xfrm>
            <a:off x="1371600" y="1371600"/>
            <a:ext cx="9418320" cy="914400"/>
          </a:xfrm>
          <a:prstGeom prst="rect">
            <a:avLst/>
          </a:prstGeom>
          <a:noFill/>
        </p:spPr>
        <p:txBody>
          <a:bodyPr wrap="none">
            <a:spAutoFit/>
          </a:bodyPr>
          <a:lstStyle/>
          <a:p>
            <a:pPr algn="ctr"/>
            <a:r>
              <a:rPr sz="3200" b="1">
                <a:solidFill>
                  <a:srgbClr val="FFFFFF"/>
                </a:solidFill>
              </a:rPr>
              <a:t>Prochaines étapes</a:t>
            </a:r>
          </a:p>
        </p:txBody>
      </p:sp>
      <p:sp>
        <p:nvSpPr>
          <p:cNvPr id="4" name="TextBox 3"/>
          <p:cNvSpPr txBox="1"/>
          <p:nvPr/>
        </p:nvSpPr>
        <p:spPr>
          <a:xfrm>
            <a:off x="1828800" y="2743200"/>
            <a:ext cx="8503920" cy="2743200"/>
          </a:xfrm>
          <a:prstGeom prst="rect">
            <a:avLst/>
          </a:prstGeom>
          <a:noFill/>
        </p:spPr>
        <p:txBody>
          <a:bodyPr wrap="square">
            <a:spAutoFit/>
          </a:bodyPr>
          <a:lstStyle/>
          <a:p>
            <a:pPr>
              <a:spcBef>
                <a:spcPts val="1600"/>
              </a:spcBef>
            </a:pPr>
            <a:r>
              <a:rPr sz="1800">
                <a:solidFill>
                  <a:srgbClr val="3ACFFF"/>
                </a:solidFill>
              </a:rPr>
              <a:t>1. Finaliser les réponses DRAFT flaguées — chaque owner valide son périmètre</a:t>
            </a:r>
          </a:p>
          <a:p>
            <a:pPr>
              <a:spcBef>
                <a:spcPts val="1600"/>
              </a:spcBef>
            </a:pPr>
            <a:r>
              <a:rPr sz="1800">
                <a:solidFill>
                  <a:srgbClr val="3ACFFF"/>
                </a:solidFill>
              </a:rPr>
              <a:t>2. Valider les aspects juridiques et PI avec Cabinet Carrel + revue RH</a:t>
            </a:r>
          </a:p>
          <a:p>
            <a:pPr>
              <a:spcBef>
                <a:spcPts val="1600"/>
              </a:spcBef>
            </a:pPr>
            <a:r>
              <a:rPr sz="1800">
                <a:solidFill>
                  <a:srgbClr val="3ACFFF"/>
                </a:solidFill>
              </a:rPr>
              <a:t>3. Renvoyer la version consolidée au comité d'évaluation Bpifrance</a:t>
            </a:r>
          </a:p>
        </p:txBody>
      </p:sp>
      <p:sp>
        <p:nvSpPr>
          <p:cNvPr id="5" name="Rectangle 4"/>
          <p:cNvSpPr/>
          <p:nvPr/>
        </p:nvSpPr>
        <p:spPr>
          <a:xfrm>
            <a:off x="4114800" y="2377440"/>
            <a:ext cx="3931920" cy="36576"/>
          </a:xfrm>
          <a:prstGeom prst="rect">
            <a:avLst/>
          </a:prstGeom>
          <a:solidFill>
            <a:srgbClr val="F1B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91695" cy="411480"/>
          </a:xfrm>
          <a:prstGeom prst="rect">
            <a:avLst/>
          </a:prstGeom>
          <a:solidFill>
            <a:srgbClr val="0317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999999"/>
                </a:solidFill>
              </a:defRPr>
            </a:pPr>
            <a:r>
              <a:t>ArcaScience — I-demo Q&amp;A — Confidentiel — Avril 2026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7772400" cy="594360"/>
          </a:xfrm>
          <a:prstGeom prst="rect">
            <a:avLst/>
          </a:prstGeom>
          <a:noFill/>
        </p:spPr>
        <p:txBody>
          <a:bodyPr wrap="square">
            <a:spAutoFit/>
          </a:bodyPr>
          <a:lstStyle/>
          <a:p>
            <a:r>
              <a:rPr sz="2200" b="1">
                <a:solidFill>
                  <a:srgbClr val="031734"/>
                </a:solidFill>
              </a:rPr>
              <a:t>Annexe — Items DRAFT &amp; À compléter</a:t>
            </a:r>
          </a:p>
        </p:txBody>
      </p:sp>
      <p:pic>
        <p:nvPicPr>
          <p:cNvPr id="3" name="Picture 2" descr="logo_header.png"/>
          <p:cNvPicPr>
            <a:picLocks noChangeAspect="1"/>
          </p:cNvPicPr>
          <p:nvPr/>
        </p:nvPicPr>
        <p:blipFill>
          <a:blip r:embed="rId2"/>
          <a:stretch>
            <a:fillRect/>
          </a:stretch>
        </p:blipFill>
        <p:spPr>
          <a:xfrm>
            <a:off x="10637215" y="137160"/>
            <a:ext cx="1371600" cy="384048"/>
          </a:xfrm>
          <a:prstGeom prst="rect">
            <a:avLst/>
          </a:prstGeom>
        </p:spPr>
      </p:pic>
      <p:sp>
        <p:nvSpPr>
          <p:cNvPr id="4" name="Rectangle 3"/>
          <p:cNvSpPr/>
          <p:nvPr/>
        </p:nvSpPr>
        <p:spPr>
          <a:xfrm>
            <a:off x="0" y="6446520"/>
            <a:ext cx="12191695" cy="411480"/>
          </a:xfrm>
          <a:prstGeom prst="rect">
            <a:avLst/>
          </a:prstGeom>
          <a:solidFill>
            <a:srgbClr val="0317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999999"/>
                </a:solidFill>
              </a:defRPr>
            </a:pPr>
            <a:r>
              <a:t>ArcaScience — I-demo Q&amp;A — Confidentiel — Avril 2026          34</a:t>
            </a:r>
          </a:p>
        </p:txBody>
      </p:sp>
      <p:sp>
        <p:nvSpPr>
          <p:cNvPr id="5" name="Rectangle 4"/>
          <p:cNvSpPr/>
          <p:nvPr/>
        </p:nvSpPr>
        <p:spPr>
          <a:xfrm>
            <a:off x="914400" y="1005840"/>
            <a:ext cx="914400" cy="320040"/>
          </a:xfrm>
          <a:prstGeom prst="rect">
            <a:avLst/>
          </a:prstGeom>
          <a:solidFill>
            <a:srgbClr val="0E477A"/>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Question</a:t>
            </a:r>
          </a:p>
        </p:txBody>
      </p:sp>
      <p:sp>
        <p:nvSpPr>
          <p:cNvPr id="6" name="Rectangle 5"/>
          <p:cNvSpPr/>
          <p:nvPr/>
        </p:nvSpPr>
        <p:spPr>
          <a:xfrm>
            <a:off x="1828800" y="1005840"/>
            <a:ext cx="5943600" cy="320040"/>
          </a:xfrm>
          <a:prstGeom prst="rect">
            <a:avLst/>
          </a:prstGeom>
          <a:solidFill>
            <a:srgbClr val="0E477A"/>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Item à compléter</a:t>
            </a:r>
          </a:p>
        </p:txBody>
      </p:sp>
      <p:sp>
        <p:nvSpPr>
          <p:cNvPr id="7" name="Rectangle 6"/>
          <p:cNvSpPr/>
          <p:nvPr/>
        </p:nvSpPr>
        <p:spPr>
          <a:xfrm>
            <a:off x="7772400" y="1005840"/>
            <a:ext cx="3200400" cy="320040"/>
          </a:xfrm>
          <a:prstGeom prst="rect">
            <a:avLst/>
          </a:prstGeom>
          <a:solidFill>
            <a:srgbClr val="0E477A"/>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Owner</a:t>
            </a:r>
          </a:p>
        </p:txBody>
      </p:sp>
      <p:sp>
        <p:nvSpPr>
          <p:cNvPr id="8" name="Rectangle 7"/>
          <p:cNvSpPr/>
          <p:nvPr/>
        </p:nvSpPr>
        <p:spPr>
          <a:xfrm>
            <a:off x="914400" y="1325880"/>
            <a:ext cx="914400" cy="320040"/>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AB40"/>
                </a:solidFill>
              </a:defRPr>
            </a:pPr>
            <a:r>
              <a:t>Q2</a:t>
            </a:r>
          </a:p>
        </p:txBody>
      </p:sp>
      <p:sp>
        <p:nvSpPr>
          <p:cNvPr id="9" name="Rectangle 8"/>
          <p:cNvSpPr/>
          <p:nvPr/>
        </p:nvSpPr>
        <p:spPr>
          <a:xfrm>
            <a:off x="1828800" y="1325880"/>
            <a:ext cx="5943600" cy="320040"/>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0">
                <a:solidFill>
                  <a:srgbClr val="434343"/>
                </a:solidFill>
              </a:defRPr>
            </a:pPr>
            <a:r>
              <a:t>ETP par WP — table à compléter</a:t>
            </a:r>
          </a:p>
        </p:txBody>
      </p:sp>
      <p:sp>
        <p:nvSpPr>
          <p:cNvPr id="10" name="Rectangle 9"/>
          <p:cNvSpPr/>
          <p:nvPr/>
        </p:nvSpPr>
        <p:spPr>
          <a:xfrm>
            <a:off x="7772400" y="1325880"/>
            <a:ext cx="3200400" cy="320040"/>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0">
                <a:solidFill>
                  <a:srgbClr val="434343"/>
                </a:solidFill>
              </a:defRPr>
            </a:pPr>
            <a:r>
              <a:t>RH / Direction</a:t>
            </a:r>
          </a:p>
        </p:txBody>
      </p:sp>
      <p:sp>
        <p:nvSpPr>
          <p:cNvPr id="11" name="Rectangle 10"/>
          <p:cNvSpPr/>
          <p:nvPr/>
        </p:nvSpPr>
        <p:spPr>
          <a:xfrm>
            <a:off x="914400" y="1645920"/>
            <a:ext cx="914400" cy="320040"/>
          </a:xfrm>
          <a:prstGeom prst="rect">
            <a:avLst/>
          </a:prstGeom>
          <a:solidFill>
            <a:srgbClr val="F2F2F2"/>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AB40"/>
                </a:solidFill>
              </a:defRPr>
            </a:pPr>
            <a:r>
              <a:t>Q5</a:t>
            </a:r>
          </a:p>
        </p:txBody>
      </p:sp>
      <p:sp>
        <p:nvSpPr>
          <p:cNvPr id="12" name="Rectangle 11"/>
          <p:cNvSpPr/>
          <p:nvPr/>
        </p:nvSpPr>
        <p:spPr>
          <a:xfrm>
            <a:off x="1828800" y="1645920"/>
            <a:ext cx="5943600" cy="320040"/>
          </a:xfrm>
          <a:prstGeom prst="rect">
            <a:avLst/>
          </a:prstGeom>
          <a:solidFill>
            <a:srgbClr val="F2F2F2"/>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0">
                <a:solidFill>
                  <a:srgbClr val="434343"/>
                </a:solidFill>
              </a:defRPr>
            </a:pPr>
            <a:r>
              <a:t>Liste BDD publiques/privées + explicabilité par couche</a:t>
            </a:r>
          </a:p>
        </p:txBody>
      </p:sp>
      <p:sp>
        <p:nvSpPr>
          <p:cNvPr id="13" name="Rectangle 12"/>
          <p:cNvSpPr/>
          <p:nvPr/>
        </p:nvSpPr>
        <p:spPr>
          <a:xfrm>
            <a:off x="7772400" y="1645920"/>
            <a:ext cx="3200400" cy="320040"/>
          </a:xfrm>
          <a:prstGeom prst="rect">
            <a:avLst/>
          </a:prstGeom>
          <a:solidFill>
            <a:srgbClr val="F2F2F2"/>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0">
                <a:solidFill>
                  <a:srgbClr val="434343"/>
                </a:solidFill>
              </a:defRPr>
            </a:pPr>
            <a:r>
              <a:t>VS / Théo</a:t>
            </a:r>
          </a:p>
        </p:txBody>
      </p:sp>
      <p:sp>
        <p:nvSpPr>
          <p:cNvPr id="14" name="Rectangle 13"/>
          <p:cNvSpPr/>
          <p:nvPr/>
        </p:nvSpPr>
        <p:spPr>
          <a:xfrm>
            <a:off x="914400" y="1965960"/>
            <a:ext cx="914400" cy="320040"/>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AB40"/>
                </a:solidFill>
              </a:defRPr>
            </a:pPr>
            <a:r>
              <a:t>Q6</a:t>
            </a:r>
          </a:p>
        </p:txBody>
      </p:sp>
      <p:sp>
        <p:nvSpPr>
          <p:cNvPr id="15" name="Rectangle 14"/>
          <p:cNvSpPr/>
          <p:nvPr/>
        </p:nvSpPr>
        <p:spPr>
          <a:xfrm>
            <a:off x="1828800" y="1965960"/>
            <a:ext cx="5943600" cy="320040"/>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0">
                <a:solidFill>
                  <a:srgbClr val="434343"/>
                </a:solidFill>
              </a:defRPr>
            </a:pPr>
            <a:r>
              <a:t>Framework RAISE Trustworthy AI</a:t>
            </a:r>
          </a:p>
        </p:txBody>
      </p:sp>
      <p:sp>
        <p:nvSpPr>
          <p:cNvPr id="16" name="Rectangle 15"/>
          <p:cNvSpPr/>
          <p:nvPr/>
        </p:nvSpPr>
        <p:spPr>
          <a:xfrm>
            <a:off x="7772400" y="1965960"/>
            <a:ext cx="3200400" cy="320040"/>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0">
                <a:solidFill>
                  <a:srgbClr val="434343"/>
                </a:solidFill>
              </a:defRPr>
            </a:pPr>
            <a:r>
              <a:t>VS / Théo</a:t>
            </a:r>
          </a:p>
        </p:txBody>
      </p:sp>
      <p:sp>
        <p:nvSpPr>
          <p:cNvPr id="17" name="Rectangle 16"/>
          <p:cNvSpPr/>
          <p:nvPr/>
        </p:nvSpPr>
        <p:spPr>
          <a:xfrm>
            <a:off x="914400" y="2286000"/>
            <a:ext cx="914400" cy="320040"/>
          </a:xfrm>
          <a:prstGeom prst="rect">
            <a:avLst/>
          </a:prstGeom>
          <a:solidFill>
            <a:srgbClr val="F2F2F2"/>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AB40"/>
                </a:solidFill>
              </a:defRPr>
            </a:pPr>
            <a:r>
              <a:t>Q13</a:t>
            </a:r>
          </a:p>
        </p:txBody>
      </p:sp>
      <p:sp>
        <p:nvSpPr>
          <p:cNvPr id="18" name="Rectangle 17"/>
          <p:cNvSpPr/>
          <p:nvPr/>
        </p:nvSpPr>
        <p:spPr>
          <a:xfrm>
            <a:off x="1828800" y="2286000"/>
            <a:ext cx="5943600" cy="320040"/>
          </a:xfrm>
          <a:prstGeom prst="rect">
            <a:avLst/>
          </a:prstGeom>
          <a:solidFill>
            <a:srgbClr val="F2F2F2"/>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0">
                <a:solidFill>
                  <a:srgbClr val="434343"/>
                </a:solidFill>
              </a:defRPr>
            </a:pPr>
            <a:r>
              <a:t>Stratégie RH profils rares</a:t>
            </a:r>
          </a:p>
        </p:txBody>
      </p:sp>
      <p:sp>
        <p:nvSpPr>
          <p:cNvPr id="19" name="Rectangle 18"/>
          <p:cNvSpPr/>
          <p:nvPr/>
        </p:nvSpPr>
        <p:spPr>
          <a:xfrm>
            <a:off x="7772400" y="2286000"/>
            <a:ext cx="3200400" cy="320040"/>
          </a:xfrm>
          <a:prstGeom prst="rect">
            <a:avLst/>
          </a:prstGeom>
          <a:solidFill>
            <a:srgbClr val="F2F2F2"/>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0">
                <a:solidFill>
                  <a:srgbClr val="434343"/>
                </a:solidFill>
              </a:defRPr>
            </a:pPr>
            <a:r>
              <a:t>RH / Direction</a:t>
            </a:r>
          </a:p>
        </p:txBody>
      </p:sp>
      <p:sp>
        <p:nvSpPr>
          <p:cNvPr id="20" name="Rectangle 19"/>
          <p:cNvSpPr/>
          <p:nvPr/>
        </p:nvSpPr>
        <p:spPr>
          <a:xfrm>
            <a:off x="914400" y="2606040"/>
            <a:ext cx="914400" cy="320040"/>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AB40"/>
                </a:solidFill>
              </a:defRPr>
            </a:pPr>
            <a:r>
              <a:t>Q15</a:t>
            </a:r>
          </a:p>
        </p:txBody>
      </p:sp>
      <p:sp>
        <p:nvSpPr>
          <p:cNvPr id="21" name="Rectangle 20"/>
          <p:cNvSpPr/>
          <p:nvPr/>
        </p:nvSpPr>
        <p:spPr>
          <a:xfrm>
            <a:off x="1828800" y="2606040"/>
            <a:ext cx="5943600" cy="320040"/>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0">
                <a:solidFill>
                  <a:srgbClr val="434343"/>
                </a:solidFill>
              </a:defRPr>
            </a:pPr>
            <a:r>
              <a:t>Sous-traitance INRIA — nature, profils, PI</a:t>
            </a:r>
          </a:p>
        </p:txBody>
      </p:sp>
      <p:sp>
        <p:nvSpPr>
          <p:cNvPr id="22" name="Rectangle 21"/>
          <p:cNvSpPr/>
          <p:nvPr/>
        </p:nvSpPr>
        <p:spPr>
          <a:xfrm>
            <a:off x="7772400" y="2606040"/>
            <a:ext cx="3200400" cy="320040"/>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0">
                <a:solidFill>
                  <a:srgbClr val="434343"/>
                </a:solidFill>
              </a:defRPr>
            </a:pPr>
            <a:r>
              <a:t>Direction / Cabinet Carrel</a:t>
            </a:r>
          </a:p>
        </p:txBody>
      </p:sp>
      <p:sp>
        <p:nvSpPr>
          <p:cNvPr id="23" name="Rectangle 22"/>
          <p:cNvSpPr/>
          <p:nvPr/>
        </p:nvSpPr>
        <p:spPr>
          <a:xfrm>
            <a:off x="914400" y="2926080"/>
            <a:ext cx="914400" cy="320040"/>
          </a:xfrm>
          <a:prstGeom prst="rect">
            <a:avLst/>
          </a:prstGeom>
          <a:solidFill>
            <a:srgbClr val="F2F2F2"/>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AB40"/>
                </a:solidFill>
              </a:defRPr>
            </a:pPr>
            <a:r>
              <a:t>Q17</a:t>
            </a:r>
          </a:p>
        </p:txBody>
      </p:sp>
      <p:sp>
        <p:nvSpPr>
          <p:cNvPr id="24" name="Rectangle 23"/>
          <p:cNvSpPr/>
          <p:nvPr/>
        </p:nvSpPr>
        <p:spPr>
          <a:xfrm>
            <a:off x="1828800" y="2926080"/>
            <a:ext cx="5943600" cy="320040"/>
          </a:xfrm>
          <a:prstGeom prst="rect">
            <a:avLst/>
          </a:prstGeom>
          <a:solidFill>
            <a:srgbClr val="F2F2F2"/>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0">
                <a:solidFill>
                  <a:srgbClr val="434343"/>
                </a:solidFill>
              </a:defRPr>
            </a:pPr>
            <a:r>
              <a:t>T7.3 discussions pharma après M24</a:t>
            </a:r>
          </a:p>
        </p:txBody>
      </p:sp>
      <p:sp>
        <p:nvSpPr>
          <p:cNvPr id="25" name="Rectangle 24"/>
          <p:cNvSpPr/>
          <p:nvPr/>
        </p:nvSpPr>
        <p:spPr>
          <a:xfrm>
            <a:off x="7772400" y="2926080"/>
            <a:ext cx="3200400" cy="320040"/>
          </a:xfrm>
          <a:prstGeom prst="rect">
            <a:avLst/>
          </a:prstGeom>
          <a:solidFill>
            <a:srgbClr val="F2F2F2"/>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0">
                <a:solidFill>
                  <a:srgbClr val="434343"/>
                </a:solidFill>
              </a:defRPr>
            </a:pPr>
            <a:r>
              <a:t>Direction / Stratégie</a:t>
            </a:r>
          </a:p>
        </p:txBody>
      </p:sp>
      <p:sp>
        <p:nvSpPr>
          <p:cNvPr id="26" name="Rectangle 25"/>
          <p:cNvSpPr/>
          <p:nvPr/>
        </p:nvSpPr>
        <p:spPr>
          <a:xfrm>
            <a:off x="914400" y="3246120"/>
            <a:ext cx="914400" cy="320040"/>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AB40"/>
                </a:solidFill>
              </a:defRPr>
            </a:pPr>
            <a:r>
              <a:t>Q20</a:t>
            </a:r>
          </a:p>
        </p:txBody>
      </p:sp>
      <p:sp>
        <p:nvSpPr>
          <p:cNvPr id="27" name="Rectangle 26"/>
          <p:cNvSpPr/>
          <p:nvPr/>
        </p:nvSpPr>
        <p:spPr>
          <a:xfrm>
            <a:off x="1828800" y="3246120"/>
            <a:ext cx="5943600" cy="320040"/>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0">
                <a:solidFill>
                  <a:srgbClr val="434343"/>
                </a:solidFill>
              </a:defRPr>
            </a:pPr>
            <a:r>
              <a:t>Structure capitalistique</a:t>
            </a:r>
          </a:p>
        </p:txBody>
      </p:sp>
      <p:sp>
        <p:nvSpPr>
          <p:cNvPr id="28" name="Rectangle 27"/>
          <p:cNvSpPr/>
          <p:nvPr/>
        </p:nvSpPr>
        <p:spPr>
          <a:xfrm>
            <a:off x="7772400" y="3246120"/>
            <a:ext cx="3200400" cy="320040"/>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0">
                <a:solidFill>
                  <a:srgbClr val="434343"/>
                </a:solidFill>
              </a:defRPr>
            </a:pPr>
            <a:r>
              <a:t>Direction / CEO</a:t>
            </a:r>
          </a:p>
        </p:txBody>
      </p:sp>
      <p:sp>
        <p:nvSpPr>
          <p:cNvPr id="29" name="Rectangle 28"/>
          <p:cNvSpPr/>
          <p:nvPr/>
        </p:nvSpPr>
        <p:spPr>
          <a:xfrm>
            <a:off x="914400" y="3566160"/>
            <a:ext cx="914400" cy="320040"/>
          </a:xfrm>
          <a:prstGeom prst="rect">
            <a:avLst/>
          </a:prstGeom>
          <a:solidFill>
            <a:srgbClr val="F2F2F2"/>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AB40"/>
                </a:solidFill>
              </a:defRPr>
            </a:pPr>
            <a:r>
              <a:t>Q21</a:t>
            </a:r>
          </a:p>
        </p:txBody>
      </p:sp>
      <p:sp>
        <p:nvSpPr>
          <p:cNvPr id="30" name="Rectangle 29"/>
          <p:cNvSpPr/>
          <p:nvPr/>
        </p:nvSpPr>
        <p:spPr>
          <a:xfrm>
            <a:off x="1828800" y="3566160"/>
            <a:ext cx="5943600" cy="320040"/>
          </a:xfrm>
          <a:prstGeom prst="rect">
            <a:avLst/>
          </a:prstGeom>
          <a:solidFill>
            <a:srgbClr val="F2F2F2"/>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0">
                <a:solidFill>
                  <a:srgbClr val="434343"/>
                </a:solidFill>
              </a:defRPr>
            </a:pPr>
            <a:r>
              <a:t>Levée de fonds — montant, investisseurs, calendrier</a:t>
            </a:r>
          </a:p>
        </p:txBody>
      </p:sp>
      <p:sp>
        <p:nvSpPr>
          <p:cNvPr id="31" name="Rectangle 30"/>
          <p:cNvSpPr/>
          <p:nvPr/>
        </p:nvSpPr>
        <p:spPr>
          <a:xfrm>
            <a:off x="7772400" y="3566160"/>
            <a:ext cx="3200400" cy="320040"/>
          </a:xfrm>
          <a:prstGeom prst="rect">
            <a:avLst/>
          </a:prstGeom>
          <a:solidFill>
            <a:srgbClr val="F2F2F2"/>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0">
                <a:solidFill>
                  <a:srgbClr val="434343"/>
                </a:solidFill>
              </a:defRPr>
            </a:pPr>
            <a:r>
              <a:t>CEO</a:t>
            </a:r>
          </a:p>
        </p:txBody>
      </p:sp>
      <p:sp>
        <p:nvSpPr>
          <p:cNvPr id="32" name="Rectangle 31"/>
          <p:cNvSpPr/>
          <p:nvPr/>
        </p:nvSpPr>
        <p:spPr>
          <a:xfrm>
            <a:off x="914400" y="3886200"/>
            <a:ext cx="914400" cy="320040"/>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AB40"/>
                </a:solidFill>
              </a:defRPr>
            </a:pPr>
            <a:r>
              <a:t>Q22</a:t>
            </a:r>
          </a:p>
        </p:txBody>
      </p:sp>
      <p:sp>
        <p:nvSpPr>
          <p:cNvPr id="33" name="Rectangle 32"/>
          <p:cNvSpPr/>
          <p:nvPr/>
        </p:nvSpPr>
        <p:spPr>
          <a:xfrm>
            <a:off x="1828800" y="3886200"/>
            <a:ext cx="5943600" cy="320040"/>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0">
                <a:solidFill>
                  <a:srgbClr val="434343"/>
                </a:solidFill>
              </a:defRPr>
            </a:pPr>
            <a:r>
              <a:t>Sources publiques de financement</a:t>
            </a:r>
          </a:p>
        </p:txBody>
      </p:sp>
      <p:sp>
        <p:nvSpPr>
          <p:cNvPr id="34" name="Rectangle 33"/>
          <p:cNvSpPr/>
          <p:nvPr/>
        </p:nvSpPr>
        <p:spPr>
          <a:xfrm>
            <a:off x="7772400" y="3886200"/>
            <a:ext cx="3200400" cy="320040"/>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0">
                <a:solidFill>
                  <a:srgbClr val="434343"/>
                </a:solidFill>
              </a:defRPr>
            </a:pPr>
            <a:r>
              <a:t>Direction / DAF</a:t>
            </a:r>
          </a:p>
        </p:txBody>
      </p:sp>
      <p:sp>
        <p:nvSpPr>
          <p:cNvPr id="35" name="Rectangle 34"/>
          <p:cNvSpPr/>
          <p:nvPr/>
        </p:nvSpPr>
        <p:spPr>
          <a:xfrm>
            <a:off x="914400" y="4206240"/>
            <a:ext cx="914400" cy="320040"/>
          </a:xfrm>
          <a:prstGeom prst="rect">
            <a:avLst/>
          </a:prstGeom>
          <a:solidFill>
            <a:srgbClr val="F2F2F2"/>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AB40"/>
                </a:solidFill>
              </a:defRPr>
            </a:pPr>
            <a:r>
              <a:t>Q26</a:t>
            </a:r>
          </a:p>
        </p:txBody>
      </p:sp>
      <p:sp>
        <p:nvSpPr>
          <p:cNvPr id="36" name="Rectangle 35"/>
          <p:cNvSpPr/>
          <p:nvPr/>
        </p:nvSpPr>
        <p:spPr>
          <a:xfrm>
            <a:off x="1828800" y="4206240"/>
            <a:ext cx="5943600" cy="320040"/>
          </a:xfrm>
          <a:prstGeom prst="rect">
            <a:avLst/>
          </a:prstGeom>
          <a:solidFill>
            <a:srgbClr val="F2F2F2"/>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0">
                <a:solidFill>
                  <a:srgbClr val="434343"/>
                </a:solidFill>
              </a:defRPr>
            </a:pPr>
            <a:r>
              <a:t>Retour clients SaaS</a:t>
            </a:r>
          </a:p>
        </p:txBody>
      </p:sp>
      <p:sp>
        <p:nvSpPr>
          <p:cNvPr id="37" name="Rectangle 36"/>
          <p:cNvSpPr/>
          <p:nvPr/>
        </p:nvSpPr>
        <p:spPr>
          <a:xfrm>
            <a:off x="7772400" y="4206240"/>
            <a:ext cx="3200400" cy="320040"/>
          </a:xfrm>
          <a:prstGeom prst="rect">
            <a:avLst/>
          </a:prstGeom>
          <a:solidFill>
            <a:srgbClr val="F2F2F2"/>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0">
                <a:solidFill>
                  <a:srgbClr val="434343"/>
                </a:solidFill>
              </a:defRPr>
            </a:pPr>
            <a:r>
              <a:t>CEO / Direction commerciale</a:t>
            </a:r>
          </a:p>
        </p:txBody>
      </p:sp>
      <p:sp>
        <p:nvSpPr>
          <p:cNvPr id="38" name="Rectangle 37"/>
          <p:cNvSpPr/>
          <p:nvPr/>
        </p:nvSpPr>
        <p:spPr>
          <a:xfrm>
            <a:off x="914400" y="4526280"/>
            <a:ext cx="914400" cy="320040"/>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AB40"/>
                </a:solidFill>
              </a:defRPr>
            </a:pPr>
            <a:r>
              <a:t>Q27</a:t>
            </a:r>
          </a:p>
        </p:txBody>
      </p:sp>
      <p:sp>
        <p:nvSpPr>
          <p:cNvPr id="39" name="Rectangle 38"/>
          <p:cNvSpPr/>
          <p:nvPr/>
        </p:nvSpPr>
        <p:spPr>
          <a:xfrm>
            <a:off x="1828800" y="4526280"/>
            <a:ext cx="5943600" cy="320040"/>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0">
                <a:solidFill>
                  <a:srgbClr val="434343"/>
                </a:solidFill>
              </a:defRPr>
            </a:pPr>
            <a:r>
              <a:t>Contrat ICON</a:t>
            </a:r>
          </a:p>
        </p:txBody>
      </p:sp>
      <p:sp>
        <p:nvSpPr>
          <p:cNvPr id="40" name="Rectangle 39"/>
          <p:cNvSpPr/>
          <p:nvPr/>
        </p:nvSpPr>
        <p:spPr>
          <a:xfrm>
            <a:off x="7772400" y="4526280"/>
            <a:ext cx="3200400" cy="320040"/>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0">
                <a:solidFill>
                  <a:srgbClr val="434343"/>
                </a:solidFill>
              </a:defRPr>
            </a:pPr>
            <a:r>
              <a:t>CEO</a:t>
            </a:r>
          </a:p>
        </p:txBody>
      </p:sp>
      <p:sp>
        <p:nvSpPr>
          <p:cNvPr id="41" name="Rectangle 40"/>
          <p:cNvSpPr/>
          <p:nvPr/>
        </p:nvSpPr>
        <p:spPr>
          <a:xfrm>
            <a:off x="914400" y="4846320"/>
            <a:ext cx="914400" cy="320040"/>
          </a:xfrm>
          <a:prstGeom prst="rect">
            <a:avLst/>
          </a:prstGeom>
          <a:solidFill>
            <a:srgbClr val="F2F2F2"/>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AB40"/>
                </a:solidFill>
              </a:defRPr>
            </a:pPr>
            <a:r>
              <a:t>Q28</a:t>
            </a:r>
          </a:p>
        </p:txBody>
      </p:sp>
      <p:sp>
        <p:nvSpPr>
          <p:cNvPr id="42" name="Rectangle 41"/>
          <p:cNvSpPr/>
          <p:nvPr/>
        </p:nvSpPr>
        <p:spPr>
          <a:xfrm>
            <a:off x="1828800" y="4846320"/>
            <a:ext cx="5943600" cy="320040"/>
          </a:xfrm>
          <a:prstGeom prst="rect">
            <a:avLst/>
          </a:prstGeom>
          <a:solidFill>
            <a:srgbClr val="F2F2F2"/>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0">
                <a:solidFill>
                  <a:srgbClr val="434343"/>
                </a:solidFill>
              </a:defRPr>
            </a:pPr>
            <a:r>
              <a:t>Contrat Vidal / Synapse</a:t>
            </a:r>
          </a:p>
        </p:txBody>
      </p:sp>
      <p:sp>
        <p:nvSpPr>
          <p:cNvPr id="43" name="Rectangle 42"/>
          <p:cNvSpPr/>
          <p:nvPr/>
        </p:nvSpPr>
        <p:spPr>
          <a:xfrm>
            <a:off x="7772400" y="4846320"/>
            <a:ext cx="3200400" cy="320040"/>
          </a:xfrm>
          <a:prstGeom prst="rect">
            <a:avLst/>
          </a:prstGeom>
          <a:solidFill>
            <a:srgbClr val="F2F2F2"/>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0">
                <a:solidFill>
                  <a:srgbClr val="434343"/>
                </a:solidFill>
              </a:defRPr>
            </a:pPr>
            <a:r>
              <a:t>CEO / Direction commerciale</a:t>
            </a:r>
          </a:p>
        </p:txBody>
      </p:sp>
      <p:sp>
        <p:nvSpPr>
          <p:cNvPr id="44" name="Rectangle 43"/>
          <p:cNvSpPr/>
          <p:nvPr/>
        </p:nvSpPr>
        <p:spPr>
          <a:xfrm>
            <a:off x="914400" y="5166360"/>
            <a:ext cx="914400" cy="320040"/>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AB40"/>
                </a:solidFill>
              </a:defRPr>
            </a:pPr>
            <a:r>
              <a:t>Q29</a:t>
            </a:r>
          </a:p>
        </p:txBody>
      </p:sp>
      <p:sp>
        <p:nvSpPr>
          <p:cNvPr id="45" name="Rectangle 44"/>
          <p:cNvSpPr/>
          <p:nvPr/>
        </p:nvSpPr>
        <p:spPr>
          <a:xfrm>
            <a:off x="1828800" y="5166360"/>
            <a:ext cx="5943600" cy="320040"/>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0">
                <a:solidFill>
                  <a:srgbClr val="434343"/>
                </a:solidFill>
              </a:defRPr>
            </a:pPr>
            <a:r>
              <a:t>Organisation sales</a:t>
            </a:r>
          </a:p>
        </p:txBody>
      </p:sp>
      <p:sp>
        <p:nvSpPr>
          <p:cNvPr id="46" name="Rectangle 45"/>
          <p:cNvSpPr/>
          <p:nvPr/>
        </p:nvSpPr>
        <p:spPr>
          <a:xfrm>
            <a:off x="7772400" y="5166360"/>
            <a:ext cx="3200400" cy="320040"/>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0">
                <a:solidFill>
                  <a:srgbClr val="434343"/>
                </a:solidFill>
              </a:defRPr>
            </a:pPr>
            <a:r>
              <a:t>CEO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